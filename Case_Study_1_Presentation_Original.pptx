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486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Optiv Consulting  |  Meridian Financial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Vendor AI Usage &amp; Security Risk Analysis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Arial"/>
              </a:defRPr>
            </a:pPr>
            <a:r>
              <a:t>An Evidence-Driven, Repeatable OSINT Framework for Third-Party AI Due Diligence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Prepared by: Optiv Cyber Strategy Consulting Team  •  Engagement: Meridian TPRM AI Governance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Strategic Context: The Silent AI Proliferation in Banking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Meridian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Core Banking Dependency: </a:t>
            </a:r>
            <a:r>
              <a:rPr b="0">
                <a:solidFill>
                  <a:srgbClr val="CBD5E1"/>
                </a:solidFill>
              </a:rPr>
              <a:t>Meridian relies on an extensive vendor ecosystem across core ledgers, real-time payments, reporting, and print operations.</a:t>
            </a:r>
          </a:p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Silent AI Adoption: </a:t>
            </a:r>
            <a:r>
              <a:rPr b="0">
                <a:solidFill>
                  <a:srgbClr val="CBD5E1"/>
                </a:solidFill>
              </a:rPr>
              <a:t>Vendors are rapidly embedding generative AI and autonomous agents into production workflows without formal disclosure to client risk teams.</a:t>
            </a:r>
          </a:p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TPRM Governance Blindspot: </a:t>
            </a:r>
            <a:r>
              <a:rPr b="0">
                <a:solidFill>
                  <a:srgbClr val="CBD5E1"/>
                </a:solidFill>
              </a:rPr>
              <a:t>Traditional vendor questionnaires are subjective, point-in-time, and fail to capture rapid continuous AI updates.</a:t>
            </a:r>
          </a:p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</a:defRPr>
            </a:pPr>
            <a:r>
              <a:t>• Critical Downstream Risks: </a:t>
            </a:r>
            <a:r>
              <a:rPr b="0">
                <a:solidFill>
                  <a:srgbClr val="CBD5E1"/>
                </a:solidFill>
              </a:rPr>
              <a:t>Unvetted exposure of customer PII to LLMs, reliance on undisclosed sub-processors (OpenAI, Microsoft), and black-box decision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Optiv Solution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Objective Public Footprint (OSINT): </a:t>
            </a:r>
            <a:r>
              <a:rPr b="0">
                <a:solidFill>
                  <a:srgbClr val="CBD5E1"/>
                </a:solidFill>
              </a:rPr>
              <a:t>Examine verifiable technical and regulatory public footprints to uncover real commercial AI capabilities rather than PR commentary.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Deterministic Criticality Scoring: </a:t>
            </a:r>
            <a:r>
              <a:rPr b="0">
                <a:solidFill>
                  <a:srgbClr val="CBD5E1"/>
                </a:solidFill>
              </a:rPr>
              <a:t>A repeatable 4-factor formula ensures any analyst assigns identical criticality tiers based on data sensitivity and operational dependency.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Tier-Driven Assessment Depth: </a:t>
            </a:r>
            <a:r>
              <a:rPr b="0">
                <a:solidFill>
                  <a:srgbClr val="CBD5E1"/>
                </a:solidFill>
              </a:rPr>
              <a:t>Assessment depth is governed strictly by vendor criticality tier, maximizing analytical ROI and eliminating wasted investigative effort.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✔ Strict Source Traceability: </a:t>
            </a:r>
            <a:r>
              <a:rPr b="0">
                <a:solidFill>
                  <a:srgbClr val="CBD5E1"/>
                </a:solidFill>
              </a:rPr>
              <a:t>Verbatim evidence excerpts, cryptographic/timestamped sources, and transparent evidentiary weights keep findings fully auditable.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Functional Design: End-to-End Due Diligence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1.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Meridian Vendor Inventory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(Excel / CSV Input)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Data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Scope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2. TRIAGE &amp;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Deterministic Scoring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(100-Point Formula)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Critical / High Tier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Moderate / Low Tier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Depth 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3. OSINT HARVEST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Public Footprint Sweep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Trust Centers &amp; SOC2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 10-K &amp; Filings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API Docs &amp; SDKs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Career Postings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4. SIGNAL &amp;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Signal Classification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Production AI vs PR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Sub-Processor Mapping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Evidentiary Weighting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AI Risk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178308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5.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377440"/>
            <a:ext cx="1691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Actionable Outputs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Enriched Excel File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Contractual Addenda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Targeted Questionnaires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Working UI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Architecture: Modular Technical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4874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8" y="160020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Presentation &amp; 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Web Dashboard (Custom UI): </a:t>
            </a:r>
            <a:r>
              <a:rPr b="0" dirty="0">
                <a:solidFill>
                  <a:srgbClr val="CBD5E1"/>
                </a:solidFill>
              </a:rPr>
              <a:t>Interactive risk exploration, Excel file upload, filtering &amp; search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Analyst CLI / </a:t>
            </a:r>
            <a:r>
              <a:rPr dirty="0" err="1"/>
              <a:t>Colab</a:t>
            </a:r>
            <a:r>
              <a:rPr dirty="0"/>
              <a:t> Notebook: </a:t>
            </a:r>
            <a:r>
              <a:rPr b="0" dirty="0">
                <a:solidFill>
                  <a:srgbClr val="CBD5E1"/>
                </a:solidFill>
              </a:rPr>
              <a:t>Automated batch processing pipeline &amp; data science workflows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Report Generation Engine: </a:t>
            </a:r>
            <a:r>
              <a:rPr b="0" dirty="0">
                <a:solidFill>
                  <a:srgbClr val="CBD5E1"/>
                </a:solidFill>
              </a:rPr>
              <a:t>Automated export to Meridian offline Excel &amp; executive presentations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69848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08961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Processing &amp; Intelligence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3291841"/>
            <a:ext cx="1033271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Ingestion &amp; Triage Service: </a:t>
            </a:r>
            <a:r>
              <a:rPr b="0">
                <a:solidFill>
                  <a:srgbClr val="CBD5E1"/>
                </a:solidFill>
              </a:rPr>
              <a:t>Excel/CSV parsing, data validation, deterministic criticality scoring engine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OSINT Harvester &amp; Crawler Cluster: </a:t>
            </a:r>
            <a:r>
              <a:rPr b="0">
                <a:solidFill>
                  <a:srgbClr val="CBD5E1"/>
                </a:solidFill>
              </a:rPr>
              <a:t>Domain crawler, headless browser rendering, rate-limited ethical scraper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NLP &amp; Signal Extraction Agent: </a:t>
            </a:r>
            <a:r>
              <a:rPr b="0">
                <a:solidFill>
                  <a:srgbClr val="CBD5E1"/>
                </a:solidFill>
              </a:rPr>
              <a:t>Multi-pass LLM &amp; regex entity extractor for AI frameworks, SDKs &amp; models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▪ Evidentiary Scoring &amp; Risk Matrix: </a:t>
            </a:r>
            <a:r>
              <a:rPr b="0">
                <a:solidFill>
                  <a:srgbClr val="CBD5E1"/>
                </a:solidFill>
              </a:rPr>
              <a:t>Algorithmic weighting engine mapping signal strength to Meridian AI Risk Tiers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Secure Persistence &amp; Audit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Relational Database: </a:t>
            </a:r>
            <a:r>
              <a:rPr b="0" dirty="0">
                <a:solidFill>
                  <a:srgbClr val="CBD5E1"/>
                </a:solidFill>
              </a:rPr>
              <a:t>Vendor profiles, criticality scores, audit logs, and risk classifications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Verifiable Evidence Store: </a:t>
            </a:r>
            <a:r>
              <a:rPr b="0" dirty="0">
                <a:solidFill>
                  <a:srgbClr val="CBD5E1"/>
                </a:solidFill>
              </a:rPr>
              <a:t>Cryptographic hashes, timestamped screenshots, and raw source text archives</a:t>
            </a:r>
          </a:p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rPr dirty="0"/>
              <a:t>▪ Enterprise RBAC &amp; Security: </a:t>
            </a:r>
            <a:r>
              <a:rPr b="0" dirty="0">
                <a:solidFill>
                  <a:srgbClr val="CBD5E1"/>
                </a:solidFill>
              </a:rPr>
              <a:t>Zero data retention on public LLMs; strict tenant boundary isolation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Vendor Criticality: 100-Point Deterministic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Objective 4-Factor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1. Data Sensitivity Accessed (Max 30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30 = Full customer master/balances/tax IDs; 20 = System credentials/config or wealth client data; 15 = Payment messages in transit; 0 = Public.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2. Operational Dependency (Max 30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30 = Critical (core operations halt immediately); 20 = High (daily clearing/batch degraded); 10 = Moderate (monthly cycles withstand delay).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3. Payment Flow &amp; Rail Involvement (Max 20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20 = Systemic national clearing rail (ACH/RTP); 15 = Live core transactional ledger or real-time payment gateway; 5 = Batch scheduling.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4. Volume &amp; Regulatory Scrutiny (Max 20 pts)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20 = &gt;100M txns, bank-wide scale; 15 = &gt;10M msgs/docs or IRS tax filings; 10 = Millions of msgs; 5 = Monthly wealth batches.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Criticality-Driven Assessment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CRITICAL TIER (Score 80–100) -&gt; Forensic Review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Full OSINT sweep across trust portals, sub-processor registers, SEC 10-K filings, API developer docs, executive channels, plus mandatory vendor questionnaire.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HIGH TIER (Score 60–79) -&gt; Targeted Technical Review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Investigate service line architecture, engineering job listings, trust center certifications, and targeted AI addendum in contracts.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MODERATE TIER (Score 40–59) -&gt; Standard OSINT Verification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Primary web domain, product specification sheets, privacy disclosures, and blog/thought-leadership cross-checking for production reality.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LOW TIER (Score &lt;40) -&gt; Surface Scan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Standard baseline review of commercial terms and public trust overview. Avoid wasteful over-investigation.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Source Strategy: Evidentiary Weighting &amp; False-Positive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97316"/>
                </a:solidFill>
              </a:defRPr>
            </a:pPr>
            <a:r>
              <a:t>Weight: 0.90 – 1.00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Official Trust Centers &amp; Sub-processor Registers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SEC Filings (10-K, 10-Q Item 1A Risk Disclosures)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Technical API Documentation, SDK Guides &amp; Release Notes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SOC 2 Type II System Description &amp; ISO 27001 Annexes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Weight: 0.70 – 0.85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Technical Job Postings (Applied AI / LLM Orchestration)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Public Developer Repositories, PyPI/npm Packages &amp; SDKs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Technical Engineering Whitepapers &amp; Patent Filings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Developer Community Q&amp;A (StackOverflow, GitHub Issues)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Weight: 0.50 – 0.65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C-Suite Verified Announcements (e.g. CEO LinkedIn Posts)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Official Corporate Press Releases announcing AI partnerships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Commercial Product Launch Webinars &amp; Keynote Briefings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Requires cross-referencing with Tier 1/2 for technical confirmation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69163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Tier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1168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94A3B8"/>
                </a:solidFill>
              </a:defRPr>
            </a:pPr>
            <a:r>
              <a:t>Weight: 0.10 – 0.30 (Discounted)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General Blog Posts discussing 'The Future of AI in Finance'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Sales Collateral claiming 'AI-Powered Insights' without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Educational Articles on emerging technology trends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RULE: Treated as Inconclusive/Negative for production AI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Portfolio Overview: Criticality &amp; AI Risk Assessment Findings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Vendor ID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Vendor Name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Criticality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Detected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Security Risk &amp; Sub-Processors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V-001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AutomWorx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Professional 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4A3B8"/>
                          </a:solidFill>
                        </a:defRPr>
                      </a:pPr>
                      <a:r>
                        <a:t>Inconclusive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Low Risk • No production LLM; workload orchestration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V-002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Fiserv, Inc.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Core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Critical Risk • agentOS / OpenAI / Azure; full customer master exposed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V-003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FSSI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Document &amp; Comm.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4A3B8"/>
                          </a:solidFill>
                        </a:defRPr>
                      </a:pPr>
                      <a:r>
                        <a:t>Inconclusive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Low Risk • Marketing claims only; deterministic composition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V-004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Terrapin Technologies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Data &amp; Reporting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Medium Risk • Proprietary SLMs in wealth analytics / comp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V-005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BNY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9731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97316"/>
                          </a:solidFill>
                        </a:defRPr>
                      </a:pPr>
                      <a:r>
                        <a:t>High Risk • Real-time payment AI anomaly detection / Eliza / Azure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V-006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The Clearing House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Payments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Medium Risk • RTP consortium fraud detection; ephemeral transit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Deep Dive: Fiserv, Inc. (DNA Core Platform) — Critical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Verified Evidence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✔ Primary Evidence (Fiserv Corporate):</a:t>
            </a:r>
          </a:p>
          <a:p>
            <a:pPr>
              <a:spcAft>
                <a:spcPts val="1000"/>
              </a:spcAft>
              <a:defRPr sz="1000" i="1">
                <a:solidFill>
                  <a:srgbClr val="CBD5E1"/>
                </a:solidFill>
              </a:defRPr>
            </a:pPr>
            <a:r>
              <a:t>"Fiserv established a strategic collaboration with OpenAI to integrate frontier AI into banking operations, building autonomous agents on Fiserv's agentOS platform to handle operational workflows and core banking conversions."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✔ Supporting Evidence (Microsoft Azure AI):</a:t>
            </a:r>
          </a:p>
          <a:p>
            <a:pPr>
              <a:spcAft>
                <a:spcPts val="1000"/>
              </a:spcAft>
              <a:defRPr sz="1000" i="1">
                <a:solidFill>
                  <a:srgbClr val="CBD5E1"/>
                </a:solidFill>
              </a:defRPr>
            </a:pPr>
            <a:r>
              <a:t>"Fiserv utilizes Microsoft Azure AI Foundry and GitHub Copilot to process billions of tokens, integrating generative AI directly across client-servicing and transaction-processing infrastructure."</a:t>
            </a:r>
          </a:p>
          <a:p>
            <a:pPr>
              <a:defRPr sz="1100" b="1">
                <a:solidFill>
                  <a:srgbClr val="F97316"/>
                </a:solidFill>
              </a:defRPr>
            </a:pPr>
            <a:r>
              <a:t>✔ Supporting Evidence (Cognition AI):</a:t>
            </a:r>
          </a:p>
          <a:p>
            <a:pPr>
              <a:spcAft>
                <a:spcPts val="1000"/>
              </a:spcAft>
              <a:defRPr sz="1000" i="1">
                <a:solidFill>
                  <a:srgbClr val="CBD5E1"/>
                </a:solidFill>
              </a:defRPr>
            </a:pPr>
            <a:r>
              <a:t>Partnership deploying autonomous software engineering systems (Devin) across core banking codebases.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Meridian Impact &amp; Governance Mandate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Direct PII &amp; Ledger Exposure: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Full customer master, balances, and account records for 1.4M customers processed in DNA risk exposure to frontier LLMs via agentOS.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Undisclosed Sub-Processors: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OpenAI, Microsoft Azure AI, Cognition AI, and UiPath acting as AI sub-processors without explicit Meridian contractual addenda.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Immediate Governance Action: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1) Issue targeted AI questionnaire within 15 days; 2) Demand written zero-data-retention and zero-training guarantees from OpenAI/Microsoft; 3) Secure contractual right to disable autonomous agents in Meridian tenant.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Deep Dive: BNY &amp; The Clearing House — Real-Time Payment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V-005: BNY (Global Payments)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Operational Profile: </a:t>
            </a:r>
            <a:r>
              <a:rPr b="0">
                <a:solidFill>
                  <a:srgbClr val="CBD5E1"/>
                </a:solidFill>
              </a:rPr>
              <a:t>Transmits inbound Real-Time Payments (2.1M messages/yr). High operational dependency; 24/7/365 availability requirement.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Verified AI Footprint: </a:t>
            </a:r>
            <a:r>
              <a:rPr b="0">
                <a:solidFill>
                  <a:srgbClr val="CBD5E1"/>
                </a:solidFill>
              </a:rPr>
              <a:t>BNY deploys AI-enabled anomaly detection and intelligent payment routing dynamically directing payments across RTP, FedNow, and ACH.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Named Model Infrastructure: </a:t>
            </a:r>
            <a:r>
              <a:rPr b="0">
                <a:solidFill>
                  <a:srgbClr val="CBD5E1"/>
                </a:solidFill>
              </a:rPr>
              <a:t>Internal BNY AI Hub ('Eliza platform') + Microsoft Azure AI strategic partnership.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AI Security Risk: HIGH: </a:t>
            </a:r>
            <a:r>
              <a:rPr b="0">
                <a:solidFill>
                  <a:srgbClr val="CBD5E1"/>
                </a:solidFill>
              </a:rPr>
              <a:t>Automated blocking, false positives, or black-box routing on live financial messages without full Meridian visibility.</a:t>
            </a:r>
          </a:p>
          <a:p>
            <a:pPr>
              <a:spcAft>
                <a:spcPts val="800"/>
              </a:spcAft>
              <a:defRPr sz="1050" b="1">
                <a:solidFill>
                  <a:srgbClr val="F97316"/>
                </a:solidFill>
              </a:defRPr>
            </a:pPr>
            <a:r>
              <a:t>• Recommended Action: </a:t>
            </a:r>
            <a:r>
              <a:rPr b="0">
                <a:solidFill>
                  <a:srgbClr val="CBD5E1"/>
                </a:solidFill>
              </a:rPr>
              <a:t>Request BNY AI Governance Whitepaper; verify human-in-the-loop exception thresholds and Azure data-sharing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V-006: The Clearing House (ACH &amp; RTP)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Operational Profile: </a:t>
            </a:r>
            <a:r>
              <a:rPr b="0">
                <a:solidFill>
                  <a:srgbClr val="CBD5E1"/>
                </a:solidFill>
              </a:rPr>
              <a:t>National core clearing and settlement infrastructure (14M messages). Total operational dependency; systemic banking partner.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Verified AI Footprint: </a:t>
            </a:r>
            <a:r>
              <a:rPr b="0">
                <a:solidFill>
                  <a:srgbClr val="CBD5E1"/>
                </a:solidFill>
              </a:rPr>
              <a:t>Network-wide machine learning models analyzing transaction behavioral velocity, synthetic identity fraud, and financial crimes.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Named Model Infrastructure: </a:t>
            </a:r>
            <a:r>
              <a:rPr b="0">
                <a:solidFill>
                  <a:srgbClr val="CBD5E1"/>
                </a:solidFill>
              </a:rPr>
              <a:t>Consortium proprietary machine learning models + cybersecurity analytics partners (FICO / LexisNexis).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AI Security Risk: MEDIUM: </a:t>
            </a:r>
            <a:r>
              <a:rPr b="0">
                <a:solidFill>
                  <a:srgbClr val="CBD5E1"/>
                </a:solidFill>
              </a:rPr>
              <a:t>Payment data is ephemeral ('in transit only'); strict Federal Reserve / OCC model supervision (SR 11-7).</a:t>
            </a:r>
          </a:p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</a:defRPr>
            </a:pPr>
            <a:r>
              <a:t>• Recommended Action: </a:t>
            </a:r>
            <a:r>
              <a:rPr b="0">
                <a:solidFill>
                  <a:srgbClr val="CBD5E1"/>
                </a:solidFill>
              </a:rPr>
              <a:t>Review RTP participant fraud scoring rules; confirm model update change notices and participant exception handling protocols.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Nuanced Profiles: Filtering Marketing Hype vs. Real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V-003: FSSI (Document &amp; Comm.)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94A3B8"/>
                </a:solidFill>
              </a:defRPr>
            </a:pPr>
            <a:r>
              <a:t>MARKETING COMMENTARY DEBUNKED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Data Exposure: High (Names, SSNs, balances across 19M docs).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Public Claims: Blogs praise AI &amp; ML for personalization.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Technical Reality: Production engine uses deterministic, rule-based variable composition. No LLM integration detected.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Risk &amp; Action: LOW AI Risk. Require written attestation that tax files are not ingested into 3rd-party LLM OCR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6916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V-004: Terrapin Tech (Reporting)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8BDF8"/>
                </a:solidFill>
              </a:defRPr>
            </a:pPr>
            <a:r>
              <a:t>PROPRIETARY SLM DEPLOYMENT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Data Exposure: Wealth holdings &amp; advisor compensation (38k clients).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Public Claims: 'AI-Ready Data' blogs + Terrapin Enterprise SLMs.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Technical Reality: Uses on-premise Small Language Models (SLMs) trained on proprietary data for sales &amp; volume forecasting.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Risk &amp; Action: MEDIUM AI Risk. Audit model training boundaries to ensure Meridian data is segregated from training 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V-001: AutomWorx (Services)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97316"/>
                </a:solidFill>
              </a:defRPr>
            </a:pPr>
            <a:r>
              <a:t>ORCHESTRATION ENABLER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Data Exposure: Privileged credentials &amp; production job schedules.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Public Claims: Articles emphasize workload orchestration for AI pipelines.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Technical Reality: Automates batch jobs in AppWorx/Automic; does not deploy autonomous LLMs into managed support.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▪ Risk &amp; Action: LOW AI Risk. Standard change control; verify no unapproved AI code-assistants alter production scripts.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TPRM Governance Roadmap: Actionable Next Steps for Meridian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Phase 1: Immediate Containment (Days 1–30)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Issue Targeted AI Questionnaires to Fiserv and BNY immediately.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Register OpenAI and Microsoft Azure AI on Meridian's AI Sub-processor Register.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Obtain written zero-retention / zero-training guarantees from Fiserv for core ledger data.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Establish human-in-the-loop escalation thresholds for BNY real-time payment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Phase 2: Contractual Remediation (Days 31–90)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Mandate standard AI Clauses in upcoming contract renewal cycles across all High/Critical vendors.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Incorporate strict sub-processor change notification requirements with 30-day prior opt-out rights.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Establish explicit prohibition against using Meridian data for public model training or fine-tuning.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Require SOC 2 Type II reports covering AI security controls and model governance.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Phase 3: Continuous Monitoring &amp; Automation (Day 90+)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Operationalize Optiv OSINT automated crawler to monitor vendor trust portals and job postings quarterly.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Implement automated change alerts when vendors announce new AI partnerships or sub-processors.</a:t>
            </a:r>
          </a:p>
          <a:p>
            <a:pPr>
              <a:spcAft>
                <a:spcPts val="200"/>
              </a:spcAft>
              <a:defRPr sz="1050">
                <a:solidFill>
                  <a:srgbClr val="CBD5E1"/>
                </a:solidFill>
              </a:defRPr>
            </a:pPr>
            <a:r>
              <a:t>✔  Integrate AI Security Risk scores into Meridian's Third-Party Risk Committee executive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CASE STUDY 1 · VENDOR AI USAGE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Summary &amp; Live Solution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Deliverables Summary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Completed Offline Excel File: </a:t>
            </a:r>
            <a:r>
              <a:rPr b="0">
                <a:solidFill>
                  <a:srgbClr val="CBD5E1"/>
                </a:solidFill>
              </a:rPr>
              <a:t>Meridian_Vendor_Input.xlsx fully populated with verified findings for V-001 through V-006 matching the V-000 benchmark.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Functional Design Diagram: </a:t>
            </a:r>
            <a:r>
              <a:rPr b="0">
                <a:solidFill>
                  <a:srgbClr val="CBD5E1"/>
                </a:solidFill>
              </a:rPr>
              <a:t>Documented 5-stage data flow from OSINT collection to risk output.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System Architecture Diagram: </a:t>
            </a:r>
            <a:r>
              <a:rPr b="0">
                <a:solidFill>
                  <a:srgbClr val="CBD5E1"/>
                </a:solidFill>
              </a:rPr>
              <a:t>Modular microservice architecture demonstrating ingest, extraction, and evaluation.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Deterministic Criticality Ratings: </a:t>
            </a:r>
            <a:r>
              <a:rPr b="0">
                <a:solidFill>
                  <a:srgbClr val="CBD5E1"/>
                </a:solidFill>
              </a:rPr>
              <a:t>Objective 100-point rubric applied consistently to all 6 vendors.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</a:defRPr>
            </a:pPr>
            <a:r>
              <a:t>✅ Working Interactive Solution: </a:t>
            </a:r>
            <a:r>
              <a:rPr b="0">
                <a:solidFill>
                  <a:srgbClr val="CBD5E1"/>
                </a:solidFill>
              </a:rPr>
              <a:t>Custom UI web application &amp; Jupyter/Colab notebook for live vendor due diligence.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Next Step: Live Interactive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97316"/>
                </a:solidFill>
              </a:defRPr>
            </a:pPr>
            <a:r>
              <a:t>Transitioning to Working Demonstration Tool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File Ingestion Engine: </a:t>
            </a:r>
            <a:r>
              <a:rPr b="0">
                <a:solidFill>
                  <a:srgbClr val="CBD5E1"/>
                </a:solidFill>
              </a:rPr>
              <a:t>Upload and validate raw Meridian Excel files dynamically.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Interactive Scoring Matrix: </a:t>
            </a:r>
            <a:r>
              <a:rPr b="0">
                <a:solidFill>
                  <a:srgbClr val="CBD5E1"/>
                </a:solidFill>
              </a:rPr>
              <a:t>Live calculation of criticality tiers based on data sensitivity and dependency.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OSINT Intelligence Cards: </a:t>
            </a:r>
            <a:r>
              <a:rPr b="0">
                <a:solidFill>
                  <a:srgbClr val="CBD5E1"/>
                </a:solidFill>
              </a:rPr>
              <a:t>Deep drill-down into verbatim quotes, source links, and sub-processor maps.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▶ Risk Classification &amp; Export: </a:t>
            </a:r>
            <a:r>
              <a:rPr b="0">
                <a:solidFill>
                  <a:srgbClr val="CBD5E1"/>
                </a:solidFill>
              </a:rPr>
              <a:t>Instant visual risk classification and 1-click enriched Excel export.</a:t>
            </a:r>
          </a:p>
          <a:p>
            <a:pPr>
              <a:spcBef>
                <a:spcPts val="1400"/>
              </a:spcBef>
              <a:defRPr sz="1400" b="1">
                <a:solidFill>
                  <a:srgbClr val="38BDF8"/>
                </a:solidFill>
              </a:defRPr>
            </a:pPr>
            <a:r>
              <a:t>Thank you!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2353</Words>
  <Application>Microsoft Office PowerPoint</Application>
  <PresentationFormat>Widescreen</PresentationFormat>
  <Paragraphs>251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Divyansh Patel</cp:lastModifiedBy>
  <cp:revision>3</cp:revision>
  <dcterms:created xsi:type="dcterms:W3CDTF">2013-01-27T09:14:16Z</dcterms:created>
  <dcterms:modified xsi:type="dcterms:W3CDTF">2026-10-12T17:17:18Z</dcterms:modified>
  <cp:category/>
</cp:coreProperties>
</file>