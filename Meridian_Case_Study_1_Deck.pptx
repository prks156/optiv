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02E"/>
                </a:solidFill>
                <a:latin typeface="+mn-lt"/>
              </a:defRPr>
            </a:pPr>
            <a:r>
              <a:rPr sz="1400" b="0" i="0" u="none" strike="noStrike">
                <a:solidFill>
                  <a:srgbClr val="17202E"/>
                </a:solidFill>
                <a:latin typeface="+mn-lt"/>
              </a:rPr>
              <a:t>Page budget per vendor</a:t>
            </a:r>
          </a:p>
        </c:rich>
      </c:tx>
      <c:layout/>
      <c:overlay val="0"/>
    </c:title>
    <c:autoTitleDeleted val="0"/>
    <c:plotArea>
      <c:layout/>
      <c:barChart>
        <c:barDir val="col"/>
        <c:grouping val="clustered"/>
        <c:varyColors val="0"/>
        <c:ser>
          <c:idx val="0"/>
          <c:order val="0"/>
          <c:tx>
            <c:strRef>
              <c:f>Sheet1!$B$1</c:f>
              <c:strCache>
                <c:ptCount val="1"/>
                <c:pt idx="0">
                  <c:v>Page budget</c:v>
                </c:pt>
              </c:strCache>
            </c:strRef>
          </c:tx>
          <c:spPr>
            <a:solidFill>
              <a:srgbClr val="1F4E8C"/>
            </a:solidFill>
            <a:effectLst/>
          </c:spPr>
          <c:invertIfNegative val="0"/>
          <c:dLbls>
            <c:numFmt formatCode="#,##0" sourceLinked="0"/>
            <c:txPr>
              <a:bodyPr/>
              <a:lstStyle/>
              <a:p>
                <a:pPr>
                  <a:defRPr b="0" i="0" strike="noStrike" sz="1300" u="none">
                    <a:solidFill>
                      <a:srgbClr val="17202E"/>
                    </a:solidFill>
                    <a:latin typeface="+mn-lt"/>
                  </a:defRPr>
                </a:pPr>
              </a:p>
            </c:txPr>
            <c:showLegendKey val="0"/>
            <c:showVal val="1"/>
            <c:showCatName val="0"/>
            <c:showSerName val="0"/>
            <c:showPercent val="0"/>
            <c:showBubbleSize val="0"/>
            <c:showLeaderLines val="0"/>
          </c:dLbls>
          <c:cat>
            <c:multiLvlStrRef>
              <c:f>Sheet1!$A$2:$A$5</c:f>
              <c:multiLvlStrCache>
                <c:ptCount val="4"/>
                <c:lvl>
                  <c:pt idx="0">
                    <c:v>Critical</c:v>
                  </c:pt>
                  <c:pt idx="1">
                    <c:v>High</c:v>
                  </c:pt>
                  <c:pt idx="2">
                    <c:v>Medium</c:v>
                  </c:pt>
                  <c:pt idx="3">
                    <c:v>Low</c:v>
                  </c:pt>
                </c:lvl>
              </c:multiLvlStrCache>
            </c:multiLvlStrRef>
          </c:cat>
          <c:val>
            <c:numRef>
              <c:f>Sheet1!$B$2:$B$5</c:f>
              <c:numCache>
                <c:formatCode>General</c:formatCode>
                <c:ptCount val="4"/>
                <c:pt idx="0">
                  <c:v>14</c:v>
                </c:pt>
                <c:pt idx="1">
                  <c:v>9</c:v>
                </c:pt>
                <c:pt idx="2">
                  <c:v>5</c:v>
                </c:pt>
                <c:pt idx="3">
                  <c:v>3</c:v>
                </c:pt>
              </c:numCache>
            </c:numRef>
          </c:val>
        </c:ser>
        <c:dLbls>
          <c:numFmt formatCode="#,##0" sourceLinked="0"/>
          <c:txPr>
            <a:bodyPr/>
            <a:lstStyle/>
            <a:p>
              <a:pPr>
                <a:defRPr b="0" i="0" strike="noStrike" sz="1300" u="none">
                  <a:solidFill>
                    <a:srgbClr val="1720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7202E"/>
                </a:solidFill>
                <a:latin typeface="+mn-lt"/>
              </a:defRPr>
            </a:pPr>
            <a:endParaRPr lang="en-US"/>
          </a:p>
        </c:txPr>
        <c:crossAx val="2094734552"/>
        <c:crosses val="autoZero"/>
        <c:auto val="1"/>
        <c:lblAlgn val="ctr"/>
        <c:noMultiLvlLbl val="1"/>
      </c:catAx>
      <c:valAx>
        <c:axId val="2094734552"/>
        <c:scaling>
          <c:orientation val="minMax"/>
          <c:max val="16"/>
        </c:scaling>
        <c:delete val="0"/>
        <c:axPos val="l"/>
        <c:majorGridlines>
          <c:spPr>
            <a:ln w="6350" cap="flat">
              <a:solidFill>
                <a:srgbClr val="E3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7202E"/>
                </a:solidFill>
                <a:latin typeface="+mn-lt"/>
              </a:defRPr>
            </a:pPr>
            <a:r>
              <a:rPr sz="1400" b="0" i="0" u="none" strike="noStrike">
                <a:solidFill>
                  <a:srgbClr val="17202E"/>
                </a:solidFill>
                <a:latin typeface="+mn-lt"/>
              </a:rPr>
              <a:t>Evidentiary weight (0–1)</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rgbClr val="0E7C86"/>
            </a:solidFill>
            <a:effectLst/>
          </c:spPr>
          <c:invertIfNegative val="0"/>
          <c:dLbls>
            <c:numFmt formatCode="0.00" sourceLinked="0"/>
            <c:txPr>
              <a:bodyPr/>
              <a:lstStyle/>
              <a:p>
                <a:pPr>
                  <a:defRPr b="0" i="0" strike="noStrike" sz="1200" u="none">
                    <a:solidFill>
                      <a:srgbClr val="17202E"/>
                    </a:solidFill>
                    <a:latin typeface="+mn-lt"/>
                  </a:defRPr>
                </a:pPr>
              </a:p>
            </c:txPr>
            <c:showLegendKey val="0"/>
            <c:showVal val="1"/>
            <c:showCatName val="0"/>
            <c:showSerName val="0"/>
            <c:showPercent val="0"/>
            <c:showBubbleSize val="0"/>
            <c:showLeaderLines val="0"/>
          </c:dLbls>
          <c:cat>
            <c:multiLvlStrRef>
              <c:f>Sheet1!$A$2:$A$10</c:f>
              <c:multiLvlStrCache>
                <c:ptCount val="9"/>
                <c:lvl>
                  <c:pt idx="0">
                    <c:v>Regulatory filing</c:v>
                  </c:pt>
                  <c:pt idx="1">
                    <c:v>Technical docs / trust centre</c:v>
                  </c:pt>
                  <c:pt idx="2">
                    <c:v>Press release / newsroom</c:v>
                  </c:pt>
                  <c:pt idx="3">
                    <c:v>Executive statement</c:v>
                  </c:pt>
                  <c:pt idx="4">
                    <c:v>Vendor blog</c:v>
                  </c:pt>
                  <c:pt idx="5">
                    <c:v>Job posting</c:v>
                  </c:pt>
                  <c:pt idx="6">
                    <c:v>Third-party media</c:v>
                  </c:pt>
                  <c:pt idx="7">
                    <c:v>Marketing page</c:v>
                  </c:pt>
                  <c:pt idx="8">
                    <c:v>Unclassified</c:v>
                  </c:pt>
                </c:lvl>
              </c:multiLvlStrCache>
            </c:multiLvlStrRef>
          </c:cat>
          <c:val>
            <c:numRef>
              <c:f>Sheet1!$B$2:$B$10</c:f>
              <c:numCache>
                <c:formatCode>General</c:formatCode>
                <c:ptCount val="9"/>
                <c:pt idx="0">
                  <c:v>1</c:v>
                </c:pt>
                <c:pt idx="1">
                  <c:v>0.9</c:v>
                </c:pt>
                <c:pt idx="2">
                  <c:v>0.8</c:v>
                </c:pt>
                <c:pt idx="3">
                  <c:v>0.7</c:v>
                </c:pt>
                <c:pt idx="4">
                  <c:v>0.55</c:v>
                </c:pt>
                <c:pt idx="5">
                  <c:v>0.5</c:v>
                </c:pt>
                <c:pt idx="6">
                  <c:v>0.45</c:v>
                </c:pt>
                <c:pt idx="7">
                  <c:v>0.3</c:v>
                </c:pt>
                <c:pt idx="8">
                  <c:v>0.2</c:v>
                </c:pt>
              </c:numCache>
            </c:numRef>
          </c:val>
        </c:ser>
        <c:dLbls>
          <c:numFmt formatCode="0.00" sourceLinked="0"/>
          <c:txPr>
            <a:bodyPr/>
            <a:lstStyle/>
            <a:p>
              <a:pPr>
                <a:defRPr b="0" i="0" strike="noStrike" sz="1200" u="none">
                  <a:solidFill>
                    <a:srgbClr val="1720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02E"/>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E3E8E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we turn 'does this vendor use AI?' from an opinion into a repeatable, evidence-weighted, traceable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risks matter: sensitive data reaching AI models, undisclosed AI sub-processors, and reduced transparency over decisions. The hard part is telling real use from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session in about thirty seconds: the goals on the left, what the audience will see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on one slide. Each step is a module; the next slides open them up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Emphasise two things: the tier drives how deep we go, and the two exits at the end: the workbook for Meridian and the questionnaire items for the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to bottom: what the user touches, the API, the six pipeline modules, and the stores. The key design choice is that all weights and thresholds are in config.py, so results are auditable and tunable.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analyst gets the same rating because the inputs are the provided columns and the rules are written down. The threshold was calibrated on the benchmark row V-000 only;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enforces the page budget and the minimum pages before a negative finding is accepted. The source-class list and stop rule guide the analyst's manual follow-up and are written into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Filings and technical documentation outweigh blogs and marketing pages. The weights live in config.py, so they can be challenged and 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how one signal is scored. Middle: signals from the same source class collapse to the strongest one, then classes combine. Right: the tag the stakeholder sees and the Yes / No / Inconclusive call it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AI-based technique: a curated AI lexicon with typed signals, plus an optional LLM assist that only re-labels ambiguous sentences, always keeping the rule label alongside it. The LLM assist is implemented but was not exercised in this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severity from tier, data sensitivity and AI role; then the cap from the evidence tag. Below: how the three key risks appear as flags. Bottom: the action deadline per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a row: tier, whether AI is used, how sure we are, who the providers are, the risk class. Two things to land: Fiserv and BNY are escalated; TCH and AutomWorx are inconclusive, not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one real finding with all its metadata. Right: how we treat a negative result. We never present absence of evidence as clearance; the vendor goes back for a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Upload &amp; Analyse, choose Offline, Run. Point at the benchmark tile, open Fiserv to show the evidence, then download the workbook and open the Evidence Log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Urgent: sub-processor and retention verification for the Critical-risk vendors. 30 days: governance briefings and closing evidence gaps. Annual: preventative notice clauses where no AI was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they are asked. The strongest answer to 'how reliable is this' is that every weight is visible, the benchmark is re-checked each run, and weak evidence cannot produce a Critical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Vendor AI Usage Analysis  |  Meridian Financial</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05840"/>
            <a:ext cx="10515600" cy="365760"/>
          </a:xfrm>
          <a:prstGeom prst="rect">
            <a:avLst/>
          </a:prstGeom>
          <a:noFill/>
          <a:ln/>
        </p:spPr>
        <p:txBody>
          <a:bodyPr wrap="square" lIns="0" tIns="0" rIns="0" bIns="0" rtlCol="0" anchor="t"/>
          <a:lstStyle/>
          <a:p>
            <a:pPr indent="0" marL="0">
              <a:buNone/>
            </a:pPr>
            <a:r>
              <a:rPr lang="en-US" sz="1400" b="1" spc="300" kern="0" dirty="0">
                <a:solidFill>
                  <a:srgbClr val="7FD6DD"/>
                </a:solidFill>
              </a:rPr>
              <a:t>CASE STUDY 1  |  THIRD-PARTY RISK MANAGEMENT</a:t>
            </a:r>
            <a:endParaRPr lang="en-US" sz="1400" dirty="0"/>
          </a:p>
        </p:txBody>
      </p:sp>
      <p:sp>
        <p:nvSpPr>
          <p:cNvPr id="3" name="Text 1"/>
          <p:cNvSpPr txBox="1"/>
          <p:nvPr/>
        </p:nvSpPr>
        <p:spPr>
          <a:xfrm>
            <a:off x="731520" y="1554480"/>
            <a:ext cx="10515600" cy="1097280"/>
          </a:xfrm>
          <a:prstGeom prst="rect">
            <a:avLst/>
          </a:prstGeom>
          <a:noFill/>
          <a:ln/>
        </p:spPr>
        <p:txBody>
          <a:bodyPr wrap="square" lIns="0" tIns="0" rIns="0" bIns="0" rtlCol="0" anchor="t"/>
          <a:lstStyle/>
          <a:p>
            <a:pPr indent="0" marL="0">
              <a:buNone/>
            </a:pPr>
            <a:r>
              <a:rPr lang="en-US" sz="5400" b="1" dirty="0">
                <a:solidFill>
                  <a:schemeClr val="bg1"/>
                </a:solidFill>
                <a:latin typeface="Cambria" pitchFamily="34" charset="0"/>
                <a:ea typeface="Cambria" pitchFamily="34" charset="-122"/>
                <a:cs typeface="Cambria" pitchFamily="34" charset="-120"/>
              </a:rPr>
              <a:t>Vendor AI Usage Analysis</a:t>
            </a:r>
            <a:endParaRPr lang="en-US" sz="5400" dirty="0"/>
          </a:p>
        </p:txBody>
      </p:sp>
      <p:sp>
        <p:nvSpPr>
          <p:cNvPr id="4" name="Text 2"/>
          <p:cNvSpPr txBox="1"/>
          <p:nvPr/>
        </p:nvSpPr>
        <p:spPr>
          <a:xfrm>
            <a:off x="731520" y="2788920"/>
            <a:ext cx="8778240" cy="1188720"/>
          </a:xfrm>
          <a:prstGeom prst="rect">
            <a:avLst/>
          </a:prstGeom>
          <a:noFill/>
          <a:ln/>
        </p:spPr>
        <p:txBody>
          <a:bodyPr wrap="square" lIns="0" tIns="0" rIns="0" bIns="0" rtlCol="0" anchor="t"/>
          <a:lstStyle/>
          <a:p>
            <a:pPr indent="0" marL="0">
              <a:buNone/>
            </a:pPr>
            <a:r>
              <a:rPr lang="en-US" sz="2200" dirty="0">
                <a:solidFill>
                  <a:schemeClr val="bg2"/>
                </a:solidFill>
              </a:rPr>
              <a:t>A repeatable, evidence-based way to tell whether a vendor really uses AI in the service it provides — and what that means for Meridian's data, operations and risk.</a:t>
            </a:r>
            <a:endParaRPr lang="en-US" sz="2200" dirty="0"/>
          </a:p>
        </p:txBody>
      </p:sp>
      <p:sp>
        <p:nvSpPr>
          <p:cNvPr id="5" name="Text 3"/>
          <p:cNvSpPr txBox="1"/>
          <p:nvPr/>
        </p:nvSpPr>
        <p:spPr>
          <a:xfrm>
            <a:off x="731520" y="5120640"/>
            <a:ext cx="10058400" cy="365760"/>
          </a:xfrm>
          <a:prstGeom prst="rect">
            <a:avLst/>
          </a:prstGeom>
          <a:noFill/>
          <a:ln/>
        </p:spPr>
        <p:txBody>
          <a:bodyPr wrap="square" lIns="0" tIns="0" rIns="0" bIns="0" rtlCol="0" anchor="t"/>
          <a:lstStyle/>
          <a:p>
            <a:pPr indent="0" marL="0">
              <a:buNone/>
            </a:pPr>
            <a:r>
              <a:rPr lang="en-US" sz="1600" dirty="0">
                <a:solidFill>
                  <a:schemeClr val="bg2"/>
                </a:solidFill>
              </a:rPr>
              <a:t>Prepared for Meridian Financial</a:t>
            </a:r>
            <a:endParaRPr lang="en-US" sz="1600" dirty="0"/>
          </a:p>
        </p:txBody>
      </p:sp>
      <p:sp>
        <p:nvSpPr>
          <p:cNvPr id="6" name="Text 4"/>
          <p:cNvSpPr txBox="1"/>
          <p:nvPr/>
        </p:nvSpPr>
        <p:spPr>
          <a:xfrm>
            <a:off x="731520" y="5577840"/>
            <a:ext cx="10058400" cy="365760"/>
          </a:xfrm>
          <a:prstGeom prst="rect">
            <a:avLst/>
          </a:prstGeom>
          <a:noFill/>
          <a:ln/>
        </p:spPr>
        <p:txBody>
          <a:bodyPr wrap="square" lIns="0" tIns="0" rIns="0" bIns="0" rtlCol="0" anchor="t"/>
          <a:lstStyle/>
          <a:p>
            <a:pPr indent="0" marL="0">
              <a:buNone/>
            </a:pPr>
            <a:r>
              <a:rPr lang="en-US" sz="1200" dirty="0">
                <a:solidFill>
                  <a:srgbClr val="A9B6C6"/>
                </a:solidFill>
              </a:rPr>
              <a:t>Confidential. Findings are based on public information only; no vendor was contacted.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The challenge: vendor AI is invisible to Meridian</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Vendors embed AI in their products and services, often without saying so, and the risk lands on Meridian.</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CONTEXT</a:t>
            </a:r>
            <a:endParaRPr lang="en-US" sz="1050" dirty="0"/>
          </a:p>
        </p:txBody>
      </p:sp>
      <p:sp>
        <p:nvSpPr>
          <p:cNvPr id="7" name="Shape 4"/>
          <p:cNvSpPr/>
          <p:nvPr/>
        </p:nvSpPr>
        <p:spPr>
          <a:xfrm>
            <a:off x="548640" y="1783080"/>
            <a:ext cx="6035040" cy="1234440"/>
          </a:xfrm>
          <a:prstGeom prst="roundRect">
            <a:avLst>
              <a:gd name="adj" fmla="val 5185"/>
            </a:avLst>
          </a:prstGeom>
          <a:solidFill>
            <a:schemeClr val="bg2"/>
          </a:solidFill>
          <a:ln w="9525">
            <a:solidFill>
              <a:schemeClr val="bg2"/>
            </a:solidFill>
            <a:prstDash val="solid"/>
          </a:ln>
        </p:spPr>
      </p:sp>
      <p:sp>
        <p:nvSpPr>
          <p:cNvPr id="8" name="Shape 5"/>
          <p:cNvSpPr/>
          <p:nvPr/>
        </p:nvSpPr>
        <p:spPr>
          <a:xfrm>
            <a:off x="749808" y="2148840"/>
            <a:ext cx="457200" cy="457200"/>
          </a:xfrm>
          <a:prstGeom prst="ellipse">
            <a:avLst/>
          </a:prstGeom>
          <a:solidFill>
            <a:schemeClr val="accent4"/>
          </a:solidFill>
          <a:ln w="6350">
            <a:solidFill>
              <a:schemeClr val="accent4"/>
            </a:solidFill>
            <a:prstDash val="solid"/>
          </a:ln>
        </p:spPr>
      </p:sp>
      <p:sp>
        <p:nvSpPr>
          <p:cNvPr id="9" name="Text 6"/>
          <p:cNvSpPr txBox="1"/>
          <p:nvPr/>
        </p:nvSpPr>
        <p:spPr>
          <a:xfrm>
            <a:off x="749808" y="21488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1463040" y="1947672"/>
            <a:ext cx="4937760" cy="365760"/>
          </a:xfrm>
          <a:prstGeom prst="rect">
            <a:avLst/>
          </a:prstGeom>
          <a:noFill/>
          <a:ln/>
        </p:spPr>
        <p:txBody>
          <a:bodyPr wrap="square" lIns="0" tIns="0" rIns="0" bIns="0" rtlCol="0" anchor="t"/>
          <a:lstStyle/>
          <a:p>
            <a:pPr indent="0" marL="0">
              <a:buNone/>
            </a:pPr>
            <a:r>
              <a:rPr lang="en-US" sz="1700" b="1" dirty="0">
                <a:solidFill>
                  <a:schemeClr val="tx2"/>
                </a:solidFill>
              </a:rPr>
              <a:t>Sensitive data exposed to AI models</a:t>
            </a:r>
            <a:endParaRPr lang="en-US" sz="1700" dirty="0"/>
          </a:p>
        </p:txBody>
      </p:sp>
      <p:sp>
        <p:nvSpPr>
          <p:cNvPr id="11" name="Text 8"/>
          <p:cNvSpPr txBox="1"/>
          <p:nvPr/>
        </p:nvSpPr>
        <p:spPr>
          <a:xfrm>
            <a:off x="1463040" y="2331720"/>
            <a:ext cx="4937760" cy="640080"/>
          </a:xfrm>
          <a:prstGeom prst="rect">
            <a:avLst/>
          </a:prstGeom>
          <a:noFill/>
          <a:ln/>
        </p:spPr>
        <p:txBody>
          <a:bodyPr wrap="square" lIns="0" tIns="0" rIns="0" bIns="0" rtlCol="0" anchor="t"/>
          <a:lstStyle/>
          <a:p>
            <a:pPr indent="0" marL="0">
              <a:buNone/>
            </a:pPr>
            <a:r>
              <a:rPr lang="en-US" sz="1300" dirty="0">
                <a:solidFill>
                  <a:schemeClr val="tx1"/>
                </a:solidFill>
              </a:rPr>
              <a:t>Customer, payment and credential data may be sent to models the vendor chose, with retention and training terms nobody reviewed.</a:t>
            </a:r>
            <a:endParaRPr lang="en-US" sz="1300" dirty="0"/>
          </a:p>
        </p:txBody>
      </p:sp>
      <p:sp>
        <p:nvSpPr>
          <p:cNvPr id="12" name="Shape 9"/>
          <p:cNvSpPr/>
          <p:nvPr/>
        </p:nvSpPr>
        <p:spPr>
          <a:xfrm>
            <a:off x="548640" y="3154680"/>
            <a:ext cx="6035040" cy="1234440"/>
          </a:xfrm>
          <a:prstGeom prst="roundRect">
            <a:avLst>
              <a:gd name="adj" fmla="val 5185"/>
            </a:avLst>
          </a:prstGeom>
          <a:solidFill>
            <a:schemeClr val="bg2"/>
          </a:solidFill>
          <a:ln w="9525">
            <a:solidFill>
              <a:schemeClr val="bg2"/>
            </a:solidFill>
            <a:prstDash val="solid"/>
          </a:ln>
        </p:spPr>
      </p:sp>
      <p:sp>
        <p:nvSpPr>
          <p:cNvPr id="13" name="Shape 10"/>
          <p:cNvSpPr/>
          <p:nvPr/>
        </p:nvSpPr>
        <p:spPr>
          <a:xfrm>
            <a:off x="749808" y="3520440"/>
            <a:ext cx="457200" cy="457200"/>
          </a:xfrm>
          <a:prstGeom prst="ellipse">
            <a:avLst/>
          </a:prstGeom>
          <a:solidFill>
            <a:schemeClr val="accent4"/>
          </a:solidFill>
          <a:ln w="6350">
            <a:solidFill>
              <a:schemeClr val="accent4"/>
            </a:solidFill>
            <a:prstDash val="solid"/>
          </a:ln>
        </p:spPr>
      </p:sp>
      <p:sp>
        <p:nvSpPr>
          <p:cNvPr id="14" name="Text 11"/>
          <p:cNvSpPr txBox="1"/>
          <p:nvPr/>
        </p:nvSpPr>
        <p:spPr>
          <a:xfrm>
            <a:off x="749808" y="35204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1463040" y="3319272"/>
            <a:ext cx="4937760" cy="365760"/>
          </a:xfrm>
          <a:prstGeom prst="rect">
            <a:avLst/>
          </a:prstGeom>
          <a:noFill/>
          <a:ln/>
        </p:spPr>
        <p:txBody>
          <a:bodyPr wrap="square" lIns="0" tIns="0" rIns="0" bIns="0" rtlCol="0" anchor="t"/>
          <a:lstStyle/>
          <a:p>
            <a:pPr indent="0" marL="0">
              <a:buNone/>
            </a:pPr>
            <a:r>
              <a:rPr lang="en-US" sz="1700" b="1" dirty="0">
                <a:solidFill>
                  <a:schemeClr val="tx2"/>
                </a:solidFill>
              </a:rPr>
              <a:t>Reliance on undisclosed AI sub-processors</a:t>
            </a:r>
            <a:endParaRPr lang="en-US" sz="1700" dirty="0"/>
          </a:p>
        </p:txBody>
      </p:sp>
      <p:sp>
        <p:nvSpPr>
          <p:cNvPr id="16" name="Text 13"/>
          <p:cNvSpPr txBox="1"/>
          <p:nvPr/>
        </p:nvSpPr>
        <p:spPr>
          <a:xfrm>
            <a:off x="1463040" y="3703320"/>
            <a:ext cx="4937760" cy="640080"/>
          </a:xfrm>
          <a:prstGeom prst="rect">
            <a:avLst/>
          </a:prstGeom>
          <a:noFill/>
          <a:ln/>
        </p:spPr>
        <p:txBody>
          <a:bodyPr wrap="square" lIns="0" tIns="0" rIns="0" bIns="0" rtlCol="0" anchor="t"/>
          <a:lstStyle/>
          <a:p>
            <a:pPr indent="0" marL="0">
              <a:buNone/>
            </a:pPr>
            <a:r>
              <a:rPr lang="en-US" sz="1300" dirty="0">
                <a:solidFill>
                  <a:schemeClr val="tx1"/>
                </a:solidFill>
              </a:rPr>
              <a:t>A 4th party, such as a model provider, that Meridian never contracted, assessed or monitored.</a:t>
            </a:r>
            <a:endParaRPr lang="en-US" sz="1300" dirty="0"/>
          </a:p>
        </p:txBody>
      </p:sp>
      <p:sp>
        <p:nvSpPr>
          <p:cNvPr id="17" name="Shape 14"/>
          <p:cNvSpPr/>
          <p:nvPr/>
        </p:nvSpPr>
        <p:spPr>
          <a:xfrm>
            <a:off x="548640" y="4526280"/>
            <a:ext cx="6035040" cy="1234440"/>
          </a:xfrm>
          <a:prstGeom prst="roundRect">
            <a:avLst>
              <a:gd name="adj" fmla="val 5185"/>
            </a:avLst>
          </a:prstGeom>
          <a:solidFill>
            <a:schemeClr val="bg2"/>
          </a:solidFill>
          <a:ln w="9525">
            <a:solidFill>
              <a:schemeClr val="bg2"/>
            </a:solidFill>
            <a:prstDash val="solid"/>
          </a:ln>
        </p:spPr>
      </p:sp>
      <p:sp>
        <p:nvSpPr>
          <p:cNvPr id="18" name="Shape 15"/>
          <p:cNvSpPr/>
          <p:nvPr/>
        </p:nvSpPr>
        <p:spPr>
          <a:xfrm>
            <a:off x="749808" y="4892040"/>
            <a:ext cx="457200" cy="457200"/>
          </a:xfrm>
          <a:prstGeom prst="ellipse">
            <a:avLst/>
          </a:prstGeom>
          <a:solidFill>
            <a:schemeClr val="accent4"/>
          </a:solidFill>
          <a:ln w="6350">
            <a:solidFill>
              <a:schemeClr val="accent4"/>
            </a:solidFill>
            <a:prstDash val="solid"/>
          </a:ln>
        </p:spPr>
      </p:sp>
      <p:sp>
        <p:nvSpPr>
          <p:cNvPr id="19" name="Text 16"/>
          <p:cNvSpPr txBox="1"/>
          <p:nvPr/>
        </p:nvSpPr>
        <p:spPr>
          <a:xfrm>
            <a:off x="749808" y="48920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7"/>
          <p:cNvSpPr txBox="1"/>
          <p:nvPr/>
        </p:nvSpPr>
        <p:spPr>
          <a:xfrm>
            <a:off x="1463040" y="4690872"/>
            <a:ext cx="4937760" cy="365760"/>
          </a:xfrm>
          <a:prstGeom prst="rect">
            <a:avLst/>
          </a:prstGeom>
          <a:noFill/>
          <a:ln/>
        </p:spPr>
        <p:txBody>
          <a:bodyPr wrap="square" lIns="0" tIns="0" rIns="0" bIns="0" rtlCol="0" anchor="t"/>
          <a:lstStyle/>
          <a:p>
            <a:pPr indent="0" marL="0">
              <a:buNone/>
            </a:pPr>
            <a:r>
              <a:rPr lang="en-US" sz="1700" b="1" dirty="0">
                <a:solidFill>
                  <a:schemeClr val="tx2"/>
                </a:solidFill>
              </a:rPr>
              <a:t>Less transparency over decisions</a:t>
            </a:r>
            <a:endParaRPr lang="en-US" sz="1700" dirty="0"/>
          </a:p>
        </p:txBody>
      </p:sp>
      <p:sp>
        <p:nvSpPr>
          <p:cNvPr id="21" name="Text 18"/>
          <p:cNvSpPr txBox="1"/>
          <p:nvPr/>
        </p:nvSpPr>
        <p:spPr>
          <a:xfrm>
            <a:off x="1463040" y="5074920"/>
            <a:ext cx="4937760" cy="640080"/>
          </a:xfrm>
          <a:prstGeom prst="rect">
            <a:avLst/>
          </a:prstGeom>
          <a:noFill/>
          <a:ln/>
        </p:spPr>
        <p:txBody>
          <a:bodyPr wrap="square" lIns="0" tIns="0" rIns="0" bIns="0" rtlCol="0" anchor="t"/>
          <a:lstStyle/>
          <a:p>
            <a:pPr indent="0" marL="0">
              <a:buNone/>
            </a:pPr>
            <a:r>
              <a:rPr lang="en-US" sz="1300" dirty="0">
                <a:solidFill>
                  <a:schemeClr val="tx1"/>
                </a:solidFill>
              </a:rPr>
              <a:t>Automated or agentic actions on Meridian accounts and payments, with unclear human review.</a:t>
            </a:r>
            <a:endParaRPr lang="en-US" sz="1300" dirty="0"/>
          </a:p>
        </p:txBody>
      </p:sp>
      <p:sp>
        <p:nvSpPr>
          <p:cNvPr id="22" name="Shape 19"/>
          <p:cNvSpPr/>
          <p:nvPr/>
        </p:nvSpPr>
        <p:spPr>
          <a:xfrm>
            <a:off x="6903720" y="1783080"/>
            <a:ext cx="4736592" cy="3977640"/>
          </a:xfrm>
          <a:prstGeom prst="roundRect">
            <a:avLst>
              <a:gd name="adj" fmla="val 1609"/>
            </a:avLst>
          </a:prstGeom>
          <a:solidFill>
            <a:schemeClr val="tx2"/>
          </a:solidFill>
          <a:ln w="9525">
            <a:solidFill>
              <a:schemeClr val="tx2"/>
            </a:solidFill>
            <a:prstDash val="solid"/>
          </a:ln>
        </p:spPr>
      </p:sp>
      <p:sp>
        <p:nvSpPr>
          <p:cNvPr id="23" name="Text 20"/>
          <p:cNvSpPr txBox="1"/>
          <p:nvPr/>
        </p:nvSpPr>
        <p:spPr>
          <a:xfrm>
            <a:off x="7178040" y="1965960"/>
            <a:ext cx="4206240" cy="365760"/>
          </a:xfrm>
          <a:prstGeom prst="rect">
            <a:avLst/>
          </a:prstGeom>
          <a:noFill/>
          <a:ln/>
        </p:spPr>
        <p:txBody>
          <a:bodyPr wrap="square" lIns="0" tIns="0" rIns="0" bIns="0" rtlCol="0" anchor="t"/>
          <a:lstStyle/>
          <a:p>
            <a:pPr indent="0" marL="0">
              <a:buNone/>
            </a:pPr>
            <a:r>
              <a:rPr lang="en-US" sz="1400" b="1" dirty="0">
                <a:solidFill>
                  <a:srgbClr val="7FD6DD"/>
                </a:solidFill>
              </a:rPr>
              <a:t>The hard part</a:t>
            </a:r>
            <a:endParaRPr lang="en-US" sz="1400" dirty="0"/>
          </a:p>
        </p:txBody>
      </p:sp>
      <p:sp>
        <p:nvSpPr>
          <p:cNvPr id="24" name="Text 21"/>
          <p:cNvSpPr txBox="1"/>
          <p:nvPr/>
        </p:nvSpPr>
        <p:spPr>
          <a:xfrm>
            <a:off x="7178040" y="2331720"/>
            <a:ext cx="4206240" cy="457200"/>
          </a:xfrm>
          <a:prstGeom prst="rect">
            <a:avLst/>
          </a:prstGeom>
          <a:noFill/>
          <a:ln/>
        </p:spPr>
        <p:txBody>
          <a:bodyPr wrap="square" lIns="0" tIns="0" rIns="0" bIns="0" rtlCol="0" anchor="t"/>
          <a:lstStyle/>
          <a:p>
            <a:pPr indent="0" marL="0">
              <a:buNone/>
            </a:pPr>
            <a:r>
              <a:rPr lang="en-US" sz="2400" b="1" dirty="0">
                <a:solidFill>
                  <a:schemeClr val="bg1"/>
                </a:solidFill>
              </a:rPr>
              <a:t>Real use vs. marketing</a:t>
            </a:r>
            <a:endParaRPr lang="en-US" sz="2400" dirty="0"/>
          </a:p>
        </p:txBody>
      </p:sp>
      <p:sp>
        <p:nvSpPr>
          <p:cNvPr id="25" name="Text 22"/>
          <p:cNvSpPr txBox="1"/>
          <p:nvPr/>
        </p:nvSpPr>
        <p:spPr>
          <a:xfrm>
            <a:off x="7178040" y="3017520"/>
            <a:ext cx="4206240" cy="2651760"/>
          </a:xfrm>
          <a:prstGeom prst="rect">
            <a:avLst/>
          </a:prstGeom>
          <a:noFill/>
          <a:ln/>
        </p:spPr>
        <p:txBody>
          <a:bodyPr wrap="square" lIns="0" tIns="0" rIns="0" bIns="0" rtlCol="0" anchor="t"/>
          <a:lstStyle/>
          <a:p>
            <a:pPr indent="0" marL="0">
              <a:spcAft>
                <a:spcPts val="800"/>
              </a:spcAft>
              <a:buNone/>
            </a:pPr>
            <a:r>
              <a:rPr lang="en-US" sz="1500" dirty="0">
                <a:solidFill>
                  <a:schemeClr val="bg2"/>
                </a:solidFill>
              </a:rPr>
              <a:t>“We are AI-ready” is not “an LLM processes your data”.</a:t>
            </a:r>
            <a:endParaRPr lang="en-US" sz="1500" dirty="0"/>
          </a:p>
          <a:p>
            <a:pPr indent="0" marL="0">
              <a:spcAft>
                <a:spcPts val="800"/>
              </a:spcAft>
              <a:buNone/>
            </a:pPr>
            <a:r>
              <a:rPr lang="en-US" sz="1500" dirty="0">
                <a:solidFill>
                  <a:schemeClr val="bg2"/>
                </a:solidFill>
              </a:rPr>
              <a:t>Public sources differ hugely in reliability, so each needs a weight.</a:t>
            </a:r>
            <a:endParaRPr lang="en-US" sz="1500" dirty="0"/>
          </a:p>
          <a:p>
            <a:pPr indent="0" marL="0">
              <a:spcAft>
                <a:spcPts val="800"/>
              </a:spcAft>
              <a:buNone/>
            </a:pPr>
            <a:r>
              <a:rPr lang="en-US" sz="1500" dirty="0">
                <a:solidFill>
                  <a:schemeClr val="bg2"/>
                </a:solidFill>
              </a:rPr>
              <a:t>Every finding must be explainable and repeatable by another analyst.</a:t>
            </a:r>
            <a:endParaRPr lang="en-US" sz="1500" dirty="0"/>
          </a:p>
          <a:p>
            <a:pPr indent="0" marL="0">
              <a:buNone/>
            </a:pPr>
            <a:r>
              <a:rPr lang="en-US" sz="1500" dirty="0">
                <a:solidFill>
                  <a:schemeClr val="bg2"/>
                </a:solidFill>
              </a:rPr>
              <a:t>Constraint: public information only. No vendor contact, nothing published.</a:t>
            </a:r>
            <a:endParaRPr lang="en-US" sz="15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Objectives and what we will show today</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Five goals shaped the solution; each one is demonstrated in the next few minutes.</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CONTEXT</a:t>
            </a:r>
            <a:endParaRPr lang="en-US" sz="1050" dirty="0"/>
          </a:p>
        </p:txBody>
      </p:sp>
      <p:sp>
        <p:nvSpPr>
          <p:cNvPr id="7" name="Text 4"/>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WHAT WE SET OUT TO DO</a:t>
            </a:r>
            <a:endParaRPr lang="en-US" sz="1200" dirty="0"/>
          </a:p>
        </p:txBody>
      </p:sp>
      <p:sp>
        <p:nvSpPr>
          <p:cNvPr id="8" name="Text 5"/>
          <p:cNvSpPr txBox="1"/>
          <p:nvPr/>
        </p:nvSpPr>
        <p:spPr>
          <a:xfrm>
            <a:off x="6263640" y="1691640"/>
            <a:ext cx="54864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WHAT YOU WILL SEE</a:t>
            </a:r>
            <a:endParaRPr lang="en-US" sz="1200" dirty="0"/>
          </a:p>
        </p:txBody>
      </p:sp>
      <p:sp>
        <p:nvSpPr>
          <p:cNvPr id="9" name="Shape 6"/>
          <p:cNvSpPr/>
          <p:nvPr/>
        </p:nvSpPr>
        <p:spPr>
          <a:xfrm>
            <a:off x="548640" y="2057400"/>
            <a:ext cx="5440680" cy="713232"/>
          </a:xfrm>
          <a:prstGeom prst="roundRect">
            <a:avLst>
              <a:gd name="adj" fmla="val 8974"/>
            </a:avLst>
          </a:prstGeom>
          <a:solidFill>
            <a:schemeClr val="bg2"/>
          </a:solidFill>
          <a:ln w="9525">
            <a:solidFill>
              <a:schemeClr val="bg2"/>
            </a:solidFill>
            <a:prstDash val="solid"/>
          </a:ln>
        </p:spPr>
      </p:sp>
      <p:sp>
        <p:nvSpPr>
          <p:cNvPr id="10" name="Shape 7"/>
          <p:cNvSpPr/>
          <p:nvPr/>
        </p:nvSpPr>
        <p:spPr>
          <a:xfrm>
            <a:off x="713232" y="2231136"/>
            <a:ext cx="365760" cy="365760"/>
          </a:xfrm>
          <a:prstGeom prst="ellipse">
            <a:avLst/>
          </a:prstGeom>
          <a:solidFill>
            <a:schemeClr val="accent2"/>
          </a:solidFill>
          <a:ln w="6350">
            <a:solidFill>
              <a:schemeClr val="accent2"/>
            </a:solidFill>
            <a:prstDash val="solid"/>
          </a:ln>
        </p:spPr>
      </p:sp>
      <p:sp>
        <p:nvSpPr>
          <p:cNvPr id="11" name="Text 8"/>
          <p:cNvSpPr txBox="1"/>
          <p:nvPr/>
        </p:nvSpPr>
        <p:spPr>
          <a:xfrm>
            <a:off x="713232" y="22311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9"/>
          <p:cNvSpPr txBox="1"/>
          <p:nvPr/>
        </p:nvSpPr>
        <p:spPr>
          <a:xfrm>
            <a:off x="1280160" y="2130552"/>
            <a:ext cx="4572000" cy="292608"/>
          </a:xfrm>
          <a:prstGeom prst="rect">
            <a:avLst/>
          </a:prstGeom>
          <a:noFill/>
          <a:ln/>
        </p:spPr>
        <p:txBody>
          <a:bodyPr wrap="square" lIns="0" tIns="0" rIns="0" bIns="0" rtlCol="0" anchor="t"/>
          <a:lstStyle/>
          <a:p>
            <a:pPr indent="0" marL="0">
              <a:buNone/>
            </a:pPr>
            <a:r>
              <a:rPr lang="en-US" sz="1500" b="1" dirty="0">
                <a:solidFill>
                  <a:schemeClr val="tx2"/>
                </a:solidFill>
              </a:rPr>
              <a:t>Rate criticality consistently</a:t>
            </a:r>
            <a:endParaRPr lang="en-US" sz="1500" dirty="0"/>
          </a:p>
        </p:txBody>
      </p:sp>
      <p:sp>
        <p:nvSpPr>
          <p:cNvPr id="13" name="Text 10"/>
          <p:cNvSpPr txBox="1"/>
          <p:nvPr/>
        </p:nvSpPr>
        <p:spPr>
          <a:xfrm>
            <a:off x="1280160" y="2423160"/>
            <a:ext cx="4572000" cy="274320"/>
          </a:xfrm>
          <a:prstGeom prst="rect">
            <a:avLst/>
          </a:prstGeom>
          <a:noFill/>
          <a:ln/>
        </p:spPr>
        <p:txBody>
          <a:bodyPr wrap="square" lIns="0" tIns="0" rIns="0" bIns="0" rtlCol="0" anchor="t"/>
          <a:lstStyle/>
          <a:p>
            <a:pPr indent="0" marL="0">
              <a:buNone/>
            </a:pPr>
            <a:r>
              <a:rPr lang="en-US" sz="1200" dirty="0">
                <a:solidFill>
                  <a:schemeClr val="tx1"/>
                </a:solidFill>
              </a:rPr>
              <a:t>Criteria another analyst can reproduce</a:t>
            </a:r>
            <a:endParaRPr lang="en-US" sz="1200" dirty="0"/>
          </a:p>
        </p:txBody>
      </p:sp>
      <p:sp>
        <p:nvSpPr>
          <p:cNvPr id="14" name="Shape 11"/>
          <p:cNvSpPr/>
          <p:nvPr/>
        </p:nvSpPr>
        <p:spPr>
          <a:xfrm>
            <a:off x="548640" y="2880360"/>
            <a:ext cx="5440680" cy="713232"/>
          </a:xfrm>
          <a:prstGeom prst="roundRect">
            <a:avLst>
              <a:gd name="adj" fmla="val 8974"/>
            </a:avLst>
          </a:prstGeom>
          <a:solidFill>
            <a:schemeClr val="bg2"/>
          </a:solidFill>
          <a:ln w="9525">
            <a:solidFill>
              <a:schemeClr val="bg2"/>
            </a:solidFill>
            <a:prstDash val="solid"/>
          </a:ln>
        </p:spPr>
      </p:sp>
      <p:sp>
        <p:nvSpPr>
          <p:cNvPr id="15" name="Shape 12"/>
          <p:cNvSpPr/>
          <p:nvPr/>
        </p:nvSpPr>
        <p:spPr>
          <a:xfrm>
            <a:off x="713232" y="3054096"/>
            <a:ext cx="365760" cy="365760"/>
          </a:xfrm>
          <a:prstGeom prst="ellipse">
            <a:avLst/>
          </a:prstGeom>
          <a:solidFill>
            <a:schemeClr val="accent2"/>
          </a:solidFill>
          <a:ln w="6350">
            <a:solidFill>
              <a:schemeClr val="accent2"/>
            </a:solidFill>
            <a:prstDash val="solid"/>
          </a:ln>
        </p:spPr>
      </p:sp>
      <p:sp>
        <p:nvSpPr>
          <p:cNvPr id="16" name="Text 13"/>
          <p:cNvSpPr txBox="1"/>
          <p:nvPr/>
        </p:nvSpPr>
        <p:spPr>
          <a:xfrm>
            <a:off x="713232" y="305409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Text 14"/>
          <p:cNvSpPr txBox="1"/>
          <p:nvPr/>
        </p:nvSpPr>
        <p:spPr>
          <a:xfrm>
            <a:off x="1280160" y="2953512"/>
            <a:ext cx="4572000" cy="292608"/>
          </a:xfrm>
          <a:prstGeom prst="rect">
            <a:avLst/>
          </a:prstGeom>
          <a:noFill/>
          <a:ln/>
        </p:spPr>
        <p:txBody>
          <a:bodyPr wrap="square" lIns="0" tIns="0" rIns="0" bIns="0" rtlCol="0" anchor="t"/>
          <a:lstStyle/>
          <a:p>
            <a:pPr indent="0" marL="0">
              <a:buNone/>
            </a:pPr>
            <a:r>
              <a:rPr lang="en-US" sz="1500" b="1" dirty="0">
                <a:solidFill>
                  <a:schemeClr val="tx2"/>
                </a:solidFill>
              </a:rPr>
              <a:t>Match depth to risk</a:t>
            </a:r>
            <a:endParaRPr lang="en-US" sz="1500" dirty="0"/>
          </a:p>
        </p:txBody>
      </p:sp>
      <p:sp>
        <p:nvSpPr>
          <p:cNvPr id="18" name="Text 15"/>
          <p:cNvSpPr txBox="1"/>
          <p:nvPr/>
        </p:nvSpPr>
        <p:spPr>
          <a:xfrm>
            <a:off x="1280160" y="3246120"/>
            <a:ext cx="4572000" cy="274320"/>
          </a:xfrm>
          <a:prstGeom prst="rect">
            <a:avLst/>
          </a:prstGeom>
          <a:noFill/>
          <a:ln/>
        </p:spPr>
        <p:txBody>
          <a:bodyPr wrap="square" lIns="0" tIns="0" rIns="0" bIns="0" rtlCol="0" anchor="t"/>
          <a:lstStyle/>
          <a:p>
            <a:pPr indent="0" marL="0">
              <a:buNone/>
            </a:pPr>
            <a:r>
              <a:rPr lang="en-US" sz="1200" dirty="0">
                <a:solidFill>
                  <a:schemeClr val="tx1"/>
                </a:solidFill>
              </a:rPr>
              <a:t>More effort where the exposure is greatest</a:t>
            </a:r>
            <a:endParaRPr lang="en-US" sz="1200" dirty="0"/>
          </a:p>
        </p:txBody>
      </p:sp>
      <p:sp>
        <p:nvSpPr>
          <p:cNvPr id="19" name="Shape 16"/>
          <p:cNvSpPr/>
          <p:nvPr/>
        </p:nvSpPr>
        <p:spPr>
          <a:xfrm>
            <a:off x="548640" y="3703320"/>
            <a:ext cx="5440680" cy="713232"/>
          </a:xfrm>
          <a:prstGeom prst="roundRect">
            <a:avLst>
              <a:gd name="adj" fmla="val 8974"/>
            </a:avLst>
          </a:prstGeom>
          <a:solidFill>
            <a:schemeClr val="bg2"/>
          </a:solidFill>
          <a:ln w="9525">
            <a:solidFill>
              <a:schemeClr val="bg2"/>
            </a:solidFill>
            <a:prstDash val="solid"/>
          </a:ln>
        </p:spPr>
      </p:sp>
      <p:sp>
        <p:nvSpPr>
          <p:cNvPr id="20" name="Shape 17"/>
          <p:cNvSpPr/>
          <p:nvPr/>
        </p:nvSpPr>
        <p:spPr>
          <a:xfrm>
            <a:off x="713232" y="3877056"/>
            <a:ext cx="365760" cy="365760"/>
          </a:xfrm>
          <a:prstGeom prst="ellipse">
            <a:avLst/>
          </a:prstGeom>
          <a:solidFill>
            <a:schemeClr val="accent2"/>
          </a:solidFill>
          <a:ln w="6350">
            <a:solidFill>
              <a:schemeClr val="accent2"/>
            </a:solidFill>
            <a:prstDash val="solid"/>
          </a:ln>
        </p:spPr>
      </p:sp>
      <p:sp>
        <p:nvSpPr>
          <p:cNvPr id="21" name="Text 18"/>
          <p:cNvSpPr txBox="1"/>
          <p:nvPr/>
        </p:nvSpPr>
        <p:spPr>
          <a:xfrm>
            <a:off x="713232" y="387705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19"/>
          <p:cNvSpPr txBox="1"/>
          <p:nvPr/>
        </p:nvSpPr>
        <p:spPr>
          <a:xfrm>
            <a:off x="1280160" y="3776472"/>
            <a:ext cx="4572000" cy="292608"/>
          </a:xfrm>
          <a:prstGeom prst="rect">
            <a:avLst/>
          </a:prstGeom>
          <a:noFill/>
          <a:ln/>
        </p:spPr>
        <p:txBody>
          <a:bodyPr wrap="square" lIns="0" tIns="0" rIns="0" bIns="0" rtlCol="0" anchor="t"/>
          <a:lstStyle/>
          <a:p>
            <a:pPr indent="0" marL="0">
              <a:buNone/>
            </a:pPr>
            <a:r>
              <a:rPr lang="en-US" sz="1500" b="1" dirty="0">
                <a:solidFill>
                  <a:schemeClr val="tx2"/>
                </a:solidFill>
              </a:rPr>
              <a:t>Find and weigh the evidence</a:t>
            </a:r>
            <a:endParaRPr lang="en-US" sz="1500" dirty="0"/>
          </a:p>
        </p:txBody>
      </p:sp>
      <p:sp>
        <p:nvSpPr>
          <p:cNvPr id="23" name="Text 20"/>
          <p:cNvSpPr txBox="1"/>
          <p:nvPr/>
        </p:nvSpPr>
        <p:spPr>
          <a:xfrm>
            <a:off x="1280160" y="4069080"/>
            <a:ext cx="4572000" cy="274320"/>
          </a:xfrm>
          <a:prstGeom prst="rect">
            <a:avLst/>
          </a:prstGeom>
          <a:noFill/>
          <a:ln/>
        </p:spPr>
        <p:txBody>
          <a:bodyPr wrap="square" lIns="0" tIns="0" rIns="0" bIns="0" rtlCol="0" anchor="t"/>
          <a:lstStyle/>
          <a:p>
            <a:pPr indent="0" marL="0">
              <a:buNone/>
            </a:pPr>
            <a:r>
              <a:rPr lang="en-US" sz="1200" dirty="0">
                <a:solidFill>
                  <a:schemeClr val="tx1"/>
                </a:solidFill>
              </a:rPr>
              <a:t>Which public sources show real AI use, and how much each is worth</a:t>
            </a:r>
            <a:endParaRPr lang="en-US" sz="1200" dirty="0"/>
          </a:p>
        </p:txBody>
      </p:sp>
      <p:sp>
        <p:nvSpPr>
          <p:cNvPr id="24" name="Shape 21"/>
          <p:cNvSpPr/>
          <p:nvPr/>
        </p:nvSpPr>
        <p:spPr>
          <a:xfrm>
            <a:off x="548640" y="4526280"/>
            <a:ext cx="5440680" cy="713232"/>
          </a:xfrm>
          <a:prstGeom prst="roundRect">
            <a:avLst>
              <a:gd name="adj" fmla="val 8974"/>
            </a:avLst>
          </a:prstGeom>
          <a:solidFill>
            <a:schemeClr val="bg2"/>
          </a:solidFill>
          <a:ln w="9525">
            <a:solidFill>
              <a:schemeClr val="bg2"/>
            </a:solidFill>
            <a:prstDash val="solid"/>
          </a:ln>
        </p:spPr>
      </p:sp>
      <p:sp>
        <p:nvSpPr>
          <p:cNvPr id="25" name="Shape 22"/>
          <p:cNvSpPr/>
          <p:nvPr/>
        </p:nvSpPr>
        <p:spPr>
          <a:xfrm>
            <a:off x="713232" y="4700016"/>
            <a:ext cx="365760" cy="365760"/>
          </a:xfrm>
          <a:prstGeom prst="ellipse">
            <a:avLst/>
          </a:prstGeom>
          <a:solidFill>
            <a:schemeClr val="accent2"/>
          </a:solidFill>
          <a:ln w="6350">
            <a:solidFill>
              <a:schemeClr val="accent2"/>
            </a:solidFill>
            <a:prstDash val="solid"/>
          </a:ln>
        </p:spPr>
      </p:sp>
      <p:sp>
        <p:nvSpPr>
          <p:cNvPr id="26" name="Text 23"/>
          <p:cNvSpPr txBox="1"/>
          <p:nvPr/>
        </p:nvSpPr>
        <p:spPr>
          <a:xfrm>
            <a:off x="713232" y="470001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7" name="Text 24"/>
          <p:cNvSpPr txBox="1"/>
          <p:nvPr/>
        </p:nvSpPr>
        <p:spPr>
          <a:xfrm>
            <a:off x="1280160" y="4599432"/>
            <a:ext cx="4572000" cy="292608"/>
          </a:xfrm>
          <a:prstGeom prst="rect">
            <a:avLst/>
          </a:prstGeom>
          <a:noFill/>
          <a:ln/>
        </p:spPr>
        <p:txBody>
          <a:bodyPr wrap="square" lIns="0" tIns="0" rIns="0" bIns="0" rtlCol="0" anchor="t"/>
          <a:lstStyle/>
          <a:p>
            <a:pPr indent="0" marL="0">
              <a:buNone/>
            </a:pPr>
            <a:r>
              <a:rPr lang="en-US" sz="1500" b="1" dirty="0">
                <a:solidFill>
                  <a:schemeClr val="tx2"/>
                </a:solidFill>
              </a:rPr>
              <a:t>Build a working capability</a:t>
            </a:r>
            <a:endParaRPr lang="en-US" sz="1500" dirty="0"/>
          </a:p>
        </p:txBody>
      </p:sp>
      <p:sp>
        <p:nvSpPr>
          <p:cNvPr id="28" name="Text 25"/>
          <p:cNvSpPr txBox="1"/>
          <p:nvPr/>
        </p:nvSpPr>
        <p:spPr>
          <a:xfrm>
            <a:off x="1280160" y="4892040"/>
            <a:ext cx="4572000" cy="274320"/>
          </a:xfrm>
          <a:prstGeom prst="rect">
            <a:avLst/>
          </a:prstGeom>
          <a:noFill/>
          <a:ln/>
        </p:spPr>
        <p:txBody>
          <a:bodyPr wrap="square" lIns="0" tIns="0" rIns="0" bIns="0" rtlCol="0" anchor="t"/>
          <a:lstStyle/>
          <a:p>
            <a:pPr indent="0" marL="0">
              <a:buNone/>
            </a:pPr>
            <a:r>
              <a:rPr lang="en-US" sz="1200" dirty="0">
                <a:solidFill>
                  <a:schemeClr val="tx1"/>
                </a:solidFill>
              </a:rPr>
              <a:t>Collect, extract, classify, tag and trace</a:t>
            </a:r>
            <a:endParaRPr lang="en-US" sz="1200" dirty="0"/>
          </a:p>
        </p:txBody>
      </p:sp>
      <p:sp>
        <p:nvSpPr>
          <p:cNvPr id="29" name="Shape 26"/>
          <p:cNvSpPr/>
          <p:nvPr/>
        </p:nvSpPr>
        <p:spPr>
          <a:xfrm>
            <a:off x="548640" y="5349240"/>
            <a:ext cx="5440680" cy="713232"/>
          </a:xfrm>
          <a:prstGeom prst="roundRect">
            <a:avLst>
              <a:gd name="adj" fmla="val 8974"/>
            </a:avLst>
          </a:prstGeom>
          <a:solidFill>
            <a:schemeClr val="bg2"/>
          </a:solidFill>
          <a:ln w="9525">
            <a:solidFill>
              <a:schemeClr val="bg2"/>
            </a:solidFill>
            <a:prstDash val="solid"/>
          </a:ln>
        </p:spPr>
      </p:sp>
      <p:sp>
        <p:nvSpPr>
          <p:cNvPr id="30" name="Shape 27"/>
          <p:cNvSpPr/>
          <p:nvPr/>
        </p:nvSpPr>
        <p:spPr>
          <a:xfrm>
            <a:off x="713232" y="5522976"/>
            <a:ext cx="365760" cy="365760"/>
          </a:xfrm>
          <a:prstGeom prst="ellipse">
            <a:avLst/>
          </a:prstGeom>
          <a:solidFill>
            <a:schemeClr val="accent2"/>
          </a:solidFill>
          <a:ln w="6350">
            <a:solidFill>
              <a:schemeClr val="accent2"/>
            </a:solidFill>
            <a:prstDash val="solid"/>
          </a:ln>
        </p:spPr>
      </p:sp>
      <p:sp>
        <p:nvSpPr>
          <p:cNvPr id="31" name="Text 28"/>
          <p:cNvSpPr txBox="1"/>
          <p:nvPr/>
        </p:nvSpPr>
        <p:spPr>
          <a:xfrm>
            <a:off x="713232" y="552297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2" name="Text 29"/>
          <p:cNvSpPr txBox="1"/>
          <p:nvPr/>
        </p:nvSpPr>
        <p:spPr>
          <a:xfrm>
            <a:off x="1280160" y="5422392"/>
            <a:ext cx="4572000" cy="292608"/>
          </a:xfrm>
          <a:prstGeom prst="rect">
            <a:avLst/>
          </a:prstGeom>
          <a:noFill/>
          <a:ln/>
        </p:spPr>
        <p:txBody>
          <a:bodyPr wrap="square" lIns="0" tIns="0" rIns="0" bIns="0" rtlCol="0" anchor="t"/>
          <a:lstStyle/>
          <a:p>
            <a:pPr indent="0" marL="0">
              <a:buNone/>
            </a:pPr>
            <a:r>
              <a:rPr lang="en-US" sz="1500" b="1" dirty="0">
                <a:solidFill>
                  <a:schemeClr val="tx2"/>
                </a:solidFill>
              </a:rPr>
              <a:t>Surface the risk to Meridian</a:t>
            </a:r>
            <a:endParaRPr lang="en-US" sz="1500" dirty="0"/>
          </a:p>
        </p:txBody>
      </p:sp>
      <p:sp>
        <p:nvSpPr>
          <p:cNvPr id="33" name="Text 30"/>
          <p:cNvSpPr txBox="1"/>
          <p:nvPr/>
        </p:nvSpPr>
        <p:spPr>
          <a:xfrm>
            <a:off x="1280160" y="5715000"/>
            <a:ext cx="4572000" cy="274320"/>
          </a:xfrm>
          <a:prstGeom prst="rect">
            <a:avLst/>
          </a:prstGeom>
          <a:noFill/>
          <a:ln/>
        </p:spPr>
        <p:txBody>
          <a:bodyPr wrap="square" lIns="0" tIns="0" rIns="0" bIns="0" rtlCol="0" anchor="t"/>
          <a:lstStyle/>
          <a:p>
            <a:pPr indent="0" marL="0">
              <a:buNone/>
            </a:pPr>
            <a:r>
              <a:rPr lang="en-US" sz="1200" dirty="0">
                <a:solidFill>
                  <a:schemeClr val="tx1"/>
                </a:solidFill>
              </a:rPr>
              <a:t>Data exposure, sub-processors, transparency</a:t>
            </a:r>
            <a:endParaRPr lang="en-US" sz="1200" dirty="0"/>
          </a:p>
        </p:txBody>
      </p:sp>
      <p:sp>
        <p:nvSpPr>
          <p:cNvPr id="34" name="Shape 31"/>
          <p:cNvSpPr/>
          <p:nvPr/>
        </p:nvSpPr>
        <p:spPr>
          <a:xfrm>
            <a:off x="6263640" y="2057400"/>
            <a:ext cx="5376672" cy="713232"/>
          </a:xfrm>
          <a:prstGeom prst="roundRect">
            <a:avLst>
              <a:gd name="adj" fmla="val 8974"/>
            </a:avLst>
          </a:prstGeom>
          <a:solidFill>
            <a:schemeClr val="bg2"/>
          </a:solidFill>
          <a:ln w="9525">
            <a:solidFill>
              <a:schemeClr val="bg2"/>
            </a:solidFill>
            <a:prstDash val="solid"/>
          </a:ln>
        </p:spPr>
      </p:sp>
      <p:sp>
        <p:nvSpPr>
          <p:cNvPr id="35" name="Shape 32"/>
          <p:cNvSpPr/>
          <p:nvPr/>
        </p:nvSpPr>
        <p:spPr>
          <a:xfrm>
            <a:off x="6400800" y="2231136"/>
            <a:ext cx="365760" cy="365760"/>
          </a:xfrm>
          <a:prstGeom prst="ellipse">
            <a:avLst/>
          </a:prstGeom>
          <a:solidFill>
            <a:schemeClr val="accent1"/>
          </a:solidFill>
          <a:ln w="6350">
            <a:solidFill>
              <a:schemeClr val="accent1"/>
            </a:solidFill>
            <a:prstDash val="solid"/>
          </a:ln>
        </p:spPr>
      </p:sp>
      <p:sp>
        <p:nvSpPr>
          <p:cNvPr id="36" name="Text 33"/>
          <p:cNvSpPr txBox="1"/>
          <p:nvPr/>
        </p:nvSpPr>
        <p:spPr>
          <a:xfrm>
            <a:off x="6400800" y="223113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7" name="Text 34"/>
          <p:cNvSpPr txBox="1"/>
          <p:nvPr/>
        </p:nvSpPr>
        <p:spPr>
          <a:xfrm>
            <a:off x="6949440" y="2130552"/>
            <a:ext cx="4480560" cy="292608"/>
          </a:xfrm>
          <a:prstGeom prst="rect">
            <a:avLst/>
          </a:prstGeom>
          <a:noFill/>
          <a:ln/>
        </p:spPr>
        <p:txBody>
          <a:bodyPr wrap="square" lIns="0" tIns="0" rIns="0" bIns="0" rtlCol="0" anchor="t"/>
          <a:lstStyle/>
          <a:p>
            <a:pPr indent="0" marL="0">
              <a:buNone/>
            </a:pPr>
            <a:r>
              <a:rPr lang="en-US" sz="1500" b="1" dirty="0">
                <a:solidFill>
                  <a:schemeClr val="tx2"/>
                </a:solidFill>
              </a:rPr>
              <a:t>Solution design and architecture</a:t>
            </a:r>
            <a:endParaRPr lang="en-US" sz="1500" dirty="0"/>
          </a:p>
        </p:txBody>
      </p:sp>
      <p:sp>
        <p:nvSpPr>
          <p:cNvPr id="38" name="Text 35"/>
          <p:cNvSpPr txBox="1"/>
          <p:nvPr/>
        </p:nvSpPr>
        <p:spPr>
          <a:xfrm>
            <a:off x="6949440" y="2423160"/>
            <a:ext cx="4480560" cy="274320"/>
          </a:xfrm>
          <a:prstGeom prst="rect">
            <a:avLst/>
          </a:prstGeom>
          <a:noFill/>
          <a:ln/>
        </p:spPr>
        <p:txBody>
          <a:bodyPr wrap="square" lIns="0" tIns="0" rIns="0" bIns="0" rtlCol="0" anchor="t"/>
          <a:lstStyle/>
          <a:p>
            <a:pPr indent="0" marL="0">
              <a:buNone/>
            </a:pPr>
            <a:r>
              <a:rPr lang="en-US" sz="1200" dirty="0">
                <a:solidFill>
                  <a:schemeClr val="tx1"/>
                </a:solidFill>
              </a:rPr>
              <a:t>Components, data flow and technology</a:t>
            </a:r>
            <a:endParaRPr lang="en-US" sz="1200" dirty="0"/>
          </a:p>
        </p:txBody>
      </p:sp>
      <p:sp>
        <p:nvSpPr>
          <p:cNvPr id="39" name="Shape 36"/>
          <p:cNvSpPr/>
          <p:nvPr/>
        </p:nvSpPr>
        <p:spPr>
          <a:xfrm>
            <a:off x="6263640" y="2880360"/>
            <a:ext cx="5376672" cy="713232"/>
          </a:xfrm>
          <a:prstGeom prst="roundRect">
            <a:avLst>
              <a:gd name="adj" fmla="val 8974"/>
            </a:avLst>
          </a:prstGeom>
          <a:solidFill>
            <a:schemeClr val="bg2"/>
          </a:solidFill>
          <a:ln w="9525">
            <a:solidFill>
              <a:schemeClr val="bg2"/>
            </a:solidFill>
            <a:prstDash val="solid"/>
          </a:ln>
        </p:spPr>
      </p:sp>
      <p:sp>
        <p:nvSpPr>
          <p:cNvPr id="40" name="Shape 37"/>
          <p:cNvSpPr/>
          <p:nvPr/>
        </p:nvSpPr>
        <p:spPr>
          <a:xfrm>
            <a:off x="6400800" y="3054096"/>
            <a:ext cx="365760" cy="365760"/>
          </a:xfrm>
          <a:prstGeom prst="ellipse">
            <a:avLst/>
          </a:prstGeom>
          <a:solidFill>
            <a:schemeClr val="accent1"/>
          </a:solidFill>
          <a:ln w="6350">
            <a:solidFill>
              <a:schemeClr val="accent1"/>
            </a:solidFill>
            <a:prstDash val="solid"/>
          </a:ln>
        </p:spPr>
      </p:sp>
      <p:sp>
        <p:nvSpPr>
          <p:cNvPr id="41" name="Text 38"/>
          <p:cNvSpPr txBox="1"/>
          <p:nvPr/>
        </p:nvSpPr>
        <p:spPr>
          <a:xfrm>
            <a:off x="6400800" y="305409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2" name="Text 39"/>
          <p:cNvSpPr txBox="1"/>
          <p:nvPr/>
        </p:nvSpPr>
        <p:spPr>
          <a:xfrm>
            <a:off x="6949440" y="2953512"/>
            <a:ext cx="4480560" cy="292608"/>
          </a:xfrm>
          <a:prstGeom prst="rect">
            <a:avLst/>
          </a:prstGeom>
          <a:noFill/>
          <a:ln/>
        </p:spPr>
        <p:txBody>
          <a:bodyPr wrap="square" lIns="0" tIns="0" rIns="0" bIns="0" rtlCol="0" anchor="t"/>
          <a:lstStyle/>
          <a:p>
            <a:pPr indent="0" marL="0">
              <a:buNone/>
            </a:pPr>
            <a:r>
              <a:rPr lang="en-US" sz="1500" b="1" dirty="0">
                <a:solidFill>
                  <a:schemeClr val="tx2"/>
                </a:solidFill>
              </a:rPr>
              <a:t>Source and evidence strategy</a:t>
            </a:r>
            <a:endParaRPr lang="en-US" sz="1500" dirty="0"/>
          </a:p>
        </p:txBody>
      </p:sp>
      <p:sp>
        <p:nvSpPr>
          <p:cNvPr id="43" name="Text 40"/>
          <p:cNvSpPr txBox="1"/>
          <p:nvPr/>
        </p:nvSpPr>
        <p:spPr>
          <a:xfrm>
            <a:off x="6949440" y="3246120"/>
            <a:ext cx="4480560" cy="274320"/>
          </a:xfrm>
          <a:prstGeom prst="rect">
            <a:avLst/>
          </a:prstGeom>
          <a:noFill/>
          <a:ln/>
        </p:spPr>
        <p:txBody>
          <a:bodyPr wrap="square" lIns="0" tIns="0" rIns="0" bIns="0" rtlCol="0" anchor="t"/>
          <a:lstStyle/>
          <a:p>
            <a:pPr indent="0" marL="0">
              <a:buNone/>
            </a:pPr>
            <a:r>
              <a:rPr lang="en-US" sz="1200" dirty="0">
                <a:solidFill>
                  <a:schemeClr val="tx1"/>
                </a:solidFill>
              </a:rPr>
              <a:t>Weights, tags and confidence</a:t>
            </a:r>
            <a:endParaRPr lang="en-US" sz="1200" dirty="0"/>
          </a:p>
        </p:txBody>
      </p:sp>
      <p:sp>
        <p:nvSpPr>
          <p:cNvPr id="44" name="Shape 41"/>
          <p:cNvSpPr/>
          <p:nvPr/>
        </p:nvSpPr>
        <p:spPr>
          <a:xfrm>
            <a:off x="6263640" y="3703320"/>
            <a:ext cx="5376672" cy="713232"/>
          </a:xfrm>
          <a:prstGeom prst="roundRect">
            <a:avLst>
              <a:gd name="adj" fmla="val 8974"/>
            </a:avLst>
          </a:prstGeom>
          <a:solidFill>
            <a:schemeClr val="bg2"/>
          </a:solidFill>
          <a:ln w="9525">
            <a:solidFill>
              <a:schemeClr val="bg2"/>
            </a:solidFill>
            <a:prstDash val="solid"/>
          </a:ln>
        </p:spPr>
      </p:sp>
      <p:sp>
        <p:nvSpPr>
          <p:cNvPr id="45" name="Shape 42"/>
          <p:cNvSpPr/>
          <p:nvPr/>
        </p:nvSpPr>
        <p:spPr>
          <a:xfrm>
            <a:off x="6400800" y="3877056"/>
            <a:ext cx="365760" cy="365760"/>
          </a:xfrm>
          <a:prstGeom prst="ellipse">
            <a:avLst/>
          </a:prstGeom>
          <a:solidFill>
            <a:schemeClr val="accent1"/>
          </a:solidFill>
          <a:ln w="6350">
            <a:solidFill>
              <a:schemeClr val="accent1"/>
            </a:solidFill>
            <a:prstDash val="solid"/>
          </a:ln>
        </p:spPr>
      </p:sp>
      <p:sp>
        <p:nvSpPr>
          <p:cNvPr id="46" name="Text 43"/>
          <p:cNvSpPr txBox="1"/>
          <p:nvPr/>
        </p:nvSpPr>
        <p:spPr>
          <a:xfrm>
            <a:off x="6400800" y="387705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7" name="Text 44"/>
          <p:cNvSpPr txBox="1"/>
          <p:nvPr/>
        </p:nvSpPr>
        <p:spPr>
          <a:xfrm>
            <a:off x="6949440" y="3776472"/>
            <a:ext cx="4480560" cy="292608"/>
          </a:xfrm>
          <a:prstGeom prst="rect">
            <a:avLst/>
          </a:prstGeom>
          <a:noFill/>
          <a:ln/>
        </p:spPr>
        <p:txBody>
          <a:bodyPr wrap="square" lIns="0" tIns="0" rIns="0" bIns="0" rtlCol="0" anchor="t"/>
          <a:lstStyle/>
          <a:p>
            <a:pPr indent="0" marL="0">
              <a:buNone/>
            </a:pPr>
            <a:r>
              <a:rPr lang="en-US" sz="1500" b="1" dirty="0">
                <a:solidFill>
                  <a:schemeClr val="tx2"/>
                </a:solidFill>
              </a:rPr>
              <a:t>Criticality ratings and depth</a:t>
            </a:r>
            <a:endParaRPr lang="en-US" sz="1500" dirty="0"/>
          </a:p>
        </p:txBody>
      </p:sp>
      <p:sp>
        <p:nvSpPr>
          <p:cNvPr id="48" name="Text 45"/>
          <p:cNvSpPr txBox="1"/>
          <p:nvPr/>
        </p:nvSpPr>
        <p:spPr>
          <a:xfrm>
            <a:off x="6949440" y="4069080"/>
            <a:ext cx="4480560" cy="274320"/>
          </a:xfrm>
          <a:prstGeom prst="rect">
            <a:avLst/>
          </a:prstGeom>
          <a:noFill/>
          <a:ln/>
        </p:spPr>
        <p:txBody>
          <a:bodyPr wrap="square" lIns="0" tIns="0" rIns="0" bIns="0" rtlCol="0" anchor="t"/>
          <a:lstStyle/>
          <a:p>
            <a:pPr indent="0" marL="0">
              <a:buNone/>
            </a:pPr>
            <a:r>
              <a:rPr lang="en-US" sz="1200" dirty="0">
                <a:solidFill>
                  <a:schemeClr val="tx1"/>
                </a:solidFill>
              </a:rPr>
              <a:t>Rating, criteria and effort for every vendor</a:t>
            </a:r>
            <a:endParaRPr lang="en-US" sz="1200" dirty="0"/>
          </a:p>
        </p:txBody>
      </p:sp>
      <p:sp>
        <p:nvSpPr>
          <p:cNvPr id="49" name="Shape 46"/>
          <p:cNvSpPr/>
          <p:nvPr/>
        </p:nvSpPr>
        <p:spPr>
          <a:xfrm>
            <a:off x="6263640" y="4526280"/>
            <a:ext cx="5376672" cy="713232"/>
          </a:xfrm>
          <a:prstGeom prst="roundRect">
            <a:avLst>
              <a:gd name="adj" fmla="val 8974"/>
            </a:avLst>
          </a:prstGeom>
          <a:solidFill>
            <a:schemeClr val="bg2"/>
          </a:solidFill>
          <a:ln w="9525">
            <a:solidFill>
              <a:schemeClr val="bg2"/>
            </a:solidFill>
            <a:prstDash val="solid"/>
          </a:ln>
        </p:spPr>
      </p:sp>
      <p:sp>
        <p:nvSpPr>
          <p:cNvPr id="50" name="Shape 47"/>
          <p:cNvSpPr/>
          <p:nvPr/>
        </p:nvSpPr>
        <p:spPr>
          <a:xfrm>
            <a:off x="6400800" y="4700016"/>
            <a:ext cx="365760" cy="365760"/>
          </a:xfrm>
          <a:prstGeom prst="ellipse">
            <a:avLst/>
          </a:prstGeom>
          <a:solidFill>
            <a:schemeClr val="accent1"/>
          </a:solidFill>
          <a:ln w="6350">
            <a:solidFill>
              <a:schemeClr val="accent1"/>
            </a:solidFill>
            <a:prstDash val="solid"/>
          </a:ln>
        </p:spPr>
      </p:sp>
      <p:sp>
        <p:nvSpPr>
          <p:cNvPr id="51" name="Text 48"/>
          <p:cNvSpPr txBox="1"/>
          <p:nvPr/>
        </p:nvSpPr>
        <p:spPr>
          <a:xfrm>
            <a:off x="6400800" y="470001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52" name="Text 49"/>
          <p:cNvSpPr txBox="1"/>
          <p:nvPr/>
        </p:nvSpPr>
        <p:spPr>
          <a:xfrm>
            <a:off x="6949440" y="4599432"/>
            <a:ext cx="4480560" cy="292608"/>
          </a:xfrm>
          <a:prstGeom prst="rect">
            <a:avLst/>
          </a:prstGeom>
          <a:noFill/>
          <a:ln/>
        </p:spPr>
        <p:txBody>
          <a:bodyPr wrap="square" lIns="0" tIns="0" rIns="0" bIns="0" rtlCol="0" anchor="t"/>
          <a:lstStyle/>
          <a:p>
            <a:pPr indent="0" marL="0">
              <a:buNone/>
            </a:pPr>
            <a:r>
              <a:rPr lang="en-US" sz="1500" b="1" dirty="0">
                <a:solidFill>
                  <a:schemeClr val="tx2"/>
                </a:solidFill>
              </a:rPr>
              <a:t>Results and recommended actions</a:t>
            </a:r>
            <a:endParaRPr lang="en-US" sz="1500" dirty="0"/>
          </a:p>
        </p:txBody>
      </p:sp>
      <p:sp>
        <p:nvSpPr>
          <p:cNvPr id="53" name="Text 50"/>
          <p:cNvSpPr txBox="1"/>
          <p:nvPr/>
        </p:nvSpPr>
        <p:spPr>
          <a:xfrm>
            <a:off x="6949440" y="4892040"/>
            <a:ext cx="4480560" cy="274320"/>
          </a:xfrm>
          <a:prstGeom prst="rect">
            <a:avLst/>
          </a:prstGeom>
          <a:noFill/>
          <a:ln/>
        </p:spPr>
        <p:txBody>
          <a:bodyPr wrap="square" lIns="0" tIns="0" rIns="0" bIns="0" rtlCol="0" anchor="t"/>
          <a:lstStyle/>
          <a:p>
            <a:pPr indent="0" marL="0">
              <a:buNone/>
            </a:pPr>
            <a:r>
              <a:rPr lang="en-US" sz="1200" dirty="0">
                <a:solidFill>
                  <a:schemeClr val="tx1"/>
                </a:solidFill>
              </a:rPr>
              <a:t>What AI each vendor uses and what to do about it</a:t>
            </a:r>
            <a:endParaRPr lang="en-US" sz="1200" dirty="0"/>
          </a:p>
        </p:txBody>
      </p:sp>
      <p:sp>
        <p:nvSpPr>
          <p:cNvPr id="54" name="Shape 51"/>
          <p:cNvSpPr/>
          <p:nvPr/>
        </p:nvSpPr>
        <p:spPr>
          <a:xfrm>
            <a:off x="6263640" y="5349240"/>
            <a:ext cx="5376672" cy="713232"/>
          </a:xfrm>
          <a:prstGeom prst="roundRect">
            <a:avLst>
              <a:gd name="adj" fmla="val 8974"/>
            </a:avLst>
          </a:prstGeom>
          <a:solidFill>
            <a:schemeClr val="bg2"/>
          </a:solidFill>
          <a:ln w="9525">
            <a:solidFill>
              <a:schemeClr val="bg2"/>
            </a:solidFill>
            <a:prstDash val="solid"/>
          </a:ln>
        </p:spPr>
      </p:sp>
      <p:sp>
        <p:nvSpPr>
          <p:cNvPr id="55" name="Shape 52"/>
          <p:cNvSpPr/>
          <p:nvPr/>
        </p:nvSpPr>
        <p:spPr>
          <a:xfrm>
            <a:off x="6400800" y="5522976"/>
            <a:ext cx="365760" cy="365760"/>
          </a:xfrm>
          <a:prstGeom prst="ellipse">
            <a:avLst/>
          </a:prstGeom>
          <a:solidFill>
            <a:schemeClr val="accent1"/>
          </a:solidFill>
          <a:ln w="6350">
            <a:solidFill>
              <a:schemeClr val="accent1"/>
            </a:solidFill>
            <a:prstDash val="solid"/>
          </a:ln>
        </p:spPr>
      </p:sp>
      <p:sp>
        <p:nvSpPr>
          <p:cNvPr id="56" name="Text 53"/>
          <p:cNvSpPr txBox="1"/>
          <p:nvPr/>
        </p:nvSpPr>
        <p:spPr>
          <a:xfrm>
            <a:off x="6400800" y="5522976"/>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57" name="Text 54"/>
          <p:cNvSpPr txBox="1"/>
          <p:nvPr/>
        </p:nvSpPr>
        <p:spPr>
          <a:xfrm>
            <a:off x="6949440" y="5422392"/>
            <a:ext cx="4480560" cy="292608"/>
          </a:xfrm>
          <a:prstGeom prst="rect">
            <a:avLst/>
          </a:prstGeom>
          <a:noFill/>
          <a:ln/>
        </p:spPr>
        <p:txBody>
          <a:bodyPr wrap="square" lIns="0" tIns="0" rIns="0" bIns="0" rtlCol="0" anchor="t"/>
          <a:lstStyle/>
          <a:p>
            <a:pPr indent="0" marL="0">
              <a:buNone/>
            </a:pPr>
            <a:r>
              <a:rPr lang="en-US" sz="1500" b="1" dirty="0">
                <a:solidFill>
                  <a:schemeClr val="tx2"/>
                </a:solidFill>
              </a:rPr>
              <a:t>Live demonstration</a:t>
            </a:r>
            <a:endParaRPr lang="en-US" sz="1500" dirty="0"/>
          </a:p>
        </p:txBody>
      </p:sp>
      <p:sp>
        <p:nvSpPr>
          <p:cNvPr id="58" name="Text 55"/>
          <p:cNvSpPr txBox="1"/>
          <p:nvPr/>
        </p:nvSpPr>
        <p:spPr>
          <a:xfrm>
            <a:off x="6949440" y="5715000"/>
            <a:ext cx="4480560" cy="274320"/>
          </a:xfrm>
          <a:prstGeom prst="rect">
            <a:avLst/>
          </a:prstGeom>
          <a:noFill/>
          <a:ln/>
        </p:spPr>
        <p:txBody>
          <a:bodyPr wrap="square" lIns="0" tIns="0" rIns="0" bIns="0" rtlCol="0" anchor="t"/>
          <a:lstStyle/>
          <a:p>
            <a:pPr indent="0" marL="0">
              <a:buNone/>
            </a:pPr>
            <a:r>
              <a:rPr lang="en-US" sz="1200" dirty="0">
                <a:solidFill>
                  <a:schemeClr val="tx1"/>
                </a:solidFill>
              </a:rPr>
              <a:t>Upload the vendor list, analyse, classify</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Our solution at a glance</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Upload the Meridian vendor inventory; get tier, AI usage, evidence strength, providers, risk and next action for every vendor.</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SOLUTION</a:t>
            </a:r>
            <a:endParaRPr lang="en-US" sz="1050" dirty="0"/>
          </a:p>
        </p:txBody>
      </p:sp>
      <p:sp>
        <p:nvSpPr>
          <p:cNvPr id="7" name="Shape 4"/>
          <p:cNvSpPr/>
          <p:nvPr/>
        </p:nvSpPr>
        <p:spPr>
          <a:xfrm>
            <a:off x="548640" y="1783080"/>
            <a:ext cx="1737360" cy="2240280"/>
          </a:xfrm>
          <a:prstGeom prst="roundRect">
            <a:avLst>
              <a:gd name="adj" fmla="val 3684"/>
            </a:avLst>
          </a:prstGeom>
          <a:solidFill>
            <a:schemeClr val="bg2"/>
          </a:solidFill>
          <a:ln w="9525">
            <a:solidFill>
              <a:schemeClr val="bg2"/>
            </a:solidFill>
            <a:prstDash val="solid"/>
          </a:ln>
        </p:spPr>
      </p:sp>
      <p:sp>
        <p:nvSpPr>
          <p:cNvPr id="8" name="Shape 5"/>
          <p:cNvSpPr/>
          <p:nvPr/>
        </p:nvSpPr>
        <p:spPr>
          <a:xfrm>
            <a:off x="685800" y="1920240"/>
            <a:ext cx="420624" cy="420624"/>
          </a:xfrm>
          <a:prstGeom prst="ellipse">
            <a:avLst/>
          </a:prstGeom>
          <a:solidFill>
            <a:schemeClr val="accent2"/>
          </a:solidFill>
          <a:ln w="6350">
            <a:solidFill>
              <a:schemeClr val="accent2"/>
            </a:solidFill>
            <a:prstDash val="solid"/>
          </a:ln>
        </p:spPr>
      </p:sp>
      <p:sp>
        <p:nvSpPr>
          <p:cNvPr id="9" name="Text 6"/>
          <p:cNvSpPr txBox="1"/>
          <p:nvPr/>
        </p:nvSpPr>
        <p:spPr>
          <a:xfrm>
            <a:off x="685800"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685800"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Rate criticality</a:t>
            </a:r>
            <a:endParaRPr lang="en-US" sz="1500" dirty="0"/>
          </a:p>
        </p:txBody>
      </p:sp>
      <p:sp>
        <p:nvSpPr>
          <p:cNvPr id="11" name="Text 8"/>
          <p:cNvSpPr txBox="1"/>
          <p:nvPr/>
        </p:nvSpPr>
        <p:spPr>
          <a:xfrm>
            <a:off x="685800"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Five weighted factors and hard floors give a tier anyone can reproduce</a:t>
            </a:r>
            <a:endParaRPr lang="en-US" sz="1200" dirty="0"/>
          </a:p>
        </p:txBody>
      </p:sp>
      <p:sp>
        <p:nvSpPr>
          <p:cNvPr id="12" name="Shape 9"/>
          <p:cNvSpPr/>
          <p:nvPr/>
        </p:nvSpPr>
        <p:spPr>
          <a:xfrm>
            <a:off x="2414016" y="1783080"/>
            <a:ext cx="1737360" cy="2240280"/>
          </a:xfrm>
          <a:prstGeom prst="roundRect">
            <a:avLst>
              <a:gd name="adj" fmla="val 3684"/>
            </a:avLst>
          </a:prstGeom>
          <a:solidFill>
            <a:schemeClr val="bg2"/>
          </a:solidFill>
          <a:ln w="9525">
            <a:solidFill>
              <a:schemeClr val="bg2"/>
            </a:solidFill>
            <a:prstDash val="solid"/>
          </a:ln>
        </p:spPr>
      </p:sp>
      <p:sp>
        <p:nvSpPr>
          <p:cNvPr id="13" name="Shape 10"/>
          <p:cNvSpPr/>
          <p:nvPr/>
        </p:nvSpPr>
        <p:spPr>
          <a:xfrm>
            <a:off x="2551176" y="1920240"/>
            <a:ext cx="420624" cy="420624"/>
          </a:xfrm>
          <a:prstGeom prst="ellipse">
            <a:avLst/>
          </a:prstGeom>
          <a:solidFill>
            <a:schemeClr val="accent2"/>
          </a:solidFill>
          <a:ln w="6350">
            <a:solidFill>
              <a:schemeClr val="accent2"/>
            </a:solidFill>
            <a:prstDash val="solid"/>
          </a:ln>
        </p:spPr>
      </p:sp>
      <p:sp>
        <p:nvSpPr>
          <p:cNvPr id="14" name="Text 11"/>
          <p:cNvSpPr txBox="1"/>
          <p:nvPr/>
        </p:nvSpPr>
        <p:spPr>
          <a:xfrm>
            <a:off x="2551176"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2"/>
          <p:cNvSpPr txBox="1"/>
          <p:nvPr/>
        </p:nvSpPr>
        <p:spPr>
          <a:xfrm>
            <a:off x="2551176"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Set depth</a:t>
            </a:r>
            <a:endParaRPr lang="en-US" sz="1500" dirty="0"/>
          </a:p>
        </p:txBody>
      </p:sp>
      <p:sp>
        <p:nvSpPr>
          <p:cNvPr id="16" name="Text 13"/>
          <p:cNvSpPr txBox="1"/>
          <p:nvPr/>
        </p:nvSpPr>
        <p:spPr>
          <a:xfrm>
            <a:off x="2551176"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The tier fixes the page budget and the evidence needed to say “no AI”</a:t>
            </a:r>
            <a:endParaRPr lang="en-US" sz="1200" dirty="0"/>
          </a:p>
        </p:txBody>
      </p:sp>
      <p:sp>
        <p:nvSpPr>
          <p:cNvPr id="17" name="Shape 14"/>
          <p:cNvSpPr/>
          <p:nvPr/>
        </p:nvSpPr>
        <p:spPr>
          <a:xfrm>
            <a:off x="4279392" y="1783080"/>
            <a:ext cx="1737360" cy="2240280"/>
          </a:xfrm>
          <a:prstGeom prst="roundRect">
            <a:avLst>
              <a:gd name="adj" fmla="val 3684"/>
            </a:avLst>
          </a:prstGeom>
          <a:solidFill>
            <a:schemeClr val="bg2"/>
          </a:solidFill>
          <a:ln w="9525">
            <a:solidFill>
              <a:schemeClr val="bg2"/>
            </a:solidFill>
            <a:prstDash val="solid"/>
          </a:ln>
        </p:spPr>
      </p:sp>
      <p:sp>
        <p:nvSpPr>
          <p:cNvPr id="18" name="Shape 15"/>
          <p:cNvSpPr/>
          <p:nvPr/>
        </p:nvSpPr>
        <p:spPr>
          <a:xfrm>
            <a:off x="4416552" y="1920240"/>
            <a:ext cx="420624" cy="420624"/>
          </a:xfrm>
          <a:prstGeom prst="ellipse">
            <a:avLst/>
          </a:prstGeom>
          <a:solidFill>
            <a:schemeClr val="accent2"/>
          </a:solidFill>
          <a:ln w="6350">
            <a:solidFill>
              <a:schemeClr val="accent2"/>
            </a:solidFill>
            <a:prstDash val="solid"/>
          </a:ln>
        </p:spPr>
      </p:sp>
      <p:sp>
        <p:nvSpPr>
          <p:cNvPr id="19" name="Text 16"/>
          <p:cNvSpPr txBox="1"/>
          <p:nvPr/>
        </p:nvSpPr>
        <p:spPr>
          <a:xfrm>
            <a:off x="4416552"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7"/>
          <p:cNvSpPr txBox="1"/>
          <p:nvPr/>
        </p:nvSpPr>
        <p:spPr>
          <a:xfrm>
            <a:off x="4416552"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Collect evidence</a:t>
            </a:r>
            <a:endParaRPr lang="en-US" sz="1500" dirty="0"/>
          </a:p>
        </p:txBody>
      </p:sp>
      <p:sp>
        <p:nvSpPr>
          <p:cNvPr id="21" name="Text 18"/>
          <p:cNvSpPr txBox="1"/>
          <p:nvPr/>
        </p:nvSpPr>
        <p:spPr>
          <a:xfrm>
            <a:off x="4416552"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Public pages within budget, each stored with URL, date and hash</a:t>
            </a:r>
            <a:endParaRPr lang="en-US" sz="1200" dirty="0"/>
          </a:p>
        </p:txBody>
      </p:sp>
      <p:sp>
        <p:nvSpPr>
          <p:cNvPr id="22" name="Shape 19"/>
          <p:cNvSpPr/>
          <p:nvPr/>
        </p:nvSpPr>
        <p:spPr>
          <a:xfrm>
            <a:off x="6144768" y="1783080"/>
            <a:ext cx="1737360" cy="2240280"/>
          </a:xfrm>
          <a:prstGeom prst="roundRect">
            <a:avLst>
              <a:gd name="adj" fmla="val 3684"/>
            </a:avLst>
          </a:prstGeom>
          <a:solidFill>
            <a:schemeClr val="bg2"/>
          </a:solidFill>
          <a:ln w="9525">
            <a:solidFill>
              <a:schemeClr val="bg2"/>
            </a:solidFill>
            <a:prstDash val="solid"/>
          </a:ln>
        </p:spPr>
      </p:sp>
      <p:sp>
        <p:nvSpPr>
          <p:cNvPr id="23" name="Shape 20"/>
          <p:cNvSpPr/>
          <p:nvPr/>
        </p:nvSpPr>
        <p:spPr>
          <a:xfrm>
            <a:off x="6281928" y="1920240"/>
            <a:ext cx="420624" cy="420624"/>
          </a:xfrm>
          <a:prstGeom prst="ellipse">
            <a:avLst/>
          </a:prstGeom>
          <a:solidFill>
            <a:schemeClr val="accent2"/>
          </a:solidFill>
          <a:ln w="6350">
            <a:solidFill>
              <a:schemeClr val="accent2"/>
            </a:solidFill>
            <a:prstDash val="solid"/>
          </a:ln>
        </p:spPr>
      </p:sp>
      <p:sp>
        <p:nvSpPr>
          <p:cNvPr id="24" name="Text 21"/>
          <p:cNvSpPr txBox="1"/>
          <p:nvPr/>
        </p:nvSpPr>
        <p:spPr>
          <a:xfrm>
            <a:off x="6281928"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22"/>
          <p:cNvSpPr txBox="1"/>
          <p:nvPr/>
        </p:nvSpPr>
        <p:spPr>
          <a:xfrm>
            <a:off x="6281928"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Classify signals</a:t>
            </a:r>
            <a:endParaRPr lang="en-US" sz="1500" dirty="0"/>
          </a:p>
        </p:txBody>
      </p:sp>
      <p:sp>
        <p:nvSpPr>
          <p:cNvPr id="26" name="Text 23"/>
          <p:cNvSpPr txBox="1"/>
          <p:nvPr/>
        </p:nvSpPr>
        <p:spPr>
          <a:xfrm>
            <a:off x="6281928"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AI statements are typed: deployed, feature, partnership, hiring, marketing</a:t>
            </a:r>
            <a:endParaRPr lang="en-US" sz="1200" dirty="0"/>
          </a:p>
        </p:txBody>
      </p:sp>
      <p:sp>
        <p:nvSpPr>
          <p:cNvPr id="27" name="Shape 24"/>
          <p:cNvSpPr/>
          <p:nvPr/>
        </p:nvSpPr>
        <p:spPr>
          <a:xfrm>
            <a:off x="8010144" y="1783080"/>
            <a:ext cx="1737360" cy="2240280"/>
          </a:xfrm>
          <a:prstGeom prst="roundRect">
            <a:avLst>
              <a:gd name="adj" fmla="val 3684"/>
            </a:avLst>
          </a:prstGeom>
          <a:solidFill>
            <a:schemeClr val="bg2"/>
          </a:solidFill>
          <a:ln w="9525">
            <a:solidFill>
              <a:schemeClr val="bg2"/>
            </a:solidFill>
            <a:prstDash val="solid"/>
          </a:ln>
        </p:spPr>
      </p:sp>
      <p:sp>
        <p:nvSpPr>
          <p:cNvPr id="28" name="Shape 25"/>
          <p:cNvSpPr/>
          <p:nvPr/>
        </p:nvSpPr>
        <p:spPr>
          <a:xfrm>
            <a:off x="8147304" y="1920240"/>
            <a:ext cx="420624" cy="420624"/>
          </a:xfrm>
          <a:prstGeom prst="ellipse">
            <a:avLst/>
          </a:prstGeom>
          <a:solidFill>
            <a:schemeClr val="accent2"/>
          </a:solidFill>
          <a:ln w="6350">
            <a:solidFill>
              <a:schemeClr val="accent2"/>
            </a:solidFill>
            <a:prstDash val="solid"/>
          </a:ln>
        </p:spPr>
      </p:sp>
      <p:sp>
        <p:nvSpPr>
          <p:cNvPr id="29" name="Text 26"/>
          <p:cNvSpPr txBox="1"/>
          <p:nvPr/>
        </p:nvSpPr>
        <p:spPr>
          <a:xfrm>
            <a:off x="8147304"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7"/>
          <p:cNvSpPr txBox="1"/>
          <p:nvPr/>
        </p:nvSpPr>
        <p:spPr>
          <a:xfrm>
            <a:off x="8147304"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Weigh and tag</a:t>
            </a:r>
            <a:endParaRPr lang="en-US" sz="1500" dirty="0"/>
          </a:p>
        </p:txBody>
      </p:sp>
      <p:sp>
        <p:nvSpPr>
          <p:cNvPr id="31" name="Text 28"/>
          <p:cNvSpPr txBox="1"/>
          <p:nvPr/>
        </p:nvSpPr>
        <p:spPr>
          <a:xfrm>
            <a:off x="8147304"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Source reliability × signal type; tags show how sure we are</a:t>
            </a:r>
            <a:endParaRPr lang="en-US" sz="1200" dirty="0"/>
          </a:p>
        </p:txBody>
      </p:sp>
      <p:sp>
        <p:nvSpPr>
          <p:cNvPr id="32" name="Shape 29"/>
          <p:cNvSpPr/>
          <p:nvPr/>
        </p:nvSpPr>
        <p:spPr>
          <a:xfrm>
            <a:off x="9875520" y="1783080"/>
            <a:ext cx="1737360" cy="2240280"/>
          </a:xfrm>
          <a:prstGeom prst="roundRect">
            <a:avLst>
              <a:gd name="adj" fmla="val 3684"/>
            </a:avLst>
          </a:prstGeom>
          <a:solidFill>
            <a:schemeClr val="bg2"/>
          </a:solidFill>
          <a:ln w="9525">
            <a:solidFill>
              <a:schemeClr val="bg2"/>
            </a:solidFill>
            <a:prstDash val="solid"/>
          </a:ln>
        </p:spPr>
      </p:sp>
      <p:sp>
        <p:nvSpPr>
          <p:cNvPr id="33" name="Shape 30"/>
          <p:cNvSpPr/>
          <p:nvPr/>
        </p:nvSpPr>
        <p:spPr>
          <a:xfrm>
            <a:off x="10012680" y="1920240"/>
            <a:ext cx="420624" cy="420624"/>
          </a:xfrm>
          <a:prstGeom prst="ellipse">
            <a:avLst/>
          </a:prstGeom>
          <a:solidFill>
            <a:schemeClr val="accent2"/>
          </a:solidFill>
          <a:ln w="6350">
            <a:solidFill>
              <a:schemeClr val="accent2"/>
            </a:solidFill>
            <a:prstDash val="solid"/>
          </a:ln>
        </p:spPr>
      </p:sp>
      <p:sp>
        <p:nvSpPr>
          <p:cNvPr id="34" name="Text 31"/>
          <p:cNvSpPr txBox="1"/>
          <p:nvPr/>
        </p:nvSpPr>
        <p:spPr>
          <a:xfrm>
            <a:off x="10012680" y="1920240"/>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5" name="Text 32"/>
          <p:cNvSpPr txBox="1"/>
          <p:nvPr/>
        </p:nvSpPr>
        <p:spPr>
          <a:xfrm>
            <a:off x="10012680" y="2468880"/>
            <a:ext cx="1508760" cy="502920"/>
          </a:xfrm>
          <a:prstGeom prst="rect">
            <a:avLst/>
          </a:prstGeom>
          <a:noFill/>
          <a:ln/>
        </p:spPr>
        <p:txBody>
          <a:bodyPr wrap="square" lIns="0" tIns="0" rIns="0" bIns="0" rtlCol="0" anchor="t"/>
          <a:lstStyle/>
          <a:p>
            <a:pPr indent="0" marL="0">
              <a:buNone/>
            </a:pPr>
            <a:r>
              <a:rPr lang="en-US" sz="1500" b="1" dirty="0">
                <a:solidFill>
                  <a:schemeClr val="tx2"/>
                </a:solidFill>
              </a:rPr>
              <a:t>Surface risk</a:t>
            </a:r>
            <a:endParaRPr lang="en-US" sz="1500" dirty="0"/>
          </a:p>
        </p:txBody>
      </p:sp>
      <p:sp>
        <p:nvSpPr>
          <p:cNvPr id="36" name="Text 33"/>
          <p:cNvSpPr txBox="1"/>
          <p:nvPr/>
        </p:nvSpPr>
        <p:spPr>
          <a:xfrm>
            <a:off x="10012680" y="3017520"/>
            <a:ext cx="1508760" cy="960120"/>
          </a:xfrm>
          <a:prstGeom prst="rect">
            <a:avLst/>
          </a:prstGeom>
          <a:noFill/>
          <a:ln/>
        </p:spPr>
        <p:txBody>
          <a:bodyPr wrap="square" lIns="0" tIns="0" rIns="0" bIns="0" rtlCol="0" anchor="t"/>
          <a:lstStyle/>
          <a:p>
            <a:pPr indent="0" marL="0">
              <a:buNone/>
            </a:pPr>
            <a:r>
              <a:rPr lang="en-US" sz="1200" dirty="0">
                <a:solidFill>
                  <a:schemeClr val="tx1"/>
                </a:solidFill>
              </a:rPr>
              <a:t>Severity capped by evidence confidence; actions with deadlines</a:t>
            </a:r>
            <a:endParaRPr lang="en-US" sz="1200" dirty="0"/>
          </a:p>
        </p:txBody>
      </p:sp>
      <p:sp>
        <p:nvSpPr>
          <p:cNvPr id="37" name="Shape 34"/>
          <p:cNvSpPr/>
          <p:nvPr/>
        </p:nvSpPr>
        <p:spPr>
          <a:xfrm>
            <a:off x="548640" y="4297680"/>
            <a:ext cx="2651760" cy="1691640"/>
          </a:xfrm>
          <a:prstGeom prst="roundRect">
            <a:avLst>
              <a:gd name="adj" fmla="val 3784"/>
            </a:avLst>
          </a:prstGeom>
          <a:solidFill>
            <a:schemeClr val="tx2"/>
          </a:solidFill>
          <a:ln w="9525">
            <a:solidFill>
              <a:schemeClr val="tx2"/>
            </a:solidFill>
            <a:prstDash val="solid"/>
          </a:ln>
        </p:spPr>
      </p:sp>
      <p:sp>
        <p:nvSpPr>
          <p:cNvPr id="38" name="Text 35"/>
          <p:cNvSpPr txBox="1"/>
          <p:nvPr/>
        </p:nvSpPr>
        <p:spPr>
          <a:xfrm>
            <a:off x="731520" y="4434840"/>
            <a:ext cx="2286000" cy="685800"/>
          </a:xfrm>
          <a:prstGeom prst="rect">
            <a:avLst/>
          </a:prstGeom>
          <a:noFill/>
          <a:ln/>
        </p:spPr>
        <p:txBody>
          <a:bodyPr wrap="square" lIns="0" tIns="0" rIns="0" bIns="0" rtlCol="0" anchor="t"/>
          <a:lstStyle/>
          <a:p>
            <a:pPr indent="0" marL="0">
              <a:buNone/>
            </a:pPr>
            <a:r>
              <a:rPr lang="en-US" sz="3600" b="1" dirty="0">
                <a:solidFill>
                  <a:schemeClr val="bg1"/>
                </a:solidFill>
              </a:rPr>
              <a:t>6</a:t>
            </a:r>
            <a:endParaRPr lang="en-US" sz="3600" dirty="0"/>
          </a:p>
        </p:txBody>
      </p:sp>
      <p:sp>
        <p:nvSpPr>
          <p:cNvPr id="39" name="Text 36"/>
          <p:cNvSpPr txBox="1"/>
          <p:nvPr/>
        </p:nvSpPr>
        <p:spPr>
          <a:xfrm>
            <a:off x="731520" y="5166360"/>
            <a:ext cx="2286000" cy="731520"/>
          </a:xfrm>
          <a:prstGeom prst="rect">
            <a:avLst/>
          </a:prstGeom>
          <a:noFill/>
          <a:ln/>
        </p:spPr>
        <p:txBody>
          <a:bodyPr wrap="square" lIns="0" tIns="0" rIns="0" bIns="0" rtlCol="0" anchor="t"/>
          <a:lstStyle/>
          <a:p>
            <a:pPr indent="0" marL="0">
              <a:buNone/>
            </a:pPr>
            <a:r>
              <a:rPr lang="en-US" sz="1200" dirty="0">
                <a:solidFill>
                  <a:schemeClr val="bg2"/>
                </a:solidFill>
              </a:rPr>
              <a:t>vendors rated: tier, AI usage, evidence tag, provider, risk, action</a:t>
            </a:r>
            <a:endParaRPr lang="en-US" sz="1200" dirty="0"/>
          </a:p>
        </p:txBody>
      </p:sp>
      <p:sp>
        <p:nvSpPr>
          <p:cNvPr id="40" name="Shape 37"/>
          <p:cNvSpPr/>
          <p:nvPr/>
        </p:nvSpPr>
        <p:spPr>
          <a:xfrm>
            <a:off x="3346704" y="4297680"/>
            <a:ext cx="2651760" cy="1691640"/>
          </a:xfrm>
          <a:prstGeom prst="roundRect">
            <a:avLst>
              <a:gd name="adj" fmla="val 3784"/>
            </a:avLst>
          </a:prstGeom>
          <a:solidFill>
            <a:schemeClr val="tx2"/>
          </a:solidFill>
          <a:ln w="9525">
            <a:solidFill>
              <a:schemeClr val="tx2"/>
            </a:solidFill>
            <a:prstDash val="solid"/>
          </a:ln>
        </p:spPr>
      </p:sp>
      <p:sp>
        <p:nvSpPr>
          <p:cNvPr id="41" name="Text 38"/>
          <p:cNvSpPr txBox="1"/>
          <p:nvPr/>
        </p:nvSpPr>
        <p:spPr>
          <a:xfrm>
            <a:off x="3529584" y="4434840"/>
            <a:ext cx="2286000" cy="685800"/>
          </a:xfrm>
          <a:prstGeom prst="rect">
            <a:avLst/>
          </a:prstGeom>
          <a:noFill/>
          <a:ln/>
        </p:spPr>
        <p:txBody>
          <a:bodyPr wrap="square" lIns="0" tIns="0" rIns="0" bIns="0" rtlCol="0" anchor="t"/>
          <a:lstStyle/>
          <a:p>
            <a:pPr indent="0" marL="0">
              <a:buNone/>
            </a:pPr>
            <a:r>
              <a:rPr lang="en-US" sz="3600" b="1" dirty="0">
                <a:solidFill>
                  <a:schemeClr val="bg1"/>
                </a:solidFill>
              </a:rPr>
              <a:t>2 / 1 / 3</a:t>
            </a:r>
            <a:endParaRPr lang="en-US" sz="3600" dirty="0"/>
          </a:p>
        </p:txBody>
      </p:sp>
      <p:sp>
        <p:nvSpPr>
          <p:cNvPr id="42" name="Text 39"/>
          <p:cNvSpPr txBox="1"/>
          <p:nvPr/>
        </p:nvSpPr>
        <p:spPr>
          <a:xfrm>
            <a:off x="3529584" y="5166360"/>
            <a:ext cx="2286000" cy="731520"/>
          </a:xfrm>
          <a:prstGeom prst="rect">
            <a:avLst/>
          </a:prstGeom>
          <a:noFill/>
          <a:ln/>
        </p:spPr>
        <p:txBody>
          <a:bodyPr wrap="square" lIns="0" tIns="0" rIns="0" bIns="0" rtlCol="0" anchor="t"/>
          <a:lstStyle/>
          <a:p>
            <a:pPr indent="0" marL="0">
              <a:buNone/>
            </a:pPr>
            <a:r>
              <a:rPr lang="en-US" sz="1200" dirty="0">
                <a:solidFill>
                  <a:schemeClr val="bg2"/>
                </a:solidFill>
              </a:rPr>
              <a:t>AI usage Yes / No / Inconclusive (offline snapshot)</a:t>
            </a:r>
            <a:endParaRPr lang="en-US" sz="1200" dirty="0"/>
          </a:p>
        </p:txBody>
      </p:sp>
      <p:sp>
        <p:nvSpPr>
          <p:cNvPr id="43" name="Shape 40"/>
          <p:cNvSpPr/>
          <p:nvPr/>
        </p:nvSpPr>
        <p:spPr>
          <a:xfrm>
            <a:off x="6144768" y="4297680"/>
            <a:ext cx="2651760" cy="1691640"/>
          </a:xfrm>
          <a:prstGeom prst="roundRect">
            <a:avLst>
              <a:gd name="adj" fmla="val 3784"/>
            </a:avLst>
          </a:prstGeom>
          <a:solidFill>
            <a:schemeClr val="tx2"/>
          </a:solidFill>
          <a:ln w="9525">
            <a:solidFill>
              <a:schemeClr val="tx2"/>
            </a:solidFill>
            <a:prstDash val="solid"/>
          </a:ln>
        </p:spPr>
      </p:sp>
      <p:sp>
        <p:nvSpPr>
          <p:cNvPr id="44" name="Text 41"/>
          <p:cNvSpPr txBox="1"/>
          <p:nvPr/>
        </p:nvSpPr>
        <p:spPr>
          <a:xfrm>
            <a:off x="6327648" y="4434840"/>
            <a:ext cx="2286000" cy="685800"/>
          </a:xfrm>
          <a:prstGeom prst="rect">
            <a:avLst/>
          </a:prstGeom>
          <a:noFill/>
          <a:ln/>
        </p:spPr>
        <p:txBody>
          <a:bodyPr wrap="square" lIns="0" tIns="0" rIns="0" bIns="0" rtlCol="0" anchor="t"/>
          <a:lstStyle/>
          <a:p>
            <a:pPr indent="0" marL="0">
              <a:buNone/>
            </a:pPr>
            <a:r>
              <a:rPr lang="en-US" sz="3600" b="1" dirty="0">
                <a:solidFill>
                  <a:schemeClr val="bg1"/>
                </a:solidFill>
              </a:rPr>
              <a:t>100%</a:t>
            </a:r>
            <a:endParaRPr lang="en-US" sz="3600" dirty="0"/>
          </a:p>
        </p:txBody>
      </p:sp>
      <p:sp>
        <p:nvSpPr>
          <p:cNvPr id="45" name="Text 42"/>
          <p:cNvSpPr txBox="1"/>
          <p:nvPr/>
        </p:nvSpPr>
        <p:spPr>
          <a:xfrm>
            <a:off x="6327648" y="5166360"/>
            <a:ext cx="2286000" cy="731520"/>
          </a:xfrm>
          <a:prstGeom prst="rect">
            <a:avLst/>
          </a:prstGeom>
          <a:noFill/>
          <a:ln/>
        </p:spPr>
        <p:txBody>
          <a:bodyPr wrap="square" lIns="0" tIns="0" rIns="0" bIns="0" rtlCol="0" anchor="t"/>
          <a:lstStyle/>
          <a:p>
            <a:pPr indent="0" marL="0">
              <a:buNone/>
            </a:pPr>
            <a:r>
              <a:rPr lang="en-US" sz="1200" dirty="0">
                <a:solidFill>
                  <a:schemeClr val="bg2"/>
                </a:solidFill>
              </a:rPr>
              <a:t>of findings carry URL, retrieval date, content hash and exact excerpt</a:t>
            </a:r>
            <a:endParaRPr lang="en-US" sz="1200" dirty="0"/>
          </a:p>
        </p:txBody>
      </p:sp>
      <p:sp>
        <p:nvSpPr>
          <p:cNvPr id="46" name="Shape 43"/>
          <p:cNvSpPr/>
          <p:nvPr/>
        </p:nvSpPr>
        <p:spPr>
          <a:xfrm>
            <a:off x="8942832" y="4297680"/>
            <a:ext cx="2651760" cy="1691640"/>
          </a:xfrm>
          <a:prstGeom prst="roundRect">
            <a:avLst>
              <a:gd name="adj" fmla="val 3784"/>
            </a:avLst>
          </a:prstGeom>
          <a:solidFill>
            <a:schemeClr val="tx2"/>
          </a:solidFill>
          <a:ln w="9525">
            <a:solidFill>
              <a:schemeClr val="tx2"/>
            </a:solidFill>
            <a:prstDash val="solid"/>
          </a:ln>
        </p:spPr>
      </p:sp>
      <p:sp>
        <p:nvSpPr>
          <p:cNvPr id="47" name="Text 44"/>
          <p:cNvSpPr txBox="1"/>
          <p:nvPr/>
        </p:nvSpPr>
        <p:spPr>
          <a:xfrm>
            <a:off x="9125712" y="4434840"/>
            <a:ext cx="2286000" cy="685800"/>
          </a:xfrm>
          <a:prstGeom prst="rect">
            <a:avLst/>
          </a:prstGeom>
          <a:noFill/>
          <a:ln/>
        </p:spPr>
        <p:txBody>
          <a:bodyPr wrap="square" lIns="0" tIns="0" rIns="0" bIns="0" rtlCol="0" anchor="t"/>
          <a:lstStyle/>
          <a:p>
            <a:pPr indent="0" marL="0">
              <a:buNone/>
            </a:pPr>
            <a:r>
              <a:rPr lang="en-US" sz="3600" b="1" dirty="0">
                <a:solidFill>
                  <a:schemeClr val="bg1"/>
                </a:solidFill>
              </a:rPr>
              <a:t>PASS</a:t>
            </a:r>
            <a:endParaRPr lang="en-US" sz="3600" dirty="0"/>
          </a:p>
        </p:txBody>
      </p:sp>
      <p:sp>
        <p:nvSpPr>
          <p:cNvPr id="48" name="Text 45"/>
          <p:cNvSpPr txBox="1"/>
          <p:nvPr/>
        </p:nvSpPr>
        <p:spPr>
          <a:xfrm>
            <a:off x="9125712" y="5166360"/>
            <a:ext cx="2286000" cy="731520"/>
          </a:xfrm>
          <a:prstGeom prst="rect">
            <a:avLst/>
          </a:prstGeom>
          <a:noFill/>
          <a:ln/>
        </p:spPr>
        <p:txBody>
          <a:bodyPr wrap="square" lIns="0" tIns="0" rIns="0" bIns="0" rtlCol="0" anchor="t"/>
          <a:lstStyle/>
          <a:p>
            <a:pPr indent="0" marL="0">
              <a:buNone/>
            </a:pPr>
            <a:r>
              <a:rPr lang="en-US" sz="1200" dirty="0">
                <a:solidFill>
                  <a:schemeClr val="bg2"/>
                </a:solidFill>
              </a:rPr>
              <a:t>benchmark V-000 reproduced: Critical / Yes / Critical</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Solution design: from OSINT collection to risk output</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The components and the data that flows between them.</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SOLUTION</a:t>
            </a:r>
            <a:endParaRPr lang="en-US" sz="1050" dirty="0"/>
          </a:p>
        </p:txBody>
      </p:sp>
      <p:sp>
        <p:nvSpPr>
          <p:cNvPr id="7" name="Shape 4"/>
          <p:cNvSpPr/>
          <p:nvPr/>
        </p:nvSpPr>
        <p:spPr>
          <a:xfrm>
            <a:off x="548640" y="2514600"/>
            <a:ext cx="1371600" cy="1097280"/>
          </a:xfrm>
          <a:prstGeom prst="roundRect">
            <a:avLst>
              <a:gd name="adj" fmla="val 6667"/>
            </a:avLst>
          </a:prstGeom>
          <a:solidFill>
            <a:schemeClr val="bg1"/>
          </a:solidFill>
          <a:ln w="25400">
            <a:solidFill>
              <a:schemeClr val="accent5"/>
            </a:solidFill>
            <a:prstDash val="solid"/>
          </a:ln>
        </p:spPr>
      </p:sp>
      <p:sp>
        <p:nvSpPr>
          <p:cNvPr id="8" name="Text 5"/>
          <p:cNvSpPr txBox="1"/>
          <p:nvPr/>
        </p:nvSpPr>
        <p:spPr>
          <a:xfrm>
            <a:off x="640080" y="2578608"/>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1</a:t>
            </a:r>
            <a:endParaRPr lang="en-US" sz="1200" dirty="0"/>
          </a:p>
        </p:txBody>
      </p:sp>
      <p:sp>
        <p:nvSpPr>
          <p:cNvPr id="9" name="Text 6"/>
          <p:cNvSpPr txBox="1"/>
          <p:nvPr/>
        </p:nvSpPr>
        <p:spPr>
          <a:xfrm>
            <a:off x="640080"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Vendor inventory</a:t>
            </a:r>
            <a:endParaRPr lang="en-US" sz="1400" dirty="0"/>
          </a:p>
        </p:txBody>
      </p:sp>
      <p:sp>
        <p:nvSpPr>
          <p:cNvPr id="10" name="Text 7"/>
          <p:cNvSpPr txBox="1"/>
          <p:nvPr/>
        </p:nvSpPr>
        <p:spPr>
          <a:xfrm>
            <a:off x="548640"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11" name="Text 8"/>
          <p:cNvSpPr txBox="1"/>
          <p:nvPr/>
        </p:nvSpPr>
        <p:spPr>
          <a:xfrm>
            <a:off x="594360"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Excel upload</a:t>
            </a:r>
            <a:endParaRPr lang="en-US" sz="1200" dirty="0"/>
          </a:p>
        </p:txBody>
      </p:sp>
      <p:sp>
        <p:nvSpPr>
          <p:cNvPr id="12" name="Text 9"/>
          <p:cNvSpPr txBox="1"/>
          <p:nvPr/>
        </p:nvSpPr>
        <p:spPr>
          <a:xfrm>
            <a:off x="548640"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13" name="Text 10"/>
          <p:cNvSpPr txBox="1"/>
          <p:nvPr/>
        </p:nvSpPr>
        <p:spPr>
          <a:xfrm>
            <a:off x="594360"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Provided columns A–K</a:t>
            </a:r>
            <a:endParaRPr lang="en-US" sz="1200" dirty="0"/>
          </a:p>
        </p:txBody>
      </p:sp>
      <p:sp>
        <p:nvSpPr>
          <p:cNvPr id="14" name="Shape 11"/>
          <p:cNvSpPr/>
          <p:nvPr/>
        </p:nvSpPr>
        <p:spPr>
          <a:xfrm>
            <a:off x="1938528" y="3063240"/>
            <a:ext cx="210312" cy="0"/>
          </a:xfrm>
          <a:prstGeom prst="line">
            <a:avLst/>
          </a:prstGeom>
          <a:noFill/>
          <a:ln w="22225">
            <a:solidFill>
              <a:schemeClr val="accent6"/>
            </a:solidFill>
            <a:prstDash val="solid"/>
            <a:tailEnd type="triangle"/>
          </a:ln>
        </p:spPr>
      </p:sp>
      <p:sp>
        <p:nvSpPr>
          <p:cNvPr id="15" name="Shape 12"/>
          <p:cNvSpPr/>
          <p:nvPr/>
        </p:nvSpPr>
        <p:spPr>
          <a:xfrm>
            <a:off x="2167128" y="2514600"/>
            <a:ext cx="1371600" cy="1097280"/>
          </a:xfrm>
          <a:prstGeom prst="roundRect">
            <a:avLst>
              <a:gd name="adj" fmla="val 6667"/>
            </a:avLst>
          </a:prstGeom>
          <a:solidFill>
            <a:schemeClr val="bg1"/>
          </a:solidFill>
          <a:ln w="25400">
            <a:solidFill>
              <a:schemeClr val="accent1"/>
            </a:solidFill>
            <a:prstDash val="solid"/>
          </a:ln>
        </p:spPr>
      </p:sp>
      <p:sp>
        <p:nvSpPr>
          <p:cNvPr id="16" name="Text 13"/>
          <p:cNvSpPr txBox="1"/>
          <p:nvPr/>
        </p:nvSpPr>
        <p:spPr>
          <a:xfrm>
            <a:off x="2258568" y="2578608"/>
            <a:ext cx="365760" cy="274320"/>
          </a:xfrm>
          <a:prstGeom prst="rect">
            <a:avLst/>
          </a:prstGeom>
          <a:noFill/>
          <a:ln/>
        </p:spPr>
        <p:txBody>
          <a:bodyPr wrap="square" lIns="0" tIns="0" rIns="0" bIns="0" rtlCol="0" anchor="t"/>
          <a:lstStyle/>
          <a:p>
            <a:pPr indent="0" marL="0">
              <a:buNone/>
            </a:pPr>
            <a:r>
              <a:rPr lang="en-US" sz="1200" b="1" dirty="0">
                <a:solidFill>
                  <a:schemeClr val="accent1"/>
                </a:solidFill>
              </a:rPr>
              <a:t>2</a:t>
            </a:r>
            <a:endParaRPr lang="en-US" sz="1200" dirty="0"/>
          </a:p>
        </p:txBody>
      </p:sp>
      <p:sp>
        <p:nvSpPr>
          <p:cNvPr id="17" name="Text 14"/>
          <p:cNvSpPr txBox="1"/>
          <p:nvPr/>
        </p:nvSpPr>
        <p:spPr>
          <a:xfrm>
            <a:off x="2258568"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Criticality and depth</a:t>
            </a:r>
            <a:endParaRPr lang="en-US" sz="1400" dirty="0"/>
          </a:p>
        </p:txBody>
      </p:sp>
      <p:sp>
        <p:nvSpPr>
          <p:cNvPr id="18" name="Text 15"/>
          <p:cNvSpPr txBox="1"/>
          <p:nvPr/>
        </p:nvSpPr>
        <p:spPr>
          <a:xfrm>
            <a:off x="2167128"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19" name="Text 16"/>
          <p:cNvSpPr txBox="1"/>
          <p:nvPr/>
        </p:nvSpPr>
        <p:spPr>
          <a:xfrm>
            <a:off x="2212848"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Provided columns</a:t>
            </a:r>
            <a:endParaRPr lang="en-US" sz="1200" dirty="0"/>
          </a:p>
        </p:txBody>
      </p:sp>
      <p:sp>
        <p:nvSpPr>
          <p:cNvPr id="20" name="Text 17"/>
          <p:cNvSpPr txBox="1"/>
          <p:nvPr/>
        </p:nvSpPr>
        <p:spPr>
          <a:xfrm>
            <a:off x="2167128"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21" name="Text 18"/>
          <p:cNvSpPr txBox="1"/>
          <p:nvPr/>
        </p:nvSpPr>
        <p:spPr>
          <a:xfrm>
            <a:off x="2212848"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Tier, factor scores, depth plan</a:t>
            </a:r>
            <a:endParaRPr lang="en-US" sz="1200" dirty="0"/>
          </a:p>
        </p:txBody>
      </p:sp>
      <p:sp>
        <p:nvSpPr>
          <p:cNvPr id="22" name="Shape 19"/>
          <p:cNvSpPr/>
          <p:nvPr/>
        </p:nvSpPr>
        <p:spPr>
          <a:xfrm>
            <a:off x="3557016" y="3063240"/>
            <a:ext cx="210312" cy="0"/>
          </a:xfrm>
          <a:prstGeom prst="line">
            <a:avLst/>
          </a:prstGeom>
          <a:noFill/>
          <a:ln w="22225">
            <a:solidFill>
              <a:schemeClr val="accent6"/>
            </a:solidFill>
            <a:prstDash val="solid"/>
            <a:tailEnd type="triangle"/>
          </a:ln>
        </p:spPr>
      </p:sp>
      <p:sp>
        <p:nvSpPr>
          <p:cNvPr id="23" name="Shape 20"/>
          <p:cNvSpPr/>
          <p:nvPr/>
        </p:nvSpPr>
        <p:spPr>
          <a:xfrm>
            <a:off x="3785616" y="2514600"/>
            <a:ext cx="1371600" cy="1097280"/>
          </a:xfrm>
          <a:prstGeom prst="roundRect">
            <a:avLst>
              <a:gd name="adj" fmla="val 6667"/>
            </a:avLst>
          </a:prstGeom>
          <a:solidFill>
            <a:schemeClr val="bg1"/>
          </a:solidFill>
          <a:ln w="25400">
            <a:solidFill>
              <a:schemeClr val="accent1"/>
            </a:solidFill>
            <a:prstDash val="solid"/>
          </a:ln>
        </p:spPr>
      </p:sp>
      <p:sp>
        <p:nvSpPr>
          <p:cNvPr id="24" name="Text 21"/>
          <p:cNvSpPr txBox="1"/>
          <p:nvPr/>
        </p:nvSpPr>
        <p:spPr>
          <a:xfrm>
            <a:off x="3877056" y="2578608"/>
            <a:ext cx="365760" cy="274320"/>
          </a:xfrm>
          <a:prstGeom prst="rect">
            <a:avLst/>
          </a:prstGeom>
          <a:noFill/>
          <a:ln/>
        </p:spPr>
        <p:txBody>
          <a:bodyPr wrap="square" lIns="0" tIns="0" rIns="0" bIns="0" rtlCol="0" anchor="t"/>
          <a:lstStyle/>
          <a:p>
            <a:pPr indent="0" marL="0">
              <a:buNone/>
            </a:pPr>
            <a:r>
              <a:rPr lang="en-US" sz="1200" b="1" dirty="0">
                <a:solidFill>
                  <a:schemeClr val="accent1"/>
                </a:solidFill>
              </a:rPr>
              <a:t>3</a:t>
            </a:r>
            <a:endParaRPr lang="en-US" sz="1200" dirty="0"/>
          </a:p>
        </p:txBody>
      </p:sp>
      <p:sp>
        <p:nvSpPr>
          <p:cNvPr id="25" name="Text 22"/>
          <p:cNvSpPr txBox="1"/>
          <p:nvPr/>
        </p:nvSpPr>
        <p:spPr>
          <a:xfrm>
            <a:off x="3877056"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OSINT collection</a:t>
            </a:r>
            <a:endParaRPr lang="en-US" sz="1400" dirty="0"/>
          </a:p>
        </p:txBody>
      </p:sp>
      <p:sp>
        <p:nvSpPr>
          <p:cNvPr id="26" name="Text 23"/>
          <p:cNvSpPr txBox="1"/>
          <p:nvPr/>
        </p:nvSpPr>
        <p:spPr>
          <a:xfrm>
            <a:off x="3785616"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27" name="Text 24"/>
          <p:cNvSpPr txBox="1"/>
          <p:nvPr/>
        </p:nvSpPr>
        <p:spPr>
          <a:xfrm>
            <a:off x="3831336"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Depth plan, vendor domain</a:t>
            </a:r>
            <a:endParaRPr lang="en-US" sz="1200" dirty="0"/>
          </a:p>
        </p:txBody>
      </p:sp>
      <p:sp>
        <p:nvSpPr>
          <p:cNvPr id="28" name="Text 25"/>
          <p:cNvSpPr txBox="1"/>
          <p:nvPr/>
        </p:nvSpPr>
        <p:spPr>
          <a:xfrm>
            <a:off x="3785616"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29" name="Text 26"/>
          <p:cNvSpPr txBox="1"/>
          <p:nvPr/>
        </p:nvSpPr>
        <p:spPr>
          <a:xfrm>
            <a:off x="3831336"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Documents + URL, date, SHA-256</a:t>
            </a:r>
            <a:endParaRPr lang="en-US" sz="1200" dirty="0"/>
          </a:p>
        </p:txBody>
      </p:sp>
      <p:sp>
        <p:nvSpPr>
          <p:cNvPr id="30" name="Shape 27"/>
          <p:cNvSpPr/>
          <p:nvPr/>
        </p:nvSpPr>
        <p:spPr>
          <a:xfrm>
            <a:off x="5175504" y="3063240"/>
            <a:ext cx="210312" cy="0"/>
          </a:xfrm>
          <a:prstGeom prst="line">
            <a:avLst/>
          </a:prstGeom>
          <a:noFill/>
          <a:ln w="22225">
            <a:solidFill>
              <a:schemeClr val="accent6"/>
            </a:solidFill>
            <a:prstDash val="solid"/>
            <a:tailEnd type="triangle"/>
          </a:ln>
        </p:spPr>
      </p:sp>
      <p:sp>
        <p:nvSpPr>
          <p:cNvPr id="31" name="Shape 28"/>
          <p:cNvSpPr/>
          <p:nvPr/>
        </p:nvSpPr>
        <p:spPr>
          <a:xfrm>
            <a:off x="5404104" y="2514600"/>
            <a:ext cx="1371600" cy="1097280"/>
          </a:xfrm>
          <a:prstGeom prst="roundRect">
            <a:avLst>
              <a:gd name="adj" fmla="val 6667"/>
            </a:avLst>
          </a:prstGeom>
          <a:solidFill>
            <a:schemeClr val="bg1"/>
          </a:solidFill>
          <a:ln w="25400">
            <a:solidFill>
              <a:schemeClr val="accent1"/>
            </a:solidFill>
            <a:prstDash val="solid"/>
          </a:ln>
        </p:spPr>
      </p:sp>
      <p:sp>
        <p:nvSpPr>
          <p:cNvPr id="32" name="Text 29"/>
          <p:cNvSpPr txBox="1"/>
          <p:nvPr/>
        </p:nvSpPr>
        <p:spPr>
          <a:xfrm>
            <a:off x="5495544" y="2578608"/>
            <a:ext cx="365760" cy="274320"/>
          </a:xfrm>
          <a:prstGeom prst="rect">
            <a:avLst/>
          </a:prstGeom>
          <a:noFill/>
          <a:ln/>
        </p:spPr>
        <p:txBody>
          <a:bodyPr wrap="square" lIns="0" tIns="0" rIns="0" bIns="0" rtlCol="0" anchor="t"/>
          <a:lstStyle/>
          <a:p>
            <a:pPr indent="0" marL="0">
              <a:buNone/>
            </a:pPr>
            <a:r>
              <a:rPr lang="en-US" sz="1200" b="1" dirty="0">
                <a:solidFill>
                  <a:schemeClr val="accent1"/>
                </a:solidFill>
              </a:rPr>
              <a:t>4</a:t>
            </a:r>
            <a:endParaRPr lang="en-US" sz="1200" dirty="0"/>
          </a:p>
        </p:txBody>
      </p:sp>
      <p:sp>
        <p:nvSpPr>
          <p:cNvPr id="33" name="Text 30"/>
          <p:cNvSpPr txBox="1"/>
          <p:nvPr/>
        </p:nvSpPr>
        <p:spPr>
          <a:xfrm>
            <a:off x="5495544"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Signal extraction</a:t>
            </a:r>
            <a:endParaRPr lang="en-US" sz="1400" dirty="0"/>
          </a:p>
        </p:txBody>
      </p:sp>
      <p:sp>
        <p:nvSpPr>
          <p:cNvPr id="34" name="Text 31"/>
          <p:cNvSpPr txBox="1"/>
          <p:nvPr/>
        </p:nvSpPr>
        <p:spPr>
          <a:xfrm>
            <a:off x="5404104"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35" name="Text 32"/>
          <p:cNvSpPr txBox="1"/>
          <p:nvPr/>
        </p:nvSpPr>
        <p:spPr>
          <a:xfrm>
            <a:off x="5449824"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Documents</a:t>
            </a:r>
            <a:endParaRPr lang="en-US" sz="1200" dirty="0"/>
          </a:p>
        </p:txBody>
      </p:sp>
      <p:sp>
        <p:nvSpPr>
          <p:cNvPr id="36" name="Text 33"/>
          <p:cNvSpPr txBox="1"/>
          <p:nvPr/>
        </p:nvSpPr>
        <p:spPr>
          <a:xfrm>
            <a:off x="5404104"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37" name="Text 34"/>
          <p:cNvSpPr txBox="1"/>
          <p:nvPr/>
        </p:nvSpPr>
        <p:spPr>
          <a:xfrm>
            <a:off x="5449824"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Typed AI signals + providers</a:t>
            </a:r>
            <a:endParaRPr lang="en-US" sz="1200" dirty="0"/>
          </a:p>
        </p:txBody>
      </p:sp>
      <p:sp>
        <p:nvSpPr>
          <p:cNvPr id="38" name="Shape 35"/>
          <p:cNvSpPr/>
          <p:nvPr/>
        </p:nvSpPr>
        <p:spPr>
          <a:xfrm>
            <a:off x="6793992" y="3063240"/>
            <a:ext cx="210312" cy="0"/>
          </a:xfrm>
          <a:prstGeom prst="line">
            <a:avLst/>
          </a:prstGeom>
          <a:noFill/>
          <a:ln w="22225">
            <a:solidFill>
              <a:schemeClr val="accent6"/>
            </a:solidFill>
            <a:prstDash val="solid"/>
            <a:tailEnd type="triangle"/>
          </a:ln>
        </p:spPr>
      </p:sp>
      <p:sp>
        <p:nvSpPr>
          <p:cNvPr id="39" name="Shape 36"/>
          <p:cNvSpPr/>
          <p:nvPr/>
        </p:nvSpPr>
        <p:spPr>
          <a:xfrm>
            <a:off x="7022592" y="2514600"/>
            <a:ext cx="1371600" cy="1097280"/>
          </a:xfrm>
          <a:prstGeom prst="roundRect">
            <a:avLst>
              <a:gd name="adj" fmla="val 6667"/>
            </a:avLst>
          </a:prstGeom>
          <a:solidFill>
            <a:schemeClr val="bg1"/>
          </a:solidFill>
          <a:ln w="25400">
            <a:solidFill>
              <a:schemeClr val="accent1"/>
            </a:solidFill>
            <a:prstDash val="solid"/>
          </a:ln>
        </p:spPr>
      </p:sp>
      <p:sp>
        <p:nvSpPr>
          <p:cNvPr id="40" name="Text 37"/>
          <p:cNvSpPr txBox="1"/>
          <p:nvPr/>
        </p:nvSpPr>
        <p:spPr>
          <a:xfrm>
            <a:off x="7114032" y="2578608"/>
            <a:ext cx="365760" cy="274320"/>
          </a:xfrm>
          <a:prstGeom prst="rect">
            <a:avLst/>
          </a:prstGeom>
          <a:noFill/>
          <a:ln/>
        </p:spPr>
        <p:txBody>
          <a:bodyPr wrap="square" lIns="0" tIns="0" rIns="0" bIns="0" rtlCol="0" anchor="t"/>
          <a:lstStyle/>
          <a:p>
            <a:pPr indent="0" marL="0">
              <a:buNone/>
            </a:pPr>
            <a:r>
              <a:rPr lang="en-US" sz="1200" b="1" dirty="0">
                <a:solidFill>
                  <a:schemeClr val="accent1"/>
                </a:solidFill>
              </a:rPr>
              <a:t>5</a:t>
            </a:r>
            <a:endParaRPr lang="en-US" sz="1200" dirty="0"/>
          </a:p>
        </p:txBody>
      </p:sp>
      <p:sp>
        <p:nvSpPr>
          <p:cNvPr id="41" name="Text 38"/>
          <p:cNvSpPr txBox="1"/>
          <p:nvPr/>
        </p:nvSpPr>
        <p:spPr>
          <a:xfrm>
            <a:off x="7114032"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Evidence weighting</a:t>
            </a:r>
            <a:endParaRPr lang="en-US" sz="1400" dirty="0"/>
          </a:p>
        </p:txBody>
      </p:sp>
      <p:sp>
        <p:nvSpPr>
          <p:cNvPr id="42" name="Text 39"/>
          <p:cNvSpPr txBox="1"/>
          <p:nvPr/>
        </p:nvSpPr>
        <p:spPr>
          <a:xfrm>
            <a:off x="7022592"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43" name="Text 40"/>
          <p:cNvSpPr txBox="1"/>
          <p:nvPr/>
        </p:nvSpPr>
        <p:spPr>
          <a:xfrm>
            <a:off x="7068312"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Signals</a:t>
            </a:r>
            <a:endParaRPr lang="en-US" sz="1200" dirty="0"/>
          </a:p>
        </p:txBody>
      </p:sp>
      <p:sp>
        <p:nvSpPr>
          <p:cNvPr id="44" name="Text 41"/>
          <p:cNvSpPr txBox="1"/>
          <p:nvPr/>
        </p:nvSpPr>
        <p:spPr>
          <a:xfrm>
            <a:off x="7022592"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45" name="Text 42"/>
          <p:cNvSpPr txBox="1"/>
          <p:nvPr/>
        </p:nvSpPr>
        <p:spPr>
          <a:xfrm>
            <a:off x="7068312"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Usage score and evidence tag</a:t>
            </a:r>
            <a:endParaRPr lang="en-US" sz="1200" dirty="0"/>
          </a:p>
        </p:txBody>
      </p:sp>
      <p:sp>
        <p:nvSpPr>
          <p:cNvPr id="46" name="Shape 43"/>
          <p:cNvSpPr/>
          <p:nvPr/>
        </p:nvSpPr>
        <p:spPr>
          <a:xfrm>
            <a:off x="8412480" y="3063240"/>
            <a:ext cx="210312" cy="0"/>
          </a:xfrm>
          <a:prstGeom prst="line">
            <a:avLst/>
          </a:prstGeom>
          <a:noFill/>
          <a:ln w="22225">
            <a:solidFill>
              <a:schemeClr val="accent6"/>
            </a:solidFill>
            <a:prstDash val="solid"/>
            <a:tailEnd type="triangle"/>
          </a:ln>
        </p:spPr>
      </p:sp>
      <p:sp>
        <p:nvSpPr>
          <p:cNvPr id="47" name="Shape 44"/>
          <p:cNvSpPr/>
          <p:nvPr/>
        </p:nvSpPr>
        <p:spPr>
          <a:xfrm>
            <a:off x="8641080" y="2514600"/>
            <a:ext cx="1371600" cy="1097280"/>
          </a:xfrm>
          <a:prstGeom prst="roundRect">
            <a:avLst>
              <a:gd name="adj" fmla="val 6667"/>
            </a:avLst>
          </a:prstGeom>
          <a:solidFill>
            <a:schemeClr val="bg1"/>
          </a:solidFill>
          <a:ln w="25400">
            <a:solidFill>
              <a:schemeClr val="accent1"/>
            </a:solidFill>
            <a:prstDash val="solid"/>
          </a:ln>
        </p:spPr>
      </p:sp>
      <p:sp>
        <p:nvSpPr>
          <p:cNvPr id="48" name="Text 45"/>
          <p:cNvSpPr txBox="1"/>
          <p:nvPr/>
        </p:nvSpPr>
        <p:spPr>
          <a:xfrm>
            <a:off x="8732520" y="2578608"/>
            <a:ext cx="365760" cy="274320"/>
          </a:xfrm>
          <a:prstGeom prst="rect">
            <a:avLst/>
          </a:prstGeom>
          <a:noFill/>
          <a:ln/>
        </p:spPr>
        <p:txBody>
          <a:bodyPr wrap="square" lIns="0" tIns="0" rIns="0" bIns="0" rtlCol="0" anchor="t"/>
          <a:lstStyle/>
          <a:p>
            <a:pPr indent="0" marL="0">
              <a:buNone/>
            </a:pPr>
            <a:r>
              <a:rPr lang="en-US" sz="1200" b="1" dirty="0">
                <a:solidFill>
                  <a:schemeClr val="accent1"/>
                </a:solidFill>
              </a:rPr>
              <a:t>6</a:t>
            </a:r>
            <a:endParaRPr lang="en-US" sz="1200" dirty="0"/>
          </a:p>
        </p:txBody>
      </p:sp>
      <p:sp>
        <p:nvSpPr>
          <p:cNvPr id="49" name="Text 46"/>
          <p:cNvSpPr txBox="1"/>
          <p:nvPr/>
        </p:nvSpPr>
        <p:spPr>
          <a:xfrm>
            <a:off x="8732520"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AI risk engine</a:t>
            </a:r>
            <a:endParaRPr lang="en-US" sz="1400" dirty="0"/>
          </a:p>
        </p:txBody>
      </p:sp>
      <p:sp>
        <p:nvSpPr>
          <p:cNvPr id="50" name="Text 47"/>
          <p:cNvSpPr txBox="1"/>
          <p:nvPr/>
        </p:nvSpPr>
        <p:spPr>
          <a:xfrm>
            <a:off x="8641080"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51" name="Text 48"/>
          <p:cNvSpPr txBox="1"/>
          <p:nvPr/>
        </p:nvSpPr>
        <p:spPr>
          <a:xfrm>
            <a:off x="8686800"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Tier, data, tag, role</a:t>
            </a:r>
            <a:endParaRPr lang="en-US" sz="1200" dirty="0"/>
          </a:p>
        </p:txBody>
      </p:sp>
      <p:sp>
        <p:nvSpPr>
          <p:cNvPr id="52" name="Text 49"/>
          <p:cNvSpPr txBox="1"/>
          <p:nvPr/>
        </p:nvSpPr>
        <p:spPr>
          <a:xfrm>
            <a:off x="8641080"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53" name="Text 50"/>
          <p:cNvSpPr txBox="1"/>
          <p:nvPr/>
        </p:nvSpPr>
        <p:spPr>
          <a:xfrm>
            <a:off x="8686800"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Risk class, flags, action</a:t>
            </a:r>
            <a:endParaRPr lang="en-US" sz="1200" dirty="0"/>
          </a:p>
        </p:txBody>
      </p:sp>
      <p:sp>
        <p:nvSpPr>
          <p:cNvPr id="54" name="Shape 51"/>
          <p:cNvSpPr/>
          <p:nvPr/>
        </p:nvSpPr>
        <p:spPr>
          <a:xfrm>
            <a:off x="10030968" y="3063240"/>
            <a:ext cx="210312" cy="0"/>
          </a:xfrm>
          <a:prstGeom prst="line">
            <a:avLst/>
          </a:prstGeom>
          <a:noFill/>
          <a:ln w="22225">
            <a:solidFill>
              <a:schemeClr val="accent6"/>
            </a:solidFill>
            <a:prstDash val="solid"/>
            <a:tailEnd type="triangle"/>
          </a:ln>
        </p:spPr>
      </p:sp>
      <p:sp>
        <p:nvSpPr>
          <p:cNvPr id="55" name="Shape 52"/>
          <p:cNvSpPr/>
          <p:nvPr/>
        </p:nvSpPr>
        <p:spPr>
          <a:xfrm>
            <a:off x="10259568" y="2514600"/>
            <a:ext cx="1371600" cy="1097280"/>
          </a:xfrm>
          <a:prstGeom prst="roundRect">
            <a:avLst>
              <a:gd name="adj" fmla="val 6667"/>
            </a:avLst>
          </a:prstGeom>
          <a:solidFill>
            <a:schemeClr val="bg1"/>
          </a:solidFill>
          <a:ln w="25400">
            <a:solidFill>
              <a:schemeClr val="accent2"/>
            </a:solidFill>
            <a:prstDash val="solid"/>
          </a:ln>
        </p:spPr>
      </p:sp>
      <p:sp>
        <p:nvSpPr>
          <p:cNvPr id="56" name="Text 53"/>
          <p:cNvSpPr txBox="1"/>
          <p:nvPr/>
        </p:nvSpPr>
        <p:spPr>
          <a:xfrm>
            <a:off x="10351008" y="2578608"/>
            <a:ext cx="365760" cy="274320"/>
          </a:xfrm>
          <a:prstGeom prst="rect">
            <a:avLst/>
          </a:prstGeom>
          <a:noFill/>
          <a:ln/>
        </p:spPr>
        <p:txBody>
          <a:bodyPr wrap="square" lIns="0" tIns="0" rIns="0" bIns="0" rtlCol="0" anchor="t"/>
          <a:lstStyle/>
          <a:p>
            <a:pPr indent="0" marL="0">
              <a:buNone/>
            </a:pPr>
            <a:r>
              <a:rPr lang="en-US" sz="1200" b="1" dirty="0">
                <a:solidFill>
                  <a:schemeClr val="accent2"/>
                </a:solidFill>
              </a:rPr>
              <a:t>7</a:t>
            </a:r>
            <a:endParaRPr lang="en-US" sz="1200" dirty="0"/>
          </a:p>
        </p:txBody>
      </p:sp>
      <p:sp>
        <p:nvSpPr>
          <p:cNvPr id="57" name="Text 54"/>
          <p:cNvSpPr txBox="1"/>
          <p:nvPr/>
        </p:nvSpPr>
        <p:spPr>
          <a:xfrm>
            <a:off x="10351008" y="2834640"/>
            <a:ext cx="1188720" cy="731520"/>
          </a:xfrm>
          <a:prstGeom prst="rect">
            <a:avLst/>
          </a:prstGeom>
          <a:noFill/>
          <a:ln/>
        </p:spPr>
        <p:txBody>
          <a:bodyPr wrap="square" lIns="0" tIns="0" rIns="0" bIns="0" rtlCol="0" anchor="t"/>
          <a:lstStyle/>
          <a:p>
            <a:pPr indent="0" marL="0">
              <a:buNone/>
            </a:pPr>
            <a:r>
              <a:rPr lang="en-US" sz="1400" b="1" dirty="0">
                <a:solidFill>
                  <a:schemeClr val="tx2"/>
                </a:solidFill>
              </a:rPr>
              <a:t>Outputs</a:t>
            </a:r>
            <a:endParaRPr lang="en-US" sz="1400" dirty="0"/>
          </a:p>
        </p:txBody>
      </p:sp>
      <p:sp>
        <p:nvSpPr>
          <p:cNvPr id="58" name="Text 55"/>
          <p:cNvSpPr txBox="1"/>
          <p:nvPr/>
        </p:nvSpPr>
        <p:spPr>
          <a:xfrm>
            <a:off x="10259568" y="374904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IN</a:t>
            </a:r>
            <a:endParaRPr lang="en-US" sz="1000" dirty="0"/>
          </a:p>
        </p:txBody>
      </p:sp>
      <p:sp>
        <p:nvSpPr>
          <p:cNvPr id="59" name="Text 56"/>
          <p:cNvSpPr txBox="1"/>
          <p:nvPr/>
        </p:nvSpPr>
        <p:spPr>
          <a:xfrm>
            <a:off x="10305288" y="3931920"/>
            <a:ext cx="1280160" cy="548640"/>
          </a:xfrm>
          <a:prstGeom prst="rect">
            <a:avLst/>
          </a:prstGeom>
          <a:noFill/>
          <a:ln/>
        </p:spPr>
        <p:txBody>
          <a:bodyPr wrap="square" lIns="0" tIns="0" rIns="0" bIns="0" rtlCol="0" anchor="t"/>
          <a:lstStyle/>
          <a:p>
            <a:pPr algn="ctr" indent="0" marL="0">
              <a:buNone/>
            </a:pPr>
            <a:r>
              <a:rPr lang="en-US" sz="1200" dirty="0">
                <a:solidFill>
                  <a:schemeClr val="tx1"/>
                </a:solidFill>
              </a:rPr>
              <a:t>All of the above</a:t>
            </a:r>
            <a:endParaRPr lang="en-US" sz="1200" dirty="0"/>
          </a:p>
        </p:txBody>
      </p:sp>
      <p:sp>
        <p:nvSpPr>
          <p:cNvPr id="60" name="Text 57"/>
          <p:cNvSpPr txBox="1"/>
          <p:nvPr/>
        </p:nvSpPr>
        <p:spPr>
          <a:xfrm>
            <a:off x="10259568" y="4572000"/>
            <a:ext cx="1371600" cy="201168"/>
          </a:xfrm>
          <a:prstGeom prst="rect">
            <a:avLst/>
          </a:prstGeom>
          <a:noFill/>
          <a:ln/>
        </p:spPr>
        <p:txBody>
          <a:bodyPr wrap="square" lIns="0" tIns="0" rIns="0" bIns="0" rtlCol="0" anchor="t"/>
          <a:lstStyle/>
          <a:p>
            <a:pPr algn="ctr" indent="0" marL="0">
              <a:buNone/>
            </a:pPr>
            <a:r>
              <a:rPr lang="en-US" sz="1000" b="1" dirty="0">
                <a:solidFill>
                  <a:schemeClr val="accent6"/>
                </a:solidFill>
              </a:rPr>
              <a:t>OUT</a:t>
            </a:r>
            <a:endParaRPr lang="en-US" sz="1000" dirty="0"/>
          </a:p>
        </p:txBody>
      </p:sp>
      <p:sp>
        <p:nvSpPr>
          <p:cNvPr id="61" name="Text 58"/>
          <p:cNvSpPr txBox="1"/>
          <p:nvPr/>
        </p:nvSpPr>
        <p:spPr>
          <a:xfrm>
            <a:off x="10305288" y="4754880"/>
            <a:ext cx="1280160" cy="685800"/>
          </a:xfrm>
          <a:prstGeom prst="rect">
            <a:avLst/>
          </a:prstGeom>
          <a:noFill/>
          <a:ln/>
        </p:spPr>
        <p:txBody>
          <a:bodyPr wrap="square" lIns="0" tIns="0" rIns="0" bIns="0" rtlCol="0" anchor="t"/>
          <a:lstStyle/>
          <a:p>
            <a:pPr algn="ctr" indent="0" marL="0">
              <a:buNone/>
            </a:pPr>
            <a:r>
              <a:rPr lang="en-US" sz="1200" dirty="0">
                <a:solidFill>
                  <a:schemeClr val="tx1"/>
                </a:solidFill>
              </a:rPr>
              <a:t>Workbook L–V, Evidence Log, dashboard</a:t>
            </a:r>
            <a:endParaRPr lang="en-US" sz="1200" dirty="0"/>
          </a:p>
        </p:txBody>
      </p:sp>
      <p:sp>
        <p:nvSpPr>
          <p:cNvPr id="62" name="Shape 59"/>
          <p:cNvSpPr/>
          <p:nvPr/>
        </p:nvSpPr>
        <p:spPr>
          <a:xfrm>
            <a:off x="3785616" y="1691640"/>
            <a:ext cx="2990088" cy="502920"/>
          </a:xfrm>
          <a:prstGeom prst="roundRect">
            <a:avLst>
              <a:gd name="adj" fmla="val 12727"/>
            </a:avLst>
          </a:prstGeom>
          <a:solidFill>
            <a:schemeClr val="bg2"/>
          </a:solidFill>
          <a:ln w="12700">
            <a:solidFill>
              <a:schemeClr val="accent1"/>
            </a:solidFill>
            <a:prstDash val="solid"/>
          </a:ln>
        </p:spPr>
      </p:sp>
      <p:sp>
        <p:nvSpPr>
          <p:cNvPr id="63" name="Text 60"/>
          <p:cNvSpPr txBox="1"/>
          <p:nvPr/>
        </p:nvSpPr>
        <p:spPr>
          <a:xfrm>
            <a:off x="3785616" y="1691640"/>
            <a:ext cx="2990088" cy="502920"/>
          </a:xfrm>
          <a:prstGeom prst="rect">
            <a:avLst/>
          </a:prstGeom>
          <a:noFill/>
          <a:ln/>
        </p:spPr>
        <p:txBody>
          <a:bodyPr wrap="square" lIns="0" tIns="0" rIns="0" bIns="0" rtlCol="0" anchor="ctr"/>
          <a:lstStyle/>
          <a:p>
            <a:pPr algn="ctr" indent="0" marL="0">
              <a:buNone/>
            </a:pPr>
            <a:r>
              <a:rPr lang="en-US" sz="1200" b="1" dirty="0">
                <a:solidFill>
                  <a:schemeClr val="tx2"/>
                </a:solidFill>
              </a:rPr>
              <a:t>Public pages (live)  or  recorded snapshot (offline)</a:t>
            </a:r>
            <a:endParaRPr lang="en-US" sz="1200" dirty="0"/>
          </a:p>
        </p:txBody>
      </p:sp>
      <p:sp>
        <p:nvSpPr>
          <p:cNvPr id="64" name="Shape 61"/>
          <p:cNvSpPr/>
          <p:nvPr/>
        </p:nvSpPr>
        <p:spPr>
          <a:xfrm>
            <a:off x="4471416" y="2194560"/>
            <a:ext cx="0" cy="320040"/>
          </a:xfrm>
          <a:prstGeom prst="line">
            <a:avLst/>
          </a:prstGeom>
          <a:noFill/>
          <a:ln w="22225">
            <a:solidFill>
              <a:schemeClr val="accent1"/>
            </a:solidFill>
            <a:prstDash val="solid"/>
            <a:tailEnd type="triangle"/>
          </a:ln>
        </p:spPr>
      </p:sp>
      <p:sp>
        <p:nvSpPr>
          <p:cNvPr id="65" name="Shape 62"/>
          <p:cNvSpPr/>
          <p:nvPr/>
        </p:nvSpPr>
        <p:spPr>
          <a:xfrm>
            <a:off x="548640" y="5669280"/>
            <a:ext cx="11091672" cy="566928"/>
          </a:xfrm>
          <a:prstGeom prst="roundRect">
            <a:avLst>
              <a:gd name="adj" fmla="val 11290"/>
            </a:avLst>
          </a:prstGeom>
          <a:solidFill>
            <a:schemeClr val="tx2"/>
          </a:solidFill>
          <a:ln w="6350">
            <a:solidFill>
              <a:schemeClr val="tx2"/>
            </a:solidFill>
            <a:prstDash val="solid"/>
          </a:ln>
        </p:spPr>
      </p:sp>
      <p:sp>
        <p:nvSpPr>
          <p:cNvPr id="66" name="Text 63"/>
          <p:cNvSpPr txBox="1"/>
          <p:nvPr/>
        </p:nvSpPr>
        <p:spPr>
          <a:xfrm>
            <a:off x="777240" y="5669280"/>
            <a:ext cx="10607040" cy="566928"/>
          </a:xfrm>
          <a:prstGeom prst="rect">
            <a:avLst/>
          </a:prstGeom>
          <a:noFill/>
          <a:ln/>
        </p:spPr>
        <p:txBody>
          <a:bodyPr wrap="square" lIns="0" tIns="0" rIns="0" bIns="0" rtlCol="0" anchor="ctr"/>
          <a:lstStyle/>
          <a:p>
            <a:pPr indent="0" marL="0">
              <a:buNone/>
            </a:pPr>
            <a:r>
              <a:rPr lang="en-US" sz="1350" dirty="0">
                <a:solidFill>
                  <a:schemeClr val="bg1"/>
                </a:solidFill>
              </a:rPr>
              <a:t>Coverage gaps and unresolved model providers become vendor-questionnaire items. OSINT targets the questionnaire; it never replaces it.</a:t>
            </a:r>
            <a:endParaRPr lang="en-US" sz="135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Technical architecture</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 local web app over a Python pipeline. Every rule lives in one configuration file.</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SOLUTION</a:t>
            </a:r>
            <a:endParaRPr lang="en-US" sz="1050" dirty="0"/>
          </a:p>
        </p:txBody>
      </p:sp>
      <p:sp>
        <p:nvSpPr>
          <p:cNvPr id="7" name="Shape 4"/>
          <p:cNvSpPr/>
          <p:nvPr/>
        </p:nvSpPr>
        <p:spPr>
          <a:xfrm>
            <a:off x="548640" y="1645920"/>
            <a:ext cx="11091672" cy="731520"/>
          </a:xfrm>
          <a:prstGeom prst="roundRect">
            <a:avLst>
              <a:gd name="adj" fmla="val 8750"/>
            </a:avLst>
          </a:prstGeom>
          <a:solidFill>
            <a:schemeClr val="bg2"/>
          </a:solidFill>
          <a:ln w="6350">
            <a:solidFill>
              <a:schemeClr val="bg2"/>
            </a:solidFill>
            <a:prstDash val="solid"/>
          </a:ln>
        </p:spPr>
      </p:sp>
      <p:sp>
        <p:nvSpPr>
          <p:cNvPr id="8" name="Text 5"/>
          <p:cNvSpPr txBox="1"/>
          <p:nvPr/>
        </p:nvSpPr>
        <p:spPr>
          <a:xfrm>
            <a:off x="685800" y="1645920"/>
            <a:ext cx="1280160" cy="731520"/>
          </a:xfrm>
          <a:prstGeom prst="rect">
            <a:avLst/>
          </a:prstGeom>
          <a:noFill/>
          <a:ln/>
        </p:spPr>
        <p:txBody>
          <a:bodyPr wrap="square" lIns="0" tIns="0" rIns="0" bIns="0" rtlCol="0" anchor="ctr"/>
          <a:lstStyle/>
          <a:p>
            <a:pPr indent="0" marL="0">
              <a:buNone/>
            </a:pPr>
            <a:r>
              <a:rPr lang="en-US" sz="1100" b="1" spc="100" kern="0" dirty="0">
                <a:solidFill>
                  <a:schemeClr val="accent6"/>
                </a:solidFill>
              </a:rPr>
              <a:t>PRESENTATION</a:t>
            </a:r>
            <a:endParaRPr lang="en-US" sz="1100" dirty="0"/>
          </a:p>
        </p:txBody>
      </p:sp>
      <p:sp>
        <p:nvSpPr>
          <p:cNvPr id="9" name="Shape 6"/>
          <p:cNvSpPr/>
          <p:nvPr/>
        </p:nvSpPr>
        <p:spPr>
          <a:xfrm>
            <a:off x="2011680" y="1737360"/>
            <a:ext cx="2304288" cy="548640"/>
          </a:xfrm>
          <a:prstGeom prst="roundRect">
            <a:avLst>
              <a:gd name="adj" fmla="val 10000"/>
            </a:avLst>
          </a:prstGeom>
          <a:solidFill>
            <a:schemeClr val="bg1"/>
          </a:solidFill>
          <a:ln w="15875">
            <a:solidFill>
              <a:schemeClr val="accent2"/>
            </a:solidFill>
            <a:prstDash val="solid"/>
          </a:ln>
        </p:spPr>
      </p:sp>
      <p:sp>
        <p:nvSpPr>
          <p:cNvPr id="10" name="Text 7"/>
          <p:cNvSpPr txBox="1"/>
          <p:nvPr/>
        </p:nvSpPr>
        <p:spPr>
          <a:xfrm>
            <a:off x="2084832" y="1737360"/>
            <a:ext cx="2157984" cy="548640"/>
          </a:xfrm>
          <a:prstGeom prst="rect">
            <a:avLst/>
          </a:prstGeom>
          <a:noFill/>
          <a:ln/>
        </p:spPr>
        <p:txBody>
          <a:bodyPr wrap="square" lIns="0" tIns="0" rIns="0" bIns="0" rtlCol="0" anchor="ctr"/>
          <a:lstStyle/>
          <a:p>
            <a:pPr algn="ctr" indent="0" marL="0">
              <a:buNone/>
            </a:pPr>
            <a:r>
              <a:rPr lang="en-US" sz="1100" b="1" dirty="0">
                <a:solidFill>
                  <a:schemeClr val="tx2"/>
                </a:solidFill>
              </a:rPr>
              <a:t>Upload and run  (browser)</a:t>
            </a:r>
            <a:endParaRPr lang="en-US" sz="1100" dirty="0"/>
          </a:p>
        </p:txBody>
      </p:sp>
      <p:sp>
        <p:nvSpPr>
          <p:cNvPr id="11" name="Shape 8"/>
          <p:cNvSpPr/>
          <p:nvPr/>
        </p:nvSpPr>
        <p:spPr>
          <a:xfrm>
            <a:off x="4453128" y="1737360"/>
            <a:ext cx="2304288" cy="548640"/>
          </a:xfrm>
          <a:prstGeom prst="roundRect">
            <a:avLst>
              <a:gd name="adj" fmla="val 10000"/>
            </a:avLst>
          </a:prstGeom>
          <a:solidFill>
            <a:schemeClr val="bg1"/>
          </a:solidFill>
          <a:ln w="15875">
            <a:solidFill>
              <a:schemeClr val="accent2"/>
            </a:solidFill>
            <a:prstDash val="solid"/>
          </a:ln>
        </p:spPr>
      </p:sp>
      <p:sp>
        <p:nvSpPr>
          <p:cNvPr id="12" name="Text 9"/>
          <p:cNvSpPr txBox="1"/>
          <p:nvPr/>
        </p:nvSpPr>
        <p:spPr>
          <a:xfrm>
            <a:off x="4526280" y="1737360"/>
            <a:ext cx="2157984" cy="548640"/>
          </a:xfrm>
          <a:prstGeom prst="rect">
            <a:avLst/>
          </a:prstGeom>
          <a:noFill/>
          <a:ln/>
        </p:spPr>
        <p:txBody>
          <a:bodyPr wrap="square" lIns="0" tIns="0" rIns="0" bIns="0" rtlCol="0" anchor="ctr"/>
          <a:lstStyle/>
          <a:p>
            <a:pPr algn="ctr" indent="0" marL="0">
              <a:buNone/>
            </a:pPr>
            <a:r>
              <a:rPr lang="en-US" sz="1100" b="1" dirty="0">
                <a:solidFill>
                  <a:schemeClr val="tx2"/>
                </a:solidFill>
              </a:rPr>
              <a:t>Results and evidence drill-down</a:t>
            </a:r>
            <a:endParaRPr lang="en-US" sz="1100" dirty="0"/>
          </a:p>
        </p:txBody>
      </p:sp>
      <p:sp>
        <p:nvSpPr>
          <p:cNvPr id="13" name="Shape 10"/>
          <p:cNvSpPr/>
          <p:nvPr/>
        </p:nvSpPr>
        <p:spPr>
          <a:xfrm>
            <a:off x="6894576" y="1737360"/>
            <a:ext cx="2304288" cy="548640"/>
          </a:xfrm>
          <a:prstGeom prst="roundRect">
            <a:avLst>
              <a:gd name="adj" fmla="val 10000"/>
            </a:avLst>
          </a:prstGeom>
          <a:solidFill>
            <a:schemeClr val="bg1"/>
          </a:solidFill>
          <a:ln w="15875">
            <a:solidFill>
              <a:schemeClr val="accent2"/>
            </a:solidFill>
            <a:prstDash val="solid"/>
          </a:ln>
        </p:spPr>
      </p:sp>
      <p:sp>
        <p:nvSpPr>
          <p:cNvPr id="14" name="Text 11"/>
          <p:cNvSpPr txBox="1"/>
          <p:nvPr/>
        </p:nvSpPr>
        <p:spPr>
          <a:xfrm>
            <a:off x="6967728" y="1737360"/>
            <a:ext cx="2157984" cy="548640"/>
          </a:xfrm>
          <a:prstGeom prst="rect">
            <a:avLst/>
          </a:prstGeom>
          <a:noFill/>
          <a:ln/>
        </p:spPr>
        <p:txBody>
          <a:bodyPr wrap="square" lIns="0" tIns="0" rIns="0" bIns="0" rtlCol="0" anchor="ctr"/>
          <a:lstStyle/>
          <a:p>
            <a:pPr algn="ctr" indent="0" marL="0">
              <a:buNone/>
            </a:pPr>
            <a:r>
              <a:rPr lang="en-US" sz="1100" b="1" dirty="0">
                <a:solidFill>
                  <a:schemeClr val="tx2"/>
                </a:solidFill>
              </a:rPr>
              <a:t>Dashboard tabs  (heatmap, dossiers, actions)</a:t>
            </a:r>
            <a:endParaRPr lang="en-US" sz="1100" dirty="0"/>
          </a:p>
        </p:txBody>
      </p:sp>
      <p:sp>
        <p:nvSpPr>
          <p:cNvPr id="15" name="Shape 12"/>
          <p:cNvSpPr/>
          <p:nvPr/>
        </p:nvSpPr>
        <p:spPr>
          <a:xfrm>
            <a:off x="9336024" y="1737360"/>
            <a:ext cx="2304288" cy="548640"/>
          </a:xfrm>
          <a:prstGeom prst="roundRect">
            <a:avLst>
              <a:gd name="adj" fmla="val 10000"/>
            </a:avLst>
          </a:prstGeom>
          <a:solidFill>
            <a:schemeClr val="bg1"/>
          </a:solidFill>
          <a:ln w="15875">
            <a:solidFill>
              <a:schemeClr val="accent2"/>
            </a:solidFill>
            <a:prstDash val="solid"/>
          </a:ln>
        </p:spPr>
      </p:sp>
      <p:sp>
        <p:nvSpPr>
          <p:cNvPr id="16" name="Text 13"/>
          <p:cNvSpPr txBox="1"/>
          <p:nvPr/>
        </p:nvSpPr>
        <p:spPr>
          <a:xfrm>
            <a:off x="9409176" y="1737360"/>
            <a:ext cx="2157984" cy="548640"/>
          </a:xfrm>
          <a:prstGeom prst="rect">
            <a:avLst/>
          </a:prstGeom>
          <a:noFill/>
          <a:ln/>
        </p:spPr>
        <p:txBody>
          <a:bodyPr wrap="square" lIns="0" tIns="0" rIns="0" bIns="0" rtlCol="0" anchor="ctr"/>
          <a:lstStyle/>
          <a:p>
            <a:pPr algn="ctr" indent="0" marL="0">
              <a:buNone/>
            </a:pPr>
            <a:r>
              <a:rPr lang="en-US" sz="1100" b="1" dirty="0">
                <a:solidFill>
                  <a:schemeClr val="tx2"/>
                </a:solidFill>
              </a:rPr>
              <a:t>Workbook download  (.xlsx)</a:t>
            </a:r>
            <a:endParaRPr lang="en-US" sz="1100" dirty="0"/>
          </a:p>
        </p:txBody>
      </p:sp>
      <p:sp>
        <p:nvSpPr>
          <p:cNvPr id="17" name="Shape 14"/>
          <p:cNvSpPr/>
          <p:nvPr/>
        </p:nvSpPr>
        <p:spPr>
          <a:xfrm>
            <a:off x="548640" y="2487168"/>
            <a:ext cx="11091672" cy="640080"/>
          </a:xfrm>
          <a:prstGeom prst="roundRect">
            <a:avLst>
              <a:gd name="adj" fmla="val 10000"/>
            </a:avLst>
          </a:prstGeom>
          <a:solidFill>
            <a:schemeClr val="bg2"/>
          </a:solidFill>
          <a:ln w="6350">
            <a:solidFill>
              <a:schemeClr val="bg2"/>
            </a:solidFill>
            <a:prstDash val="solid"/>
          </a:ln>
        </p:spPr>
      </p:sp>
      <p:sp>
        <p:nvSpPr>
          <p:cNvPr id="18" name="Text 15"/>
          <p:cNvSpPr txBox="1"/>
          <p:nvPr/>
        </p:nvSpPr>
        <p:spPr>
          <a:xfrm>
            <a:off x="685800" y="2487168"/>
            <a:ext cx="1280160" cy="640080"/>
          </a:xfrm>
          <a:prstGeom prst="rect">
            <a:avLst/>
          </a:prstGeom>
          <a:noFill/>
          <a:ln/>
        </p:spPr>
        <p:txBody>
          <a:bodyPr wrap="square" lIns="0" tIns="0" rIns="0" bIns="0" rtlCol="0" anchor="ctr"/>
          <a:lstStyle/>
          <a:p>
            <a:pPr indent="0" marL="0">
              <a:buNone/>
            </a:pPr>
            <a:r>
              <a:rPr lang="en-US" sz="1100" b="1" spc="100" kern="0" dirty="0">
                <a:solidFill>
                  <a:schemeClr val="accent6"/>
                </a:solidFill>
              </a:rPr>
              <a:t>API  (localhost)</a:t>
            </a:r>
            <a:endParaRPr lang="en-US" sz="1100" dirty="0"/>
          </a:p>
        </p:txBody>
      </p:sp>
      <p:sp>
        <p:nvSpPr>
          <p:cNvPr id="19" name="Shape 16"/>
          <p:cNvSpPr/>
          <p:nvPr/>
        </p:nvSpPr>
        <p:spPr>
          <a:xfrm>
            <a:off x="2011680" y="2560320"/>
            <a:ext cx="3118104" cy="493776"/>
          </a:xfrm>
          <a:prstGeom prst="roundRect">
            <a:avLst>
              <a:gd name="adj" fmla="val 11111"/>
            </a:avLst>
          </a:prstGeom>
          <a:solidFill>
            <a:schemeClr val="bg1"/>
          </a:solidFill>
          <a:ln w="15875">
            <a:solidFill>
              <a:schemeClr val="accent2"/>
            </a:solidFill>
            <a:prstDash val="solid"/>
          </a:ln>
        </p:spPr>
      </p:sp>
      <p:sp>
        <p:nvSpPr>
          <p:cNvPr id="20" name="Text 17"/>
          <p:cNvSpPr txBox="1"/>
          <p:nvPr/>
        </p:nvSpPr>
        <p:spPr>
          <a:xfrm>
            <a:off x="2084832" y="2560320"/>
            <a:ext cx="2971800" cy="493776"/>
          </a:xfrm>
          <a:prstGeom prst="rect">
            <a:avLst/>
          </a:prstGeom>
          <a:noFill/>
          <a:ln/>
        </p:spPr>
        <p:txBody>
          <a:bodyPr wrap="square" lIns="0" tIns="0" rIns="0" bIns="0" rtlCol="0" anchor="ctr"/>
          <a:lstStyle/>
          <a:p>
            <a:pPr algn="ctr" indent="0" marL="0">
              <a:buNone/>
            </a:pPr>
            <a:r>
              <a:rPr lang="en-US" sz="1100" b="1" dirty="0">
                <a:solidFill>
                  <a:schemeClr val="tx2"/>
                </a:solidFill>
              </a:rPr>
              <a:t>Flask: /api/analyze  /api/job  /api/download</a:t>
            </a:r>
            <a:endParaRPr lang="en-US" sz="1100" dirty="0"/>
          </a:p>
        </p:txBody>
      </p:sp>
      <p:sp>
        <p:nvSpPr>
          <p:cNvPr id="21" name="Shape 18"/>
          <p:cNvSpPr/>
          <p:nvPr/>
        </p:nvSpPr>
        <p:spPr>
          <a:xfrm>
            <a:off x="5266944" y="2560320"/>
            <a:ext cx="3118104" cy="493776"/>
          </a:xfrm>
          <a:prstGeom prst="roundRect">
            <a:avLst>
              <a:gd name="adj" fmla="val 11111"/>
            </a:avLst>
          </a:prstGeom>
          <a:solidFill>
            <a:schemeClr val="bg1"/>
          </a:solidFill>
          <a:ln w="15875">
            <a:solidFill>
              <a:schemeClr val="accent2"/>
            </a:solidFill>
            <a:prstDash val="solid"/>
          </a:ln>
        </p:spPr>
      </p:sp>
      <p:sp>
        <p:nvSpPr>
          <p:cNvPr id="22" name="Text 19"/>
          <p:cNvSpPr txBox="1"/>
          <p:nvPr/>
        </p:nvSpPr>
        <p:spPr>
          <a:xfrm>
            <a:off x="5340096" y="2560320"/>
            <a:ext cx="2971800" cy="493776"/>
          </a:xfrm>
          <a:prstGeom prst="rect">
            <a:avLst/>
          </a:prstGeom>
          <a:noFill/>
          <a:ln/>
        </p:spPr>
        <p:txBody>
          <a:bodyPr wrap="square" lIns="0" tIns="0" rIns="0" bIns="0" rtlCol="0" anchor="ctr"/>
          <a:lstStyle/>
          <a:p>
            <a:pPr algn="ctr" indent="0" marL="0">
              <a:buNone/>
            </a:pPr>
            <a:r>
              <a:rPr lang="en-US" sz="1100" b="1" dirty="0">
                <a:solidFill>
                  <a:schemeClr val="tx2"/>
                </a:solidFill>
              </a:rPr>
              <a:t>Background job runner with progress log</a:t>
            </a:r>
            <a:endParaRPr lang="en-US" sz="1100" dirty="0"/>
          </a:p>
        </p:txBody>
      </p:sp>
      <p:sp>
        <p:nvSpPr>
          <p:cNvPr id="23" name="Shape 20"/>
          <p:cNvSpPr/>
          <p:nvPr/>
        </p:nvSpPr>
        <p:spPr>
          <a:xfrm>
            <a:off x="8522208" y="2560320"/>
            <a:ext cx="3118104" cy="493776"/>
          </a:xfrm>
          <a:prstGeom prst="roundRect">
            <a:avLst>
              <a:gd name="adj" fmla="val 11111"/>
            </a:avLst>
          </a:prstGeom>
          <a:solidFill>
            <a:schemeClr val="bg1"/>
          </a:solidFill>
          <a:ln w="15875">
            <a:solidFill>
              <a:schemeClr val="accent2"/>
            </a:solidFill>
            <a:prstDash val="solid"/>
          </a:ln>
        </p:spPr>
      </p:sp>
      <p:sp>
        <p:nvSpPr>
          <p:cNvPr id="24" name="Text 21"/>
          <p:cNvSpPr txBox="1"/>
          <p:nvPr/>
        </p:nvSpPr>
        <p:spPr>
          <a:xfrm>
            <a:off x="8595360" y="2560320"/>
            <a:ext cx="2971800" cy="493776"/>
          </a:xfrm>
          <a:prstGeom prst="rect">
            <a:avLst/>
          </a:prstGeom>
          <a:noFill/>
          <a:ln/>
        </p:spPr>
        <p:txBody>
          <a:bodyPr wrap="square" lIns="0" tIns="0" rIns="0" bIns="0" rtlCol="0" anchor="ctr"/>
          <a:lstStyle/>
          <a:p>
            <a:pPr algn="ctr" indent="0" marL="0">
              <a:buNone/>
            </a:pPr>
            <a:r>
              <a:rPr lang="en-US" sz="1100" b="1" dirty="0">
                <a:solidFill>
                  <a:schemeClr val="tx2"/>
                </a:solidFill>
              </a:rPr>
              <a:t>Upload validation: .xlsx only, 5 MB</a:t>
            </a:r>
            <a:endParaRPr lang="en-US" sz="1100" dirty="0"/>
          </a:p>
        </p:txBody>
      </p:sp>
      <p:sp>
        <p:nvSpPr>
          <p:cNvPr id="25" name="Shape 22"/>
          <p:cNvSpPr/>
          <p:nvPr/>
        </p:nvSpPr>
        <p:spPr>
          <a:xfrm>
            <a:off x="548640" y="3236976"/>
            <a:ext cx="11091672" cy="2286000"/>
          </a:xfrm>
          <a:prstGeom prst="roundRect">
            <a:avLst>
              <a:gd name="adj" fmla="val 2800"/>
            </a:avLst>
          </a:prstGeom>
          <a:solidFill>
            <a:schemeClr val="bg2"/>
          </a:solidFill>
          <a:ln w="6350">
            <a:solidFill>
              <a:schemeClr val="bg2"/>
            </a:solidFill>
            <a:prstDash val="solid"/>
          </a:ln>
        </p:spPr>
      </p:sp>
      <p:sp>
        <p:nvSpPr>
          <p:cNvPr id="26" name="Text 23"/>
          <p:cNvSpPr txBox="1"/>
          <p:nvPr/>
        </p:nvSpPr>
        <p:spPr>
          <a:xfrm>
            <a:off x="685800" y="3236976"/>
            <a:ext cx="1280160" cy="2286000"/>
          </a:xfrm>
          <a:prstGeom prst="rect">
            <a:avLst/>
          </a:prstGeom>
          <a:noFill/>
          <a:ln/>
        </p:spPr>
        <p:txBody>
          <a:bodyPr wrap="square" lIns="0" tIns="0" rIns="0" bIns="0" rtlCol="0" anchor="ctr"/>
          <a:lstStyle/>
          <a:p>
            <a:pPr indent="0" marL="0">
              <a:buNone/>
            </a:pPr>
            <a:r>
              <a:rPr lang="en-US" sz="1100" b="1" spc="100" kern="0" dirty="0">
                <a:solidFill>
                  <a:schemeClr val="accent6"/>
                </a:solidFill>
              </a:rPr>
              <a:t>PIPELINE</a:t>
            </a:r>
            <a:endParaRPr lang="en-US" sz="1100" dirty="0"/>
          </a:p>
        </p:txBody>
      </p:sp>
      <p:sp>
        <p:nvSpPr>
          <p:cNvPr id="27" name="Shape 24"/>
          <p:cNvSpPr/>
          <p:nvPr/>
        </p:nvSpPr>
        <p:spPr>
          <a:xfrm>
            <a:off x="2011680" y="3328416"/>
            <a:ext cx="1513332" cy="2103120"/>
          </a:xfrm>
          <a:prstGeom prst="roundRect">
            <a:avLst>
              <a:gd name="adj" fmla="val 3625"/>
            </a:avLst>
          </a:prstGeom>
          <a:solidFill>
            <a:schemeClr val="bg1"/>
          </a:solidFill>
          <a:ln w="15875">
            <a:solidFill>
              <a:schemeClr val="accent1"/>
            </a:solidFill>
            <a:prstDash val="solid"/>
          </a:ln>
        </p:spPr>
      </p:sp>
      <p:sp>
        <p:nvSpPr>
          <p:cNvPr id="28" name="Text 25"/>
          <p:cNvSpPr txBox="1"/>
          <p:nvPr/>
        </p:nvSpPr>
        <p:spPr>
          <a:xfrm>
            <a:off x="208483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1  Criticality</a:t>
            </a:r>
            <a:endParaRPr lang="en-US" sz="1200" dirty="0"/>
          </a:p>
        </p:txBody>
      </p:sp>
      <p:sp>
        <p:nvSpPr>
          <p:cNvPr id="29" name="Text 26"/>
          <p:cNvSpPr txBox="1"/>
          <p:nvPr/>
        </p:nvSpPr>
        <p:spPr>
          <a:xfrm>
            <a:off x="208483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5-factor weighted rubric</a:t>
            </a:r>
            <a:endParaRPr lang="en-US" sz="1100" dirty="0"/>
          </a:p>
          <a:p>
            <a:pPr marL="177800" indent="-177800">
              <a:buSzPct val="100000"/>
              <a:buChar char="•"/>
            </a:pPr>
            <a:r>
              <a:rPr lang="en-US" sz="1100" dirty="0">
                <a:solidFill>
                  <a:schemeClr val="tx1"/>
                </a:solidFill>
              </a:rPr>
              <a:t>Hard floors</a:t>
            </a:r>
            <a:endParaRPr lang="en-US" sz="1100" dirty="0"/>
          </a:p>
          <a:p>
            <a:pPr marL="177800" indent="-177800">
              <a:buSzPct val="100000"/>
              <a:buChar char="•"/>
            </a:pPr>
            <a:r>
              <a:rPr lang="en-US" sz="1100" dirty="0">
                <a:solidFill>
                  <a:schemeClr val="tx1"/>
                </a:solidFill>
              </a:rPr>
              <a:t>Depth plan</a:t>
            </a:r>
            <a:endParaRPr lang="en-US" sz="1100" dirty="0"/>
          </a:p>
        </p:txBody>
      </p:sp>
      <p:sp>
        <p:nvSpPr>
          <p:cNvPr id="30" name="Text 27"/>
          <p:cNvSpPr txBox="1"/>
          <p:nvPr/>
        </p:nvSpPr>
        <p:spPr>
          <a:xfrm>
            <a:off x="208483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criticality.py</a:t>
            </a:r>
            <a:endParaRPr lang="en-US" sz="1000" dirty="0"/>
          </a:p>
        </p:txBody>
      </p:sp>
      <p:sp>
        <p:nvSpPr>
          <p:cNvPr id="31" name="Shape 28"/>
          <p:cNvSpPr/>
          <p:nvPr/>
        </p:nvSpPr>
        <p:spPr>
          <a:xfrm>
            <a:off x="3634740" y="3328416"/>
            <a:ext cx="1513332" cy="2103120"/>
          </a:xfrm>
          <a:prstGeom prst="roundRect">
            <a:avLst>
              <a:gd name="adj" fmla="val 3625"/>
            </a:avLst>
          </a:prstGeom>
          <a:solidFill>
            <a:schemeClr val="bg1"/>
          </a:solidFill>
          <a:ln w="15875">
            <a:solidFill>
              <a:schemeClr val="accent1"/>
            </a:solidFill>
            <a:prstDash val="solid"/>
          </a:ln>
        </p:spPr>
      </p:sp>
      <p:sp>
        <p:nvSpPr>
          <p:cNvPr id="32" name="Text 29"/>
          <p:cNvSpPr txBox="1"/>
          <p:nvPr/>
        </p:nvSpPr>
        <p:spPr>
          <a:xfrm>
            <a:off x="370789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2  Collection</a:t>
            </a:r>
            <a:endParaRPr lang="en-US" sz="1200" dirty="0"/>
          </a:p>
        </p:txBody>
      </p:sp>
      <p:sp>
        <p:nvSpPr>
          <p:cNvPr id="33" name="Text 30"/>
          <p:cNvSpPr txBox="1"/>
          <p:nvPr/>
        </p:nvSpPr>
        <p:spPr>
          <a:xfrm>
            <a:off x="370789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Link discovery</a:t>
            </a:r>
            <a:endParaRPr lang="en-US" sz="1100" dirty="0"/>
          </a:p>
          <a:p>
            <a:pPr marL="177800" indent="-177800">
              <a:buSzPct val="100000"/>
              <a:buChar char="•"/>
            </a:pPr>
            <a:r>
              <a:rPr lang="en-US" sz="1100" dirty="0">
                <a:solidFill>
                  <a:schemeClr val="tx1"/>
                </a:solidFill>
              </a:rPr>
              <a:t>robots.txt, rate limit</a:t>
            </a:r>
            <a:endParaRPr lang="en-US" sz="1100" dirty="0"/>
          </a:p>
          <a:p>
            <a:pPr marL="177800" indent="-177800">
              <a:buSzPct val="100000"/>
              <a:buChar char="•"/>
            </a:pPr>
            <a:r>
              <a:rPr lang="en-US" sz="1100" dirty="0">
                <a:solidFill>
                  <a:schemeClr val="tx1"/>
                </a:solidFill>
              </a:rPr>
              <a:t>SSRF guard, soft-404 filter</a:t>
            </a:r>
            <a:endParaRPr lang="en-US" sz="1100" dirty="0"/>
          </a:p>
          <a:p>
            <a:pPr marL="177800" indent="-177800">
              <a:buSzPct val="100000"/>
              <a:buChar char="•"/>
            </a:pPr>
            <a:r>
              <a:rPr lang="en-US" sz="1100" dirty="0">
                <a:solidFill>
                  <a:schemeClr val="tx1"/>
                </a:solidFill>
              </a:rPr>
              <a:t>SHA-256 cache</a:t>
            </a:r>
            <a:endParaRPr lang="en-US" sz="1100" dirty="0"/>
          </a:p>
        </p:txBody>
      </p:sp>
      <p:sp>
        <p:nvSpPr>
          <p:cNvPr id="34" name="Text 31"/>
          <p:cNvSpPr txBox="1"/>
          <p:nvPr/>
        </p:nvSpPr>
        <p:spPr>
          <a:xfrm>
            <a:off x="370789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collect.py</a:t>
            </a:r>
            <a:endParaRPr lang="en-US" sz="1000" dirty="0"/>
          </a:p>
        </p:txBody>
      </p:sp>
      <p:sp>
        <p:nvSpPr>
          <p:cNvPr id="35" name="Shape 32"/>
          <p:cNvSpPr/>
          <p:nvPr/>
        </p:nvSpPr>
        <p:spPr>
          <a:xfrm>
            <a:off x="5257800" y="3328416"/>
            <a:ext cx="1513332" cy="2103120"/>
          </a:xfrm>
          <a:prstGeom prst="roundRect">
            <a:avLst>
              <a:gd name="adj" fmla="val 3625"/>
            </a:avLst>
          </a:prstGeom>
          <a:solidFill>
            <a:schemeClr val="bg1"/>
          </a:solidFill>
          <a:ln w="15875">
            <a:solidFill>
              <a:schemeClr val="accent1"/>
            </a:solidFill>
            <a:prstDash val="solid"/>
          </a:ln>
        </p:spPr>
      </p:sp>
      <p:sp>
        <p:nvSpPr>
          <p:cNvPr id="36" name="Text 33"/>
          <p:cNvSpPr txBox="1"/>
          <p:nvPr/>
        </p:nvSpPr>
        <p:spPr>
          <a:xfrm>
            <a:off x="533095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3  Signals</a:t>
            </a:r>
            <a:endParaRPr lang="en-US" sz="1200" dirty="0"/>
          </a:p>
        </p:txBody>
      </p:sp>
      <p:sp>
        <p:nvSpPr>
          <p:cNvPr id="37" name="Text 34"/>
          <p:cNvSpPr txBox="1"/>
          <p:nvPr/>
        </p:nvSpPr>
        <p:spPr>
          <a:xfrm>
            <a:off x="533095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Sentence split, AI lexicon</a:t>
            </a:r>
            <a:endParaRPr lang="en-US" sz="1100" dirty="0"/>
          </a:p>
          <a:p>
            <a:pPr marL="177800" indent="-177800">
              <a:buSzPct val="100000"/>
              <a:buChar char="•"/>
            </a:pPr>
            <a:r>
              <a:rPr lang="en-US" sz="1100" dirty="0">
                <a:solidFill>
                  <a:schemeClr val="tx1"/>
                </a:solidFill>
              </a:rPr>
              <a:t>8 signal types</a:t>
            </a:r>
            <a:endParaRPr lang="en-US" sz="1100" dirty="0"/>
          </a:p>
          <a:p>
            <a:pPr marL="177800" indent="-177800">
              <a:buSzPct val="100000"/>
              <a:buChar char="•"/>
            </a:pPr>
            <a:r>
              <a:rPr lang="en-US" sz="1100" dirty="0">
                <a:solidFill>
                  <a:schemeClr val="tx1"/>
                </a:solidFill>
              </a:rPr>
              <a:t>Provider detection</a:t>
            </a:r>
            <a:endParaRPr lang="en-US" sz="1100" dirty="0"/>
          </a:p>
          <a:p>
            <a:pPr marL="177800" indent="-177800">
              <a:buSzPct val="100000"/>
              <a:buChar char="•"/>
            </a:pPr>
            <a:r>
              <a:rPr lang="en-US" sz="1100" dirty="0">
                <a:solidFill>
                  <a:schemeClr val="tx1"/>
                </a:solidFill>
              </a:rPr>
              <a:t>Optional LLM assist</a:t>
            </a:r>
            <a:endParaRPr lang="en-US" sz="1100" dirty="0"/>
          </a:p>
        </p:txBody>
      </p:sp>
      <p:sp>
        <p:nvSpPr>
          <p:cNvPr id="38" name="Text 35"/>
          <p:cNvSpPr txBox="1"/>
          <p:nvPr/>
        </p:nvSpPr>
        <p:spPr>
          <a:xfrm>
            <a:off x="533095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signals.py</a:t>
            </a:r>
            <a:endParaRPr lang="en-US" sz="1000" dirty="0"/>
          </a:p>
        </p:txBody>
      </p:sp>
      <p:sp>
        <p:nvSpPr>
          <p:cNvPr id="39" name="Shape 36"/>
          <p:cNvSpPr/>
          <p:nvPr/>
        </p:nvSpPr>
        <p:spPr>
          <a:xfrm>
            <a:off x="6880860" y="3328416"/>
            <a:ext cx="1513332" cy="2103120"/>
          </a:xfrm>
          <a:prstGeom prst="roundRect">
            <a:avLst>
              <a:gd name="adj" fmla="val 3625"/>
            </a:avLst>
          </a:prstGeom>
          <a:solidFill>
            <a:schemeClr val="bg1"/>
          </a:solidFill>
          <a:ln w="15875">
            <a:solidFill>
              <a:schemeClr val="accent1"/>
            </a:solidFill>
            <a:prstDash val="solid"/>
          </a:ln>
        </p:spPr>
      </p:sp>
      <p:sp>
        <p:nvSpPr>
          <p:cNvPr id="40" name="Text 37"/>
          <p:cNvSpPr txBox="1"/>
          <p:nvPr/>
        </p:nvSpPr>
        <p:spPr>
          <a:xfrm>
            <a:off x="695401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4  Weighting</a:t>
            </a:r>
            <a:endParaRPr lang="en-US" sz="1200" dirty="0"/>
          </a:p>
        </p:txBody>
      </p:sp>
      <p:sp>
        <p:nvSpPr>
          <p:cNvPr id="41" name="Text 38"/>
          <p:cNvSpPr txBox="1"/>
          <p:nvPr/>
        </p:nvSpPr>
        <p:spPr>
          <a:xfrm>
            <a:off x="695401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Source x type x trust</a:t>
            </a:r>
            <a:endParaRPr lang="en-US" sz="1100" dirty="0"/>
          </a:p>
          <a:p>
            <a:pPr marL="177800" indent="-177800">
              <a:buSzPct val="100000"/>
              <a:buChar char="•"/>
            </a:pPr>
            <a:r>
              <a:rPr lang="en-US" sz="1100" dirty="0">
                <a:solidFill>
                  <a:schemeClr val="tx1"/>
                </a:solidFill>
              </a:rPr>
              <a:t>Combine by source class</a:t>
            </a:r>
            <a:endParaRPr lang="en-US" sz="1100" dirty="0"/>
          </a:p>
          <a:p>
            <a:pPr marL="177800" indent="-177800">
              <a:buSzPct val="100000"/>
              <a:buChar char="•"/>
            </a:pPr>
            <a:r>
              <a:rPr lang="en-US" sz="1100" dirty="0">
                <a:solidFill>
                  <a:schemeClr val="tx1"/>
                </a:solidFill>
              </a:rPr>
              <a:t>Evidence tags</a:t>
            </a:r>
            <a:endParaRPr lang="en-US" sz="1100" dirty="0"/>
          </a:p>
          <a:p>
            <a:pPr marL="177800" indent="-177800">
              <a:buSzPct val="100000"/>
              <a:buChar char="•"/>
            </a:pPr>
            <a:r>
              <a:rPr lang="en-US" sz="1100" dirty="0">
                <a:solidFill>
                  <a:schemeClr val="tx1"/>
                </a:solidFill>
              </a:rPr>
              <a:t>Coverage rule for “no”</a:t>
            </a:r>
            <a:endParaRPr lang="en-US" sz="1100" dirty="0"/>
          </a:p>
        </p:txBody>
      </p:sp>
      <p:sp>
        <p:nvSpPr>
          <p:cNvPr id="42" name="Text 39"/>
          <p:cNvSpPr txBox="1"/>
          <p:nvPr/>
        </p:nvSpPr>
        <p:spPr>
          <a:xfrm>
            <a:off x="695401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scoring.py</a:t>
            </a:r>
            <a:endParaRPr lang="en-US" sz="1000" dirty="0"/>
          </a:p>
        </p:txBody>
      </p:sp>
      <p:sp>
        <p:nvSpPr>
          <p:cNvPr id="43" name="Shape 40"/>
          <p:cNvSpPr/>
          <p:nvPr/>
        </p:nvSpPr>
        <p:spPr>
          <a:xfrm>
            <a:off x="8503920" y="3328416"/>
            <a:ext cx="1513332" cy="2103120"/>
          </a:xfrm>
          <a:prstGeom prst="roundRect">
            <a:avLst>
              <a:gd name="adj" fmla="val 3625"/>
            </a:avLst>
          </a:prstGeom>
          <a:solidFill>
            <a:schemeClr val="bg1"/>
          </a:solidFill>
          <a:ln w="15875">
            <a:solidFill>
              <a:schemeClr val="accent1"/>
            </a:solidFill>
            <a:prstDash val="solid"/>
          </a:ln>
        </p:spPr>
      </p:sp>
      <p:sp>
        <p:nvSpPr>
          <p:cNvPr id="44" name="Text 41"/>
          <p:cNvSpPr txBox="1"/>
          <p:nvPr/>
        </p:nvSpPr>
        <p:spPr>
          <a:xfrm>
            <a:off x="857707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5  Risk engine</a:t>
            </a:r>
            <a:endParaRPr lang="en-US" sz="1200" dirty="0"/>
          </a:p>
        </p:txBody>
      </p:sp>
      <p:sp>
        <p:nvSpPr>
          <p:cNvPr id="45" name="Text 42"/>
          <p:cNvSpPr txBox="1"/>
          <p:nvPr/>
        </p:nvSpPr>
        <p:spPr>
          <a:xfrm>
            <a:off x="857707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Severity formula</a:t>
            </a:r>
            <a:endParaRPr lang="en-US" sz="1100" dirty="0"/>
          </a:p>
          <a:p>
            <a:pPr marL="177800" indent="-177800">
              <a:buSzPct val="100000"/>
              <a:buChar char="•"/>
            </a:pPr>
            <a:r>
              <a:rPr lang="en-US" sz="1100" dirty="0">
                <a:solidFill>
                  <a:schemeClr val="tx1"/>
                </a:solidFill>
              </a:rPr>
              <a:t>Confidence cap</a:t>
            </a:r>
            <a:endParaRPr lang="en-US" sz="1100" dirty="0"/>
          </a:p>
          <a:p>
            <a:pPr marL="177800" indent="-177800">
              <a:buSzPct val="100000"/>
              <a:buChar char="•"/>
            </a:pPr>
            <a:r>
              <a:rPr lang="en-US" sz="1100" dirty="0">
                <a:solidFill>
                  <a:schemeClr val="tx1"/>
                </a:solidFill>
              </a:rPr>
              <a:t>Flags, action SLA</a:t>
            </a:r>
            <a:endParaRPr lang="en-US" sz="1100" dirty="0"/>
          </a:p>
        </p:txBody>
      </p:sp>
      <p:sp>
        <p:nvSpPr>
          <p:cNvPr id="46" name="Text 43"/>
          <p:cNvSpPr txBox="1"/>
          <p:nvPr/>
        </p:nvSpPr>
        <p:spPr>
          <a:xfrm>
            <a:off x="857707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engine.py</a:t>
            </a:r>
            <a:endParaRPr lang="en-US" sz="1000" dirty="0"/>
          </a:p>
        </p:txBody>
      </p:sp>
      <p:sp>
        <p:nvSpPr>
          <p:cNvPr id="47" name="Shape 44"/>
          <p:cNvSpPr/>
          <p:nvPr/>
        </p:nvSpPr>
        <p:spPr>
          <a:xfrm>
            <a:off x="10126980" y="3328416"/>
            <a:ext cx="1513332" cy="2103120"/>
          </a:xfrm>
          <a:prstGeom prst="roundRect">
            <a:avLst>
              <a:gd name="adj" fmla="val 3625"/>
            </a:avLst>
          </a:prstGeom>
          <a:solidFill>
            <a:schemeClr val="bg1"/>
          </a:solidFill>
          <a:ln w="15875">
            <a:solidFill>
              <a:schemeClr val="accent1"/>
            </a:solidFill>
            <a:prstDash val="solid"/>
          </a:ln>
        </p:spPr>
      </p:sp>
      <p:sp>
        <p:nvSpPr>
          <p:cNvPr id="48" name="Text 45"/>
          <p:cNvSpPr txBox="1"/>
          <p:nvPr/>
        </p:nvSpPr>
        <p:spPr>
          <a:xfrm>
            <a:off x="10200132" y="3383280"/>
            <a:ext cx="1367028" cy="384048"/>
          </a:xfrm>
          <a:prstGeom prst="rect">
            <a:avLst/>
          </a:prstGeom>
          <a:noFill/>
          <a:ln/>
        </p:spPr>
        <p:txBody>
          <a:bodyPr wrap="square" lIns="0" tIns="0" rIns="0" bIns="0" rtlCol="0" anchor="t"/>
          <a:lstStyle/>
          <a:p>
            <a:pPr indent="0" marL="0">
              <a:buNone/>
            </a:pPr>
            <a:r>
              <a:rPr lang="en-US" sz="1200" b="1" dirty="0">
                <a:solidFill>
                  <a:schemeClr val="tx2"/>
                </a:solidFill>
              </a:rPr>
              <a:t>6  Writer</a:t>
            </a:r>
            <a:endParaRPr lang="en-US" sz="1200" dirty="0"/>
          </a:p>
        </p:txBody>
      </p:sp>
      <p:sp>
        <p:nvSpPr>
          <p:cNvPr id="49" name="Text 46"/>
          <p:cNvSpPr txBox="1"/>
          <p:nvPr/>
        </p:nvSpPr>
        <p:spPr>
          <a:xfrm>
            <a:off x="10200132" y="3785616"/>
            <a:ext cx="1367028" cy="1600200"/>
          </a:xfrm>
          <a:prstGeom prst="rect">
            <a:avLst/>
          </a:prstGeom>
          <a:noFill/>
          <a:ln/>
        </p:spPr>
        <p:txBody>
          <a:bodyPr wrap="square" lIns="0" tIns="0" rIns="0" bIns="0" rtlCol="0" anchor="t"/>
          <a:lstStyle/>
          <a:p>
            <a:pPr marL="177800" indent="-177800">
              <a:buSzPct val="100000"/>
              <a:buChar char="•"/>
            </a:pPr>
            <a:r>
              <a:rPr lang="en-US" sz="1100" dirty="0">
                <a:solidFill>
                  <a:schemeClr val="tx1"/>
                </a:solidFill>
              </a:rPr>
              <a:t>Columns L–V only</a:t>
            </a:r>
            <a:endParaRPr lang="en-US" sz="1100" dirty="0"/>
          </a:p>
          <a:p>
            <a:pPr marL="177800" indent="-177800">
              <a:buSzPct val="100000"/>
              <a:buChar char="•"/>
            </a:pPr>
            <a:r>
              <a:rPr lang="en-US" sz="1100" dirty="0">
                <a:solidFill>
                  <a:schemeClr val="tx1"/>
                </a:solidFill>
              </a:rPr>
              <a:t>Evidence Log sheet</a:t>
            </a:r>
            <a:endParaRPr lang="en-US" sz="1100" dirty="0"/>
          </a:p>
          <a:p>
            <a:pPr marL="177800" indent="-177800">
              <a:buSzPct val="100000"/>
              <a:buChar char="•"/>
            </a:pPr>
            <a:r>
              <a:rPr lang="en-US" sz="1100" dirty="0">
                <a:solidFill>
                  <a:schemeClr val="tx1"/>
                </a:solidFill>
              </a:rPr>
              <a:t>Criticality scores</a:t>
            </a:r>
            <a:endParaRPr lang="en-US" sz="1100" dirty="0"/>
          </a:p>
        </p:txBody>
      </p:sp>
      <p:sp>
        <p:nvSpPr>
          <p:cNvPr id="50" name="Text 47"/>
          <p:cNvSpPr txBox="1"/>
          <p:nvPr/>
        </p:nvSpPr>
        <p:spPr>
          <a:xfrm>
            <a:off x="10200132" y="5175504"/>
            <a:ext cx="1367028" cy="219456"/>
          </a:xfrm>
          <a:prstGeom prst="rect">
            <a:avLst/>
          </a:prstGeom>
          <a:noFill/>
          <a:ln/>
        </p:spPr>
        <p:txBody>
          <a:bodyPr wrap="square" lIns="0" tIns="0" rIns="0" bIns="0" rtlCol="0" anchor="t"/>
          <a:lstStyle/>
          <a:p>
            <a:pPr indent="0" marL="0">
              <a:buNone/>
            </a:pPr>
            <a:r>
              <a:rPr lang="en-US" sz="1000" i="1" dirty="0">
                <a:solidFill>
                  <a:schemeClr val="accent6"/>
                </a:solidFill>
              </a:rPr>
              <a:t>excel_io.py</a:t>
            </a:r>
            <a:endParaRPr lang="en-US" sz="1000" dirty="0"/>
          </a:p>
        </p:txBody>
      </p:sp>
      <p:sp>
        <p:nvSpPr>
          <p:cNvPr id="51" name="Shape 48"/>
          <p:cNvSpPr/>
          <p:nvPr/>
        </p:nvSpPr>
        <p:spPr>
          <a:xfrm>
            <a:off x="548640" y="5614416"/>
            <a:ext cx="11091672" cy="658368"/>
          </a:xfrm>
          <a:prstGeom prst="roundRect">
            <a:avLst>
              <a:gd name="adj" fmla="val 9722"/>
            </a:avLst>
          </a:prstGeom>
          <a:solidFill>
            <a:schemeClr val="bg2"/>
          </a:solidFill>
          <a:ln w="6350">
            <a:solidFill>
              <a:schemeClr val="bg2"/>
            </a:solidFill>
            <a:prstDash val="solid"/>
          </a:ln>
        </p:spPr>
      </p:sp>
      <p:sp>
        <p:nvSpPr>
          <p:cNvPr id="52" name="Text 49"/>
          <p:cNvSpPr txBox="1"/>
          <p:nvPr/>
        </p:nvSpPr>
        <p:spPr>
          <a:xfrm>
            <a:off x="685800" y="5614416"/>
            <a:ext cx="1280160" cy="658368"/>
          </a:xfrm>
          <a:prstGeom prst="rect">
            <a:avLst/>
          </a:prstGeom>
          <a:noFill/>
          <a:ln/>
        </p:spPr>
        <p:txBody>
          <a:bodyPr wrap="square" lIns="0" tIns="0" rIns="0" bIns="0" rtlCol="0" anchor="ctr"/>
          <a:lstStyle/>
          <a:p>
            <a:pPr indent="0" marL="0">
              <a:buNone/>
            </a:pPr>
            <a:r>
              <a:rPr lang="en-US" sz="1100" b="1" spc="100" kern="0" dirty="0">
                <a:solidFill>
                  <a:schemeClr val="accent6"/>
                </a:solidFill>
              </a:rPr>
              <a:t>CONFIG AND STORES</a:t>
            </a:r>
            <a:endParaRPr lang="en-US" sz="1100" dirty="0"/>
          </a:p>
        </p:txBody>
      </p:sp>
      <p:sp>
        <p:nvSpPr>
          <p:cNvPr id="53" name="Shape 50"/>
          <p:cNvSpPr/>
          <p:nvPr/>
        </p:nvSpPr>
        <p:spPr>
          <a:xfrm>
            <a:off x="2011680" y="5687568"/>
            <a:ext cx="2304288" cy="512064"/>
          </a:xfrm>
          <a:prstGeom prst="roundRect">
            <a:avLst>
              <a:gd name="adj" fmla="val 10714"/>
            </a:avLst>
          </a:prstGeom>
          <a:solidFill>
            <a:schemeClr val="bg1"/>
          </a:solidFill>
          <a:ln w="12700">
            <a:solidFill>
              <a:schemeClr val="accent6"/>
            </a:solidFill>
            <a:prstDash val="solid"/>
          </a:ln>
        </p:spPr>
      </p:sp>
      <p:sp>
        <p:nvSpPr>
          <p:cNvPr id="54" name="Text 51"/>
          <p:cNvSpPr txBox="1"/>
          <p:nvPr/>
        </p:nvSpPr>
        <p:spPr>
          <a:xfrm>
            <a:off x="2066544" y="5687568"/>
            <a:ext cx="2194560" cy="512064"/>
          </a:xfrm>
          <a:prstGeom prst="rect">
            <a:avLst/>
          </a:prstGeom>
          <a:noFill/>
          <a:ln/>
        </p:spPr>
        <p:txBody>
          <a:bodyPr wrap="square" lIns="0" tIns="0" rIns="0" bIns="0" rtlCol="0" anchor="ctr"/>
          <a:lstStyle/>
          <a:p>
            <a:pPr algn="ctr" indent="0" marL="0">
              <a:buNone/>
            </a:pPr>
            <a:r>
              <a:rPr lang="en-US" sz="1050" dirty="0">
                <a:solidFill>
                  <a:schemeClr val="tx1"/>
                </a:solidFill>
              </a:rPr>
              <a:t>config.py: every weight, rule, threshold</a:t>
            </a:r>
            <a:endParaRPr lang="en-US" sz="1050" dirty="0"/>
          </a:p>
        </p:txBody>
      </p:sp>
      <p:sp>
        <p:nvSpPr>
          <p:cNvPr id="55" name="Shape 52"/>
          <p:cNvSpPr/>
          <p:nvPr/>
        </p:nvSpPr>
        <p:spPr>
          <a:xfrm>
            <a:off x="4453128" y="5687568"/>
            <a:ext cx="2304288" cy="512064"/>
          </a:xfrm>
          <a:prstGeom prst="roundRect">
            <a:avLst>
              <a:gd name="adj" fmla="val 10714"/>
            </a:avLst>
          </a:prstGeom>
          <a:solidFill>
            <a:schemeClr val="bg1"/>
          </a:solidFill>
          <a:ln w="12700">
            <a:solidFill>
              <a:schemeClr val="accent6"/>
            </a:solidFill>
            <a:prstDash val="solid"/>
          </a:ln>
        </p:spPr>
      </p:sp>
      <p:sp>
        <p:nvSpPr>
          <p:cNvPr id="56" name="Text 53"/>
          <p:cNvSpPr txBox="1"/>
          <p:nvPr/>
        </p:nvSpPr>
        <p:spPr>
          <a:xfrm>
            <a:off x="4507992" y="5687568"/>
            <a:ext cx="2194560" cy="512064"/>
          </a:xfrm>
          <a:prstGeom prst="rect">
            <a:avLst/>
          </a:prstGeom>
          <a:noFill/>
          <a:ln/>
        </p:spPr>
        <p:txBody>
          <a:bodyPr wrap="square" lIns="0" tIns="0" rIns="0" bIns="0" rtlCol="0" anchor="ctr"/>
          <a:lstStyle/>
          <a:p>
            <a:pPr algn="ctr" indent="0" marL="0">
              <a:buNone/>
            </a:pPr>
            <a:r>
              <a:rPr lang="en-US" sz="1050" dirty="0">
                <a:solidFill>
                  <a:schemeClr val="tx1"/>
                </a:solidFill>
              </a:rPr>
              <a:t>evidence_store/: fetched pages + hashes</a:t>
            </a:r>
            <a:endParaRPr lang="en-US" sz="1050" dirty="0"/>
          </a:p>
        </p:txBody>
      </p:sp>
      <p:sp>
        <p:nvSpPr>
          <p:cNvPr id="57" name="Shape 54"/>
          <p:cNvSpPr/>
          <p:nvPr/>
        </p:nvSpPr>
        <p:spPr>
          <a:xfrm>
            <a:off x="6894576" y="5687568"/>
            <a:ext cx="2304288" cy="512064"/>
          </a:xfrm>
          <a:prstGeom prst="roundRect">
            <a:avLst>
              <a:gd name="adj" fmla="val 10714"/>
            </a:avLst>
          </a:prstGeom>
          <a:solidFill>
            <a:schemeClr val="bg1"/>
          </a:solidFill>
          <a:ln w="12700">
            <a:solidFill>
              <a:schemeClr val="accent6"/>
            </a:solidFill>
            <a:prstDash val="solid"/>
          </a:ln>
        </p:spPr>
      </p:sp>
      <p:sp>
        <p:nvSpPr>
          <p:cNvPr id="58" name="Text 55"/>
          <p:cNvSpPr txBox="1"/>
          <p:nvPr/>
        </p:nvSpPr>
        <p:spPr>
          <a:xfrm>
            <a:off x="6949440" y="5687568"/>
            <a:ext cx="2194560" cy="512064"/>
          </a:xfrm>
          <a:prstGeom prst="rect">
            <a:avLst/>
          </a:prstGeom>
          <a:noFill/>
          <a:ln/>
        </p:spPr>
        <p:txBody>
          <a:bodyPr wrap="square" lIns="0" tIns="0" rIns="0" bIns="0" rtlCol="0" anchor="ctr"/>
          <a:lstStyle/>
          <a:p>
            <a:pPr algn="ctr" indent="0" marL="0">
              <a:buNone/>
            </a:pPr>
            <a:r>
              <a:rPr lang="en-US" sz="1050" dirty="0">
                <a:solidFill>
                  <a:schemeClr val="tx1"/>
                </a:solidFill>
              </a:rPr>
              <a:t>evidence_seed.json: offline snapshot</a:t>
            </a:r>
            <a:endParaRPr lang="en-US" sz="1050" dirty="0"/>
          </a:p>
        </p:txBody>
      </p:sp>
      <p:sp>
        <p:nvSpPr>
          <p:cNvPr id="59" name="Shape 56"/>
          <p:cNvSpPr/>
          <p:nvPr/>
        </p:nvSpPr>
        <p:spPr>
          <a:xfrm>
            <a:off x="9336024" y="5687568"/>
            <a:ext cx="2304288" cy="512064"/>
          </a:xfrm>
          <a:prstGeom prst="roundRect">
            <a:avLst>
              <a:gd name="adj" fmla="val 10714"/>
            </a:avLst>
          </a:prstGeom>
          <a:solidFill>
            <a:schemeClr val="bg1"/>
          </a:solidFill>
          <a:ln w="12700">
            <a:solidFill>
              <a:schemeClr val="accent6"/>
            </a:solidFill>
            <a:prstDash val="solid"/>
          </a:ln>
        </p:spPr>
      </p:sp>
      <p:sp>
        <p:nvSpPr>
          <p:cNvPr id="60" name="Text 57"/>
          <p:cNvSpPr txBox="1"/>
          <p:nvPr/>
        </p:nvSpPr>
        <p:spPr>
          <a:xfrm>
            <a:off x="9390888" y="5687568"/>
            <a:ext cx="2194560" cy="512064"/>
          </a:xfrm>
          <a:prstGeom prst="rect">
            <a:avLst/>
          </a:prstGeom>
          <a:noFill/>
          <a:ln/>
        </p:spPr>
        <p:txBody>
          <a:bodyPr wrap="square" lIns="0" tIns="0" rIns="0" bIns="0" rtlCol="0" anchor="ctr"/>
          <a:lstStyle/>
          <a:p>
            <a:pPr algn="ctr" indent="0" marL="0">
              <a:buNone/>
            </a:pPr>
            <a:r>
              <a:rPr lang="en-US" sz="1050" dirty="0">
                <a:solidFill>
                  <a:schemeClr val="tx1"/>
                </a:solidFill>
              </a:rPr>
              <a:t>output/: job workbooks</a:t>
            </a:r>
            <a:endParaRPr lang="en-US" sz="105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How we rate vendor criticality</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Five weighted factors, scored from the provided columns, so any analyst reaches the same tier.</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040880" cy="914400"/>
        </p:xfrm>
        <a:graphic>
          <a:graphicData uri="http://schemas.openxmlformats.org/drawingml/2006/table">
            <a:tbl>
              <a:tblPr/>
              <a:tblGrid>
                <a:gridCol w="1920240"/>
                <a:gridCol w="822960"/>
                <a:gridCol w="4297680"/>
              </a:tblGrid>
              <a:tr h="475488">
                <a:tc>
                  <a:txBody>
                    <a:bodyPr/>
                    <a:lstStyle/>
                    <a:p>
                      <a:pPr indent="0" marL="0">
                        <a:buNone/>
                      </a:pPr>
                      <a:r>
                        <a:rPr lang="en-US" sz="1200" b="1" dirty="0">
                          <a:solidFill>
                            <a:srgbClr val="FFFFFF"/>
                          </a:solidFill>
                        </a:rPr>
                        <a:t>Factor</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Weight</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Scored 1–4 from</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r>
              <a:tr h="475488">
                <a:tc>
                  <a:txBody>
                    <a:bodyPr/>
                    <a:lstStyle/>
                    <a:p>
                      <a:pPr indent="0" marL="0">
                        <a:buNone/>
                      </a:pPr>
                      <a:r>
                        <a:rPr lang="en-US" sz="1200" b="1" dirty="0">
                          <a:solidFill>
                            <a:srgbClr val="17202E"/>
                          </a:solidFill>
                        </a:rPr>
                        <a:t>Data sensitivity</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30%</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Data classification column: tax IDs / full customer master = 4</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7202E"/>
                          </a:solidFill>
                        </a:rPr>
                        <a:t>Operational dependency</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25%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Dependency column: Critical or Total = 4, High 3, Moderate 2</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r>
              <a:tr h="475488">
                <a:tc>
                  <a:txBody>
                    <a:bodyPr/>
                    <a:lstStyle/>
                    <a:p>
                      <a:pPr indent="0" marL="0">
                        <a:buNone/>
                      </a:pPr>
                      <a:r>
                        <a:rPr lang="en-US" sz="1200" b="1" dirty="0">
                          <a:solidFill>
                            <a:srgbClr val="17202E"/>
                          </a:solidFill>
                        </a:rPr>
                        <a:t>Payment flow</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15%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Payments category = 4; payment terms in the service = 2</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7202E"/>
                          </a:solidFill>
                        </a:rPr>
                        <a:t>Regulatory exposure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15%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Tax, clearing, settlement, core banking = 4</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r>
              <a:tr h="475488">
                <a:tc>
                  <a:txBody>
                    <a:bodyPr/>
                    <a:lstStyle/>
                    <a:p>
                      <a:pPr indent="0" marL="0">
                        <a:buNone/>
                      </a:pPr>
                      <a:r>
                        <a:rPr lang="en-US" sz="1200" b="1" dirty="0">
                          <a:solidFill>
                            <a:srgbClr val="17202E"/>
                          </a:solidFill>
                        </a:rPr>
                        <a:t>Data volume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15%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Largest figure: 100M+ = 4, 10M+ = 3, 1M+ = 2</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955280" y="1783080"/>
            <a:ext cx="36576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WEIGHTED SCORE TO TIER</a:t>
            </a:r>
            <a:endParaRPr lang="en-US" sz="1200" dirty="0"/>
          </a:p>
        </p:txBody>
      </p:sp>
      <p:sp>
        <p:nvSpPr>
          <p:cNvPr id="9" name="Shape 5"/>
          <p:cNvSpPr/>
          <p:nvPr/>
        </p:nvSpPr>
        <p:spPr>
          <a:xfrm>
            <a:off x="7955280" y="2121408"/>
            <a:ext cx="3685032" cy="384048"/>
          </a:xfrm>
          <a:prstGeom prst="roundRect">
            <a:avLst>
              <a:gd name="adj" fmla="val 14286"/>
            </a:avLst>
          </a:prstGeom>
          <a:solidFill>
            <a:srgbClr val="B42318"/>
          </a:solidFill>
          <a:ln w="6350">
            <a:solidFill>
              <a:srgbClr val="B42318"/>
            </a:solidFill>
            <a:prstDash val="solid"/>
          </a:ln>
        </p:spPr>
      </p:sp>
      <p:sp>
        <p:nvSpPr>
          <p:cNvPr id="10" name="Text 6"/>
          <p:cNvSpPr txBox="1"/>
          <p:nvPr/>
        </p:nvSpPr>
        <p:spPr>
          <a:xfrm>
            <a:off x="8092440" y="2121408"/>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Critical</a:t>
            </a:r>
            <a:endParaRPr lang="en-US" sz="1400" dirty="0"/>
          </a:p>
        </p:txBody>
      </p:sp>
      <p:sp>
        <p:nvSpPr>
          <p:cNvPr id="11" name="Text 7"/>
          <p:cNvSpPr txBox="1"/>
          <p:nvPr/>
        </p:nvSpPr>
        <p:spPr>
          <a:xfrm>
            <a:off x="9509760" y="2121408"/>
            <a:ext cx="2011680" cy="384048"/>
          </a:xfrm>
          <a:prstGeom prst="rect">
            <a:avLst/>
          </a:prstGeom>
          <a:noFill/>
          <a:ln/>
        </p:spPr>
        <p:txBody>
          <a:bodyPr wrap="square" lIns="0" tIns="0" rIns="0" bIns="0" rtlCol="0" anchor="ctr"/>
          <a:lstStyle/>
          <a:p>
            <a:pPr algn="r" indent="0" marL="0">
              <a:buNone/>
            </a:pPr>
            <a:r>
              <a:rPr lang="en-US" sz="1300" dirty="0">
                <a:solidFill>
                  <a:schemeClr val="bg1"/>
                </a:solidFill>
              </a:rPr>
              <a:t>3.0 and above</a:t>
            </a:r>
            <a:endParaRPr lang="en-US" sz="1300" dirty="0"/>
          </a:p>
        </p:txBody>
      </p:sp>
      <p:sp>
        <p:nvSpPr>
          <p:cNvPr id="12" name="Shape 8"/>
          <p:cNvSpPr/>
          <p:nvPr/>
        </p:nvSpPr>
        <p:spPr>
          <a:xfrm>
            <a:off x="7955280" y="2578608"/>
            <a:ext cx="3685032" cy="384048"/>
          </a:xfrm>
          <a:prstGeom prst="roundRect">
            <a:avLst>
              <a:gd name="adj" fmla="val 14286"/>
            </a:avLst>
          </a:prstGeom>
          <a:solidFill>
            <a:srgbClr val="C77700"/>
          </a:solidFill>
          <a:ln w="6350">
            <a:solidFill>
              <a:srgbClr val="C77700"/>
            </a:solidFill>
            <a:prstDash val="solid"/>
          </a:ln>
        </p:spPr>
      </p:sp>
      <p:sp>
        <p:nvSpPr>
          <p:cNvPr id="13" name="Text 9"/>
          <p:cNvSpPr txBox="1"/>
          <p:nvPr/>
        </p:nvSpPr>
        <p:spPr>
          <a:xfrm>
            <a:off x="8092440" y="2578608"/>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High</a:t>
            </a:r>
            <a:endParaRPr lang="en-US" sz="1400" dirty="0"/>
          </a:p>
        </p:txBody>
      </p:sp>
      <p:sp>
        <p:nvSpPr>
          <p:cNvPr id="14" name="Text 10"/>
          <p:cNvSpPr txBox="1"/>
          <p:nvPr/>
        </p:nvSpPr>
        <p:spPr>
          <a:xfrm>
            <a:off x="9509760" y="2578608"/>
            <a:ext cx="2011680" cy="384048"/>
          </a:xfrm>
          <a:prstGeom prst="rect">
            <a:avLst/>
          </a:prstGeom>
          <a:noFill/>
          <a:ln/>
        </p:spPr>
        <p:txBody>
          <a:bodyPr wrap="square" lIns="0" tIns="0" rIns="0" bIns="0" rtlCol="0" anchor="ctr"/>
          <a:lstStyle/>
          <a:p>
            <a:pPr algn="r" indent="0" marL="0">
              <a:buNone/>
            </a:pPr>
            <a:r>
              <a:rPr lang="en-US" sz="1300" dirty="0">
                <a:solidFill>
                  <a:schemeClr val="bg1"/>
                </a:solidFill>
              </a:rPr>
              <a:t>2.5 and above</a:t>
            </a:r>
            <a:endParaRPr lang="en-US" sz="1300" dirty="0"/>
          </a:p>
        </p:txBody>
      </p:sp>
      <p:sp>
        <p:nvSpPr>
          <p:cNvPr id="15" name="Shape 11"/>
          <p:cNvSpPr/>
          <p:nvPr/>
        </p:nvSpPr>
        <p:spPr>
          <a:xfrm>
            <a:off x="7955280" y="3035808"/>
            <a:ext cx="3685032" cy="384048"/>
          </a:xfrm>
          <a:prstGeom prst="roundRect">
            <a:avLst>
              <a:gd name="adj" fmla="val 14286"/>
            </a:avLst>
          </a:prstGeom>
          <a:solidFill>
            <a:srgbClr val="1F4E8C"/>
          </a:solidFill>
          <a:ln w="6350">
            <a:solidFill>
              <a:srgbClr val="1F4E8C"/>
            </a:solidFill>
            <a:prstDash val="solid"/>
          </a:ln>
        </p:spPr>
      </p:sp>
      <p:sp>
        <p:nvSpPr>
          <p:cNvPr id="16" name="Text 12"/>
          <p:cNvSpPr txBox="1"/>
          <p:nvPr/>
        </p:nvSpPr>
        <p:spPr>
          <a:xfrm>
            <a:off x="8092440" y="3035808"/>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Medium</a:t>
            </a:r>
            <a:endParaRPr lang="en-US" sz="1400" dirty="0"/>
          </a:p>
        </p:txBody>
      </p:sp>
      <p:sp>
        <p:nvSpPr>
          <p:cNvPr id="17" name="Text 13"/>
          <p:cNvSpPr txBox="1"/>
          <p:nvPr/>
        </p:nvSpPr>
        <p:spPr>
          <a:xfrm>
            <a:off x="9509760" y="3035808"/>
            <a:ext cx="2011680" cy="384048"/>
          </a:xfrm>
          <a:prstGeom prst="rect">
            <a:avLst/>
          </a:prstGeom>
          <a:noFill/>
          <a:ln/>
        </p:spPr>
        <p:txBody>
          <a:bodyPr wrap="square" lIns="0" tIns="0" rIns="0" bIns="0" rtlCol="0" anchor="ctr"/>
          <a:lstStyle/>
          <a:p>
            <a:pPr algn="r" indent="0" marL="0">
              <a:buNone/>
            </a:pPr>
            <a:r>
              <a:rPr lang="en-US" sz="1300" dirty="0">
                <a:solidFill>
                  <a:schemeClr val="bg1"/>
                </a:solidFill>
              </a:rPr>
              <a:t>1.9 and above</a:t>
            </a:r>
            <a:endParaRPr lang="en-US" sz="1300" dirty="0"/>
          </a:p>
        </p:txBody>
      </p:sp>
      <p:sp>
        <p:nvSpPr>
          <p:cNvPr id="18" name="Shape 14"/>
          <p:cNvSpPr/>
          <p:nvPr/>
        </p:nvSpPr>
        <p:spPr>
          <a:xfrm>
            <a:off x="7955280" y="3493008"/>
            <a:ext cx="3685032" cy="384048"/>
          </a:xfrm>
          <a:prstGeom prst="roundRect">
            <a:avLst>
              <a:gd name="adj" fmla="val 14286"/>
            </a:avLst>
          </a:prstGeom>
          <a:solidFill>
            <a:srgbClr val="5B6B7F"/>
          </a:solidFill>
          <a:ln w="6350">
            <a:solidFill>
              <a:srgbClr val="5B6B7F"/>
            </a:solidFill>
            <a:prstDash val="solid"/>
          </a:ln>
        </p:spPr>
      </p:sp>
      <p:sp>
        <p:nvSpPr>
          <p:cNvPr id="19" name="Text 15"/>
          <p:cNvSpPr txBox="1"/>
          <p:nvPr/>
        </p:nvSpPr>
        <p:spPr>
          <a:xfrm>
            <a:off x="8092440" y="3493008"/>
            <a:ext cx="1463040" cy="384048"/>
          </a:xfrm>
          <a:prstGeom prst="rect">
            <a:avLst/>
          </a:prstGeom>
          <a:noFill/>
          <a:ln/>
        </p:spPr>
        <p:txBody>
          <a:bodyPr wrap="square" lIns="0" tIns="0" rIns="0" bIns="0" rtlCol="0" anchor="ctr"/>
          <a:lstStyle/>
          <a:p>
            <a:pPr indent="0" marL="0">
              <a:buNone/>
            </a:pPr>
            <a:r>
              <a:rPr lang="en-US" sz="1400" b="1" dirty="0">
                <a:solidFill>
                  <a:schemeClr val="bg1"/>
                </a:solidFill>
              </a:rPr>
              <a:t>Low</a:t>
            </a:r>
            <a:endParaRPr lang="en-US" sz="1400" dirty="0"/>
          </a:p>
        </p:txBody>
      </p:sp>
      <p:sp>
        <p:nvSpPr>
          <p:cNvPr id="20" name="Text 16"/>
          <p:cNvSpPr txBox="1"/>
          <p:nvPr/>
        </p:nvSpPr>
        <p:spPr>
          <a:xfrm>
            <a:off x="9509760" y="3493008"/>
            <a:ext cx="2011680" cy="384048"/>
          </a:xfrm>
          <a:prstGeom prst="rect">
            <a:avLst/>
          </a:prstGeom>
          <a:noFill/>
          <a:ln/>
        </p:spPr>
        <p:txBody>
          <a:bodyPr wrap="square" lIns="0" tIns="0" rIns="0" bIns="0" rtlCol="0" anchor="ctr"/>
          <a:lstStyle/>
          <a:p>
            <a:pPr algn="r" indent="0" marL="0">
              <a:buNone/>
            </a:pPr>
            <a:r>
              <a:rPr lang="en-US" sz="1300" dirty="0">
                <a:solidFill>
                  <a:schemeClr val="bg1"/>
                </a:solidFill>
              </a:rPr>
              <a:t>below 1.9</a:t>
            </a:r>
            <a:endParaRPr lang="en-US" sz="1300" dirty="0"/>
          </a:p>
        </p:txBody>
      </p:sp>
      <p:sp>
        <p:nvSpPr>
          <p:cNvPr id="21" name="Text 17"/>
          <p:cNvSpPr txBox="1"/>
          <p:nvPr/>
        </p:nvSpPr>
        <p:spPr>
          <a:xfrm>
            <a:off x="7955280" y="4114800"/>
            <a:ext cx="36576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HARD FLOORS (override the score)</a:t>
            </a:r>
            <a:endParaRPr lang="en-US" sz="1200" dirty="0"/>
          </a:p>
        </p:txBody>
      </p:sp>
      <p:sp>
        <p:nvSpPr>
          <p:cNvPr id="22" name="Text 18"/>
          <p:cNvSpPr txBox="1"/>
          <p:nvPr/>
        </p:nvSpPr>
        <p:spPr>
          <a:xfrm>
            <a:off x="7955280" y="4434840"/>
            <a:ext cx="3685032" cy="1097280"/>
          </a:xfrm>
          <a:prstGeom prst="rect">
            <a:avLst/>
          </a:prstGeom>
          <a:noFill/>
          <a:ln/>
        </p:spPr>
        <p:txBody>
          <a:bodyPr wrap="square" lIns="0" tIns="0" rIns="0" bIns="0" rtlCol="0" anchor="t"/>
          <a:lstStyle/>
          <a:p>
            <a:pPr marL="177800" indent="-177800">
              <a:buSzPct val="100000"/>
              <a:buChar char="•"/>
            </a:pPr>
            <a:r>
              <a:rPr lang="en-US" sz="1300" dirty="0">
                <a:solidFill>
                  <a:schemeClr val="tx1"/>
                </a:solidFill>
              </a:rPr>
              <a:t>Dependency Critical / Total → at least Critical</a:t>
            </a:r>
            <a:endParaRPr lang="en-US" sz="1300" dirty="0"/>
          </a:p>
          <a:p>
            <a:pPr marL="177800" indent="-177800">
              <a:buSzPct val="100000"/>
              <a:buChar char="•"/>
            </a:pPr>
            <a:r>
              <a:rPr lang="en-US" sz="1300" dirty="0">
                <a:solidFill>
                  <a:schemeClr val="tx1"/>
                </a:solidFill>
              </a:rPr>
              <a:t>Privileged access or credentials → at least High</a:t>
            </a:r>
            <a:endParaRPr lang="en-US" sz="1300" dirty="0"/>
          </a:p>
          <a:p>
            <a:pPr marL="177800" indent="-177800">
              <a:buSzPct val="100000"/>
              <a:buChar char="•"/>
            </a:pPr>
            <a:r>
              <a:rPr lang="en-US" sz="1300" dirty="0">
                <a:solidFill>
                  <a:schemeClr val="tx1"/>
                </a:solidFill>
              </a:rPr>
              <a:t>Most sensitive data class → at least High</a:t>
            </a:r>
            <a:endParaRPr lang="en-US" sz="1300" dirty="0"/>
          </a:p>
        </p:txBody>
      </p:sp>
      <p:sp>
        <p:nvSpPr>
          <p:cNvPr id="23" name="Shape 19"/>
          <p:cNvSpPr/>
          <p:nvPr/>
        </p:nvSpPr>
        <p:spPr>
          <a:xfrm>
            <a:off x="548640" y="4983480"/>
            <a:ext cx="7040880" cy="1234440"/>
          </a:xfrm>
          <a:prstGeom prst="roundRect">
            <a:avLst>
              <a:gd name="adj" fmla="val 5185"/>
            </a:avLst>
          </a:prstGeom>
          <a:solidFill>
            <a:schemeClr val="bg2"/>
          </a:solidFill>
          <a:ln w="6350">
            <a:solidFill>
              <a:schemeClr val="bg2"/>
            </a:solidFill>
            <a:prstDash val="solid"/>
          </a:ln>
        </p:spPr>
      </p:sp>
      <p:sp>
        <p:nvSpPr>
          <p:cNvPr id="24" name="Text 20"/>
          <p:cNvSpPr txBox="1"/>
          <p:nvPr/>
        </p:nvSpPr>
        <p:spPr>
          <a:xfrm>
            <a:off x="731520" y="5074920"/>
            <a:ext cx="6675120" cy="292608"/>
          </a:xfrm>
          <a:prstGeom prst="rect">
            <a:avLst/>
          </a:prstGeom>
          <a:noFill/>
          <a:ln/>
        </p:spPr>
        <p:txBody>
          <a:bodyPr wrap="square" lIns="0" tIns="0" rIns="0" bIns="0" rtlCol="0" anchor="t"/>
          <a:lstStyle/>
          <a:p>
            <a:pPr indent="0" marL="0">
              <a:buNone/>
            </a:pPr>
            <a:r>
              <a:rPr lang="en-US" sz="1400" b="1" dirty="0">
                <a:solidFill>
                  <a:schemeClr val="tx2"/>
                </a:solidFill>
              </a:rPr>
              <a:t>Worked example: Fiserv</a:t>
            </a:r>
            <a:endParaRPr lang="en-US" sz="1400" dirty="0"/>
          </a:p>
        </p:txBody>
      </p:sp>
      <p:sp>
        <p:nvSpPr>
          <p:cNvPr id="25" name="Text 21"/>
          <p:cNvSpPr txBox="1"/>
          <p:nvPr/>
        </p:nvSpPr>
        <p:spPr>
          <a:xfrm>
            <a:off x="731520" y="5413248"/>
            <a:ext cx="6675120" cy="292608"/>
          </a:xfrm>
          <a:prstGeom prst="rect">
            <a:avLst/>
          </a:prstGeom>
          <a:noFill/>
          <a:ln/>
        </p:spPr>
        <p:txBody>
          <a:bodyPr wrap="square" lIns="0" tIns="0" rIns="0" bIns="0" rtlCol="0" anchor="t"/>
          <a:lstStyle/>
          <a:p>
            <a:pPr indent="0" marL="0">
              <a:buNone/>
            </a:pPr>
            <a:r>
              <a:rPr lang="en-US" sz="1400" dirty="0">
                <a:solidFill>
                  <a:schemeClr val="tx1"/>
                </a:solidFill>
              </a:rPr>
              <a:t>Data 4  ·  Dependency 4  ·  Payments 2  ·  Regulatory 4  ·  Volume 4</a:t>
            </a:r>
            <a:endParaRPr lang="en-US" sz="1400" dirty="0"/>
          </a:p>
        </p:txBody>
      </p:sp>
      <p:sp>
        <p:nvSpPr>
          <p:cNvPr id="26" name="Text 22"/>
          <p:cNvSpPr txBox="1"/>
          <p:nvPr/>
        </p:nvSpPr>
        <p:spPr>
          <a:xfrm>
            <a:off x="731520" y="5760720"/>
            <a:ext cx="6675120" cy="365760"/>
          </a:xfrm>
          <a:prstGeom prst="rect">
            <a:avLst/>
          </a:prstGeom>
          <a:noFill/>
          <a:ln/>
        </p:spPr>
        <p:txBody>
          <a:bodyPr wrap="square" lIns="0" tIns="0" rIns="0" bIns="0" rtlCol="0" anchor="t"/>
          <a:lstStyle/>
          <a:p>
            <a:pPr indent="0" marL="0">
              <a:buNone/>
            </a:pPr>
            <a:r>
              <a:rPr lang="en-US" sz="1700" b="1" dirty="0">
                <a:solidFill>
                  <a:schemeClr val="accent4"/>
                </a:solidFill>
              </a:rPr>
              <a:t>Weighted score 3.7 / 4  →  Critical</a:t>
            </a:r>
            <a:endParaRPr lang="en-US" sz="1700" dirty="0"/>
          </a:p>
        </p:txBody>
      </p:sp>
      <p:sp>
        <p:nvSpPr>
          <p:cNvPr id="27" name="Text 23"/>
          <p:cNvSpPr txBox="1"/>
          <p:nvPr/>
        </p:nvSpPr>
        <p:spPr>
          <a:xfrm>
            <a:off x="7955280" y="5669280"/>
            <a:ext cx="3685032" cy="457200"/>
          </a:xfrm>
          <a:prstGeom prst="rect">
            <a:avLst/>
          </a:prstGeom>
          <a:noFill/>
          <a:ln/>
        </p:spPr>
        <p:txBody>
          <a:bodyPr wrap="square" lIns="0" tIns="0" rIns="0" bIns="0" rtlCol="0" anchor="t"/>
          <a:lstStyle/>
          <a:p>
            <a:pPr indent="0" marL="0">
              <a:buNone/>
            </a:pPr>
            <a:r>
              <a:rPr lang="en-US" sz="1200" i="1" dirty="0">
                <a:solidFill>
                  <a:schemeClr val="accent6"/>
                </a:solidFill>
              </a:rPr>
              <a:t>Calibrated on benchmark V-000, not tuned per vendor.</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Matching assessment depth to risk</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 Critical vendor gets a deep sweep and a Low one a light touch. Depth follows the tier, not how easy the vendor is to research.</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graphicFrame>
        <p:nvGraphicFramePr>
          <p:cNvPr id="7" name="Chart 0" descr=""/>
          <p:cNvGraphicFramePr/>
          <p:nvPr/>
        </p:nvGraphicFramePr>
        <p:xfrm>
          <a:off x="548640" y="1783080"/>
          <a:ext cx="3931920" cy="374904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4754880" y="1783080"/>
            <a:ext cx="6885432" cy="850392"/>
          </a:xfrm>
          <a:prstGeom prst="roundRect">
            <a:avLst>
              <a:gd name="adj" fmla="val 7527"/>
            </a:avLst>
          </a:prstGeom>
          <a:solidFill>
            <a:schemeClr val="bg2"/>
          </a:solidFill>
          <a:ln w="6350">
            <a:solidFill>
              <a:schemeClr val="bg2"/>
            </a:solidFill>
            <a:prstDash val="solid"/>
          </a:ln>
        </p:spPr>
      </p:sp>
      <p:sp>
        <p:nvSpPr>
          <p:cNvPr id="9" name="Shape 5"/>
          <p:cNvSpPr/>
          <p:nvPr/>
        </p:nvSpPr>
        <p:spPr>
          <a:xfrm>
            <a:off x="4864608" y="1947672"/>
            <a:ext cx="1051560" cy="512064"/>
          </a:xfrm>
          <a:prstGeom prst="roundRect">
            <a:avLst>
              <a:gd name="adj" fmla="val 10714"/>
            </a:avLst>
          </a:prstGeom>
          <a:solidFill>
            <a:srgbClr val="B42318"/>
          </a:solidFill>
          <a:ln w="6350">
            <a:solidFill>
              <a:srgbClr val="B42318"/>
            </a:solidFill>
            <a:prstDash val="solid"/>
          </a:ln>
        </p:spPr>
      </p:sp>
      <p:sp>
        <p:nvSpPr>
          <p:cNvPr id="10" name="Text 6"/>
          <p:cNvSpPr txBox="1"/>
          <p:nvPr/>
        </p:nvSpPr>
        <p:spPr>
          <a:xfrm>
            <a:off x="4864608" y="1947672"/>
            <a:ext cx="1051560" cy="512064"/>
          </a:xfrm>
          <a:prstGeom prst="rect">
            <a:avLst/>
          </a:prstGeom>
          <a:noFill/>
          <a:ln/>
        </p:spPr>
        <p:txBody>
          <a:bodyPr wrap="square" lIns="0" tIns="0" rIns="0" bIns="0" rtlCol="0" anchor="ctr"/>
          <a:lstStyle/>
          <a:p>
            <a:pPr algn="ctr" indent="0" marL="0">
              <a:buNone/>
            </a:pPr>
            <a:r>
              <a:rPr lang="en-US" sz="1400" b="1" dirty="0">
                <a:solidFill>
                  <a:schemeClr val="bg1"/>
                </a:solidFill>
              </a:rPr>
              <a:t>Critical</a:t>
            </a:r>
            <a:endParaRPr lang="en-US" sz="1400" dirty="0"/>
          </a:p>
        </p:txBody>
      </p:sp>
      <p:sp>
        <p:nvSpPr>
          <p:cNvPr id="11" name="Text 7"/>
          <p:cNvSpPr txBox="1"/>
          <p:nvPr/>
        </p:nvSpPr>
        <p:spPr>
          <a:xfrm>
            <a:off x="6080760" y="1847088"/>
            <a:ext cx="5440680" cy="292608"/>
          </a:xfrm>
          <a:prstGeom prst="rect">
            <a:avLst/>
          </a:prstGeom>
          <a:noFill/>
          <a:ln/>
        </p:spPr>
        <p:txBody>
          <a:bodyPr wrap="square" lIns="0" tIns="0" rIns="0" bIns="0" rtlCol="0" anchor="t"/>
          <a:lstStyle/>
          <a:p>
            <a:pPr indent="0" marL="0">
              <a:buNone/>
            </a:pPr>
            <a:r>
              <a:rPr lang="en-US" sz="1300" b="1" dirty="0">
                <a:solidFill>
                  <a:schemeClr val="tx2"/>
                </a:solidFill>
              </a:rPr>
              <a:t>Full review. 8 source classes. Accept “no AI” only after ≥ 4 pages.</a:t>
            </a:r>
            <a:endParaRPr lang="en-US" sz="1300" dirty="0"/>
          </a:p>
        </p:txBody>
      </p:sp>
      <p:sp>
        <p:nvSpPr>
          <p:cNvPr id="12" name="Text 8"/>
          <p:cNvSpPr txBox="1"/>
          <p:nvPr/>
        </p:nvSpPr>
        <p:spPr>
          <a:xfrm>
            <a:off x="6080760" y="2148840"/>
            <a:ext cx="5440680" cy="457200"/>
          </a:xfrm>
          <a:prstGeom prst="rect">
            <a:avLst/>
          </a:prstGeom>
          <a:noFill/>
          <a:ln/>
        </p:spPr>
        <p:txBody>
          <a:bodyPr wrap="square" lIns="0" tIns="0" rIns="0" bIns="0" rtlCol="0" anchor="t"/>
          <a:lstStyle/>
          <a:p>
            <a:pPr indent="0" marL="0">
              <a:buNone/>
            </a:pPr>
            <a:r>
              <a:rPr lang="en-US" sz="1100" dirty="0">
                <a:solidFill>
                  <a:schemeClr val="tx1"/>
                </a:solidFill>
              </a:rPr>
              <a:t>Stop when a primary source (filing, technical docs or press release) confirms AI use AND model provider status is resolved or explicitly undisclosed; otherwise exhaust all source classes.</a:t>
            </a:r>
            <a:endParaRPr lang="en-US" sz="1100" dirty="0"/>
          </a:p>
        </p:txBody>
      </p:sp>
      <p:sp>
        <p:nvSpPr>
          <p:cNvPr id="13" name="Shape 9"/>
          <p:cNvSpPr/>
          <p:nvPr/>
        </p:nvSpPr>
        <p:spPr>
          <a:xfrm>
            <a:off x="4754880" y="2724912"/>
            <a:ext cx="6885432" cy="850392"/>
          </a:xfrm>
          <a:prstGeom prst="roundRect">
            <a:avLst>
              <a:gd name="adj" fmla="val 7527"/>
            </a:avLst>
          </a:prstGeom>
          <a:solidFill>
            <a:schemeClr val="bg2"/>
          </a:solidFill>
          <a:ln w="6350">
            <a:solidFill>
              <a:schemeClr val="bg2"/>
            </a:solidFill>
            <a:prstDash val="solid"/>
          </a:ln>
        </p:spPr>
      </p:sp>
      <p:sp>
        <p:nvSpPr>
          <p:cNvPr id="14" name="Shape 10"/>
          <p:cNvSpPr/>
          <p:nvPr/>
        </p:nvSpPr>
        <p:spPr>
          <a:xfrm>
            <a:off x="4864608" y="2889504"/>
            <a:ext cx="1051560" cy="512064"/>
          </a:xfrm>
          <a:prstGeom prst="roundRect">
            <a:avLst>
              <a:gd name="adj" fmla="val 10714"/>
            </a:avLst>
          </a:prstGeom>
          <a:solidFill>
            <a:srgbClr val="C77700"/>
          </a:solidFill>
          <a:ln w="6350">
            <a:solidFill>
              <a:srgbClr val="C77700"/>
            </a:solidFill>
            <a:prstDash val="solid"/>
          </a:ln>
        </p:spPr>
      </p:sp>
      <p:sp>
        <p:nvSpPr>
          <p:cNvPr id="15" name="Text 11"/>
          <p:cNvSpPr txBox="1"/>
          <p:nvPr/>
        </p:nvSpPr>
        <p:spPr>
          <a:xfrm>
            <a:off x="4864608" y="2889504"/>
            <a:ext cx="1051560" cy="512064"/>
          </a:xfrm>
          <a:prstGeom prst="rect">
            <a:avLst/>
          </a:prstGeom>
          <a:noFill/>
          <a:ln/>
        </p:spPr>
        <p:txBody>
          <a:bodyPr wrap="square" lIns="0" tIns="0" rIns="0" bIns="0" rtlCol="0" anchor="ctr"/>
          <a:lstStyle/>
          <a:p>
            <a:pPr algn="ctr" indent="0" marL="0">
              <a:buNone/>
            </a:pPr>
            <a:r>
              <a:rPr lang="en-US" sz="1400" b="1" dirty="0">
                <a:solidFill>
                  <a:schemeClr val="bg1"/>
                </a:solidFill>
              </a:rPr>
              <a:t>High</a:t>
            </a:r>
            <a:endParaRPr lang="en-US" sz="1400" dirty="0"/>
          </a:p>
        </p:txBody>
      </p:sp>
      <p:sp>
        <p:nvSpPr>
          <p:cNvPr id="16" name="Text 12"/>
          <p:cNvSpPr txBox="1"/>
          <p:nvPr/>
        </p:nvSpPr>
        <p:spPr>
          <a:xfrm>
            <a:off x="6080760" y="2788920"/>
            <a:ext cx="5440680" cy="292608"/>
          </a:xfrm>
          <a:prstGeom prst="rect">
            <a:avLst/>
          </a:prstGeom>
          <a:noFill/>
          <a:ln/>
        </p:spPr>
        <p:txBody>
          <a:bodyPr wrap="square" lIns="0" tIns="0" rIns="0" bIns="0" rtlCol="0" anchor="t"/>
          <a:lstStyle/>
          <a:p>
            <a:pPr indent="0" marL="0">
              <a:buNone/>
            </a:pPr>
            <a:r>
              <a:rPr lang="en-US" sz="1300" b="1" dirty="0">
                <a:solidFill>
                  <a:schemeClr val="tx2"/>
                </a:solidFill>
              </a:rPr>
              <a:t>Full review. 6 source classes. Accept “no AI” only after ≥ 3 pages.</a:t>
            </a:r>
            <a:endParaRPr lang="en-US" sz="1300" dirty="0"/>
          </a:p>
        </p:txBody>
      </p:sp>
      <p:sp>
        <p:nvSpPr>
          <p:cNvPr id="17" name="Text 13"/>
          <p:cNvSpPr txBox="1"/>
          <p:nvPr/>
        </p:nvSpPr>
        <p:spPr>
          <a:xfrm>
            <a:off x="6080760" y="3090672"/>
            <a:ext cx="5440680" cy="457200"/>
          </a:xfrm>
          <a:prstGeom prst="rect">
            <a:avLst/>
          </a:prstGeom>
          <a:noFill/>
          <a:ln/>
        </p:spPr>
        <p:txBody>
          <a:bodyPr wrap="square" lIns="0" tIns="0" rIns="0" bIns="0" rtlCol="0" anchor="t"/>
          <a:lstStyle/>
          <a:p>
            <a:pPr indent="0" marL="0">
              <a:buNone/>
            </a:pPr>
            <a:r>
              <a:rPr lang="en-US" sz="1100" dirty="0">
                <a:solidFill>
                  <a:schemeClr val="tx1"/>
                </a:solidFill>
              </a:rPr>
              <a:t>Stop once two independent source classes agree, or when three source classes return nothing.</a:t>
            </a:r>
            <a:endParaRPr lang="en-US" sz="1100" dirty="0"/>
          </a:p>
        </p:txBody>
      </p:sp>
      <p:sp>
        <p:nvSpPr>
          <p:cNvPr id="18" name="Shape 14"/>
          <p:cNvSpPr/>
          <p:nvPr/>
        </p:nvSpPr>
        <p:spPr>
          <a:xfrm>
            <a:off x="4754880" y="3666744"/>
            <a:ext cx="6885432" cy="850392"/>
          </a:xfrm>
          <a:prstGeom prst="roundRect">
            <a:avLst>
              <a:gd name="adj" fmla="val 7527"/>
            </a:avLst>
          </a:prstGeom>
          <a:solidFill>
            <a:schemeClr val="bg2"/>
          </a:solidFill>
          <a:ln w="6350">
            <a:solidFill>
              <a:schemeClr val="bg2"/>
            </a:solidFill>
            <a:prstDash val="solid"/>
          </a:ln>
        </p:spPr>
      </p:sp>
      <p:sp>
        <p:nvSpPr>
          <p:cNvPr id="19" name="Shape 15"/>
          <p:cNvSpPr/>
          <p:nvPr/>
        </p:nvSpPr>
        <p:spPr>
          <a:xfrm>
            <a:off x="4864608" y="3831336"/>
            <a:ext cx="1051560" cy="512064"/>
          </a:xfrm>
          <a:prstGeom prst="roundRect">
            <a:avLst>
              <a:gd name="adj" fmla="val 10714"/>
            </a:avLst>
          </a:prstGeom>
          <a:solidFill>
            <a:srgbClr val="1F4E8C"/>
          </a:solidFill>
          <a:ln w="6350">
            <a:solidFill>
              <a:srgbClr val="1F4E8C"/>
            </a:solidFill>
            <a:prstDash val="solid"/>
          </a:ln>
        </p:spPr>
      </p:sp>
      <p:sp>
        <p:nvSpPr>
          <p:cNvPr id="20" name="Text 16"/>
          <p:cNvSpPr txBox="1"/>
          <p:nvPr/>
        </p:nvSpPr>
        <p:spPr>
          <a:xfrm>
            <a:off x="4864608" y="3831336"/>
            <a:ext cx="1051560" cy="512064"/>
          </a:xfrm>
          <a:prstGeom prst="rect">
            <a:avLst/>
          </a:prstGeom>
          <a:noFill/>
          <a:ln/>
        </p:spPr>
        <p:txBody>
          <a:bodyPr wrap="square" lIns="0" tIns="0" rIns="0" bIns="0" rtlCol="0" anchor="ctr"/>
          <a:lstStyle/>
          <a:p>
            <a:pPr algn="ctr" indent="0" marL="0">
              <a:buNone/>
            </a:pPr>
            <a:r>
              <a:rPr lang="en-US" sz="1400" b="1" dirty="0">
                <a:solidFill>
                  <a:schemeClr val="bg1"/>
                </a:solidFill>
              </a:rPr>
              <a:t>Medium</a:t>
            </a:r>
            <a:endParaRPr lang="en-US" sz="1400" dirty="0"/>
          </a:p>
        </p:txBody>
      </p:sp>
      <p:sp>
        <p:nvSpPr>
          <p:cNvPr id="21" name="Text 17"/>
          <p:cNvSpPr txBox="1"/>
          <p:nvPr/>
        </p:nvSpPr>
        <p:spPr>
          <a:xfrm>
            <a:off x="6080760" y="3730752"/>
            <a:ext cx="5440680" cy="292608"/>
          </a:xfrm>
          <a:prstGeom prst="rect">
            <a:avLst/>
          </a:prstGeom>
          <a:noFill/>
          <a:ln/>
        </p:spPr>
        <p:txBody>
          <a:bodyPr wrap="square" lIns="0" tIns="0" rIns="0" bIns="0" rtlCol="0" anchor="t"/>
          <a:lstStyle/>
          <a:p>
            <a:pPr indent="0" marL="0">
              <a:buNone/>
            </a:pPr>
            <a:r>
              <a:rPr lang="en-US" sz="1300" b="1" dirty="0">
                <a:solidFill>
                  <a:schemeClr val="tx2"/>
                </a:solidFill>
              </a:rPr>
              <a:t>Targeted review. 4 source classes. Accept “no AI” only after ≥ 2 pages.</a:t>
            </a:r>
            <a:endParaRPr lang="en-US" sz="1300" dirty="0"/>
          </a:p>
        </p:txBody>
      </p:sp>
      <p:sp>
        <p:nvSpPr>
          <p:cNvPr id="22" name="Text 18"/>
          <p:cNvSpPr txBox="1"/>
          <p:nvPr/>
        </p:nvSpPr>
        <p:spPr>
          <a:xfrm>
            <a:off x="6080760" y="4032504"/>
            <a:ext cx="5440680" cy="457200"/>
          </a:xfrm>
          <a:prstGeom prst="rect">
            <a:avLst/>
          </a:prstGeom>
          <a:noFill/>
          <a:ln/>
        </p:spPr>
        <p:txBody>
          <a:bodyPr wrap="square" lIns="0" tIns="0" rIns="0" bIns="0" rtlCol="0" anchor="t"/>
          <a:lstStyle/>
          <a:p>
            <a:pPr indent="0" marL="0">
              <a:buNone/>
            </a:pPr>
            <a:r>
              <a:rPr lang="en-US" sz="1100" dirty="0">
                <a:solidFill>
                  <a:schemeClr val="tx1"/>
                </a:solidFill>
              </a:rPr>
              <a:t>Stop after product/technical pages and newsroom; further sweeps rarely change the rating.</a:t>
            </a:r>
            <a:endParaRPr lang="en-US" sz="1100" dirty="0"/>
          </a:p>
        </p:txBody>
      </p:sp>
      <p:sp>
        <p:nvSpPr>
          <p:cNvPr id="23" name="Shape 19"/>
          <p:cNvSpPr/>
          <p:nvPr/>
        </p:nvSpPr>
        <p:spPr>
          <a:xfrm>
            <a:off x="4754880" y="4608576"/>
            <a:ext cx="6885432" cy="850392"/>
          </a:xfrm>
          <a:prstGeom prst="roundRect">
            <a:avLst>
              <a:gd name="adj" fmla="val 7527"/>
            </a:avLst>
          </a:prstGeom>
          <a:solidFill>
            <a:schemeClr val="bg2"/>
          </a:solidFill>
          <a:ln w="6350">
            <a:solidFill>
              <a:schemeClr val="bg2"/>
            </a:solidFill>
            <a:prstDash val="solid"/>
          </a:ln>
        </p:spPr>
      </p:sp>
      <p:sp>
        <p:nvSpPr>
          <p:cNvPr id="24" name="Shape 20"/>
          <p:cNvSpPr/>
          <p:nvPr/>
        </p:nvSpPr>
        <p:spPr>
          <a:xfrm>
            <a:off x="4864608" y="4773168"/>
            <a:ext cx="1051560" cy="512064"/>
          </a:xfrm>
          <a:prstGeom prst="roundRect">
            <a:avLst>
              <a:gd name="adj" fmla="val 10714"/>
            </a:avLst>
          </a:prstGeom>
          <a:solidFill>
            <a:srgbClr val="5B6B7F"/>
          </a:solidFill>
          <a:ln w="6350">
            <a:solidFill>
              <a:srgbClr val="5B6B7F"/>
            </a:solidFill>
            <a:prstDash val="solid"/>
          </a:ln>
        </p:spPr>
      </p:sp>
      <p:sp>
        <p:nvSpPr>
          <p:cNvPr id="25" name="Text 21"/>
          <p:cNvSpPr txBox="1"/>
          <p:nvPr/>
        </p:nvSpPr>
        <p:spPr>
          <a:xfrm>
            <a:off x="4864608" y="4773168"/>
            <a:ext cx="1051560" cy="512064"/>
          </a:xfrm>
          <a:prstGeom prst="rect">
            <a:avLst/>
          </a:prstGeom>
          <a:noFill/>
          <a:ln/>
        </p:spPr>
        <p:txBody>
          <a:bodyPr wrap="square" lIns="0" tIns="0" rIns="0" bIns="0" rtlCol="0" anchor="ctr"/>
          <a:lstStyle/>
          <a:p>
            <a:pPr algn="ctr" indent="0" marL="0">
              <a:buNone/>
            </a:pPr>
            <a:r>
              <a:rPr lang="en-US" sz="1400" b="1" dirty="0">
                <a:solidFill>
                  <a:schemeClr val="bg1"/>
                </a:solidFill>
              </a:rPr>
              <a:t>Low</a:t>
            </a:r>
            <a:endParaRPr lang="en-US" sz="1400" dirty="0"/>
          </a:p>
        </p:txBody>
      </p:sp>
      <p:sp>
        <p:nvSpPr>
          <p:cNvPr id="26" name="Text 22"/>
          <p:cNvSpPr txBox="1"/>
          <p:nvPr/>
        </p:nvSpPr>
        <p:spPr>
          <a:xfrm>
            <a:off x="6080760" y="4672584"/>
            <a:ext cx="5440680" cy="292608"/>
          </a:xfrm>
          <a:prstGeom prst="rect">
            <a:avLst/>
          </a:prstGeom>
          <a:noFill/>
          <a:ln/>
        </p:spPr>
        <p:txBody>
          <a:bodyPr wrap="square" lIns="0" tIns="0" rIns="0" bIns="0" rtlCol="0" anchor="t"/>
          <a:lstStyle/>
          <a:p>
            <a:pPr indent="0" marL="0">
              <a:buNone/>
            </a:pPr>
            <a:r>
              <a:rPr lang="en-US" sz="1300" b="1" dirty="0">
                <a:solidFill>
                  <a:schemeClr val="tx2"/>
                </a:solidFill>
              </a:rPr>
              <a:t>Light-touch review. 2 source classes. Accept “no AI” only after ≥ 1 page.</a:t>
            </a:r>
            <a:endParaRPr lang="en-US" sz="1300" dirty="0"/>
          </a:p>
        </p:txBody>
      </p:sp>
      <p:sp>
        <p:nvSpPr>
          <p:cNvPr id="27" name="Text 23"/>
          <p:cNvSpPr txBox="1"/>
          <p:nvPr/>
        </p:nvSpPr>
        <p:spPr>
          <a:xfrm>
            <a:off x="6080760" y="4974336"/>
            <a:ext cx="5440680" cy="457200"/>
          </a:xfrm>
          <a:prstGeom prst="rect">
            <a:avLst/>
          </a:prstGeom>
          <a:noFill/>
          <a:ln/>
        </p:spPr>
        <p:txBody>
          <a:bodyPr wrap="square" lIns="0" tIns="0" rIns="0" bIns="0" rtlCol="0" anchor="t"/>
          <a:lstStyle/>
          <a:p>
            <a:pPr indent="0" marL="0">
              <a:buNone/>
            </a:pPr>
            <a:r>
              <a:rPr lang="en-US" sz="1100" dirty="0">
                <a:solidFill>
                  <a:schemeClr val="tx1"/>
                </a:solidFill>
              </a:rPr>
              <a:t>Stop after homepage, trust and newsroom pages.</a:t>
            </a:r>
            <a:endParaRPr lang="en-US" sz="1100" dirty="0"/>
          </a:p>
        </p:txBody>
      </p:sp>
      <p:sp>
        <p:nvSpPr>
          <p:cNvPr id="28" name="Text 24"/>
          <p:cNvSpPr txBox="1"/>
          <p:nvPr/>
        </p:nvSpPr>
        <p:spPr>
          <a:xfrm>
            <a:off x="548640" y="5623560"/>
            <a:ext cx="11064240" cy="640080"/>
          </a:xfrm>
          <a:prstGeom prst="rect">
            <a:avLst/>
          </a:prstGeom>
          <a:noFill/>
          <a:ln/>
        </p:spPr>
        <p:txBody>
          <a:bodyPr wrap="square" lIns="0" tIns="0" rIns="0" bIns="0" rtlCol="0" anchor="t"/>
          <a:lstStyle/>
          <a:p>
            <a:pPr indent="0" marL="0">
              <a:buNone/>
            </a:pPr>
            <a:r>
              <a:rPr lang="en-US" sz="1300" i="1" dirty="0">
                <a:solidFill>
                  <a:schemeClr val="accent6"/>
                </a:solidFill>
              </a:rPr>
              <a:t>The pipeline enforces the page budget and the minimum pages before a “no” is accepted; source-class lists and stop rules guide the analyst's follow-up. Beyond that point further sweeps rarely change the rating and the vendor questionnaire takes over.</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Which public sources reveal real AI use</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Each source class carries a weight that reflects how reliably it shows genuine AI use.</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graphicFrame>
        <p:nvGraphicFramePr>
          <p:cNvPr id="7" name="Chart 0" descr=""/>
          <p:cNvGraphicFramePr/>
          <p:nvPr/>
        </p:nvGraphicFramePr>
        <p:xfrm>
          <a:off x="548640" y="1737360"/>
          <a:ext cx="5669280" cy="448056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6492240" y="1783080"/>
            <a:ext cx="512064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WHY EACH SOURCE IS WEIGHTED THIS WAY</a:t>
            </a:r>
            <a:endParaRPr lang="en-US" sz="1200" dirty="0"/>
          </a:p>
        </p:txBody>
      </p:sp>
      <p:sp>
        <p:nvSpPr>
          <p:cNvPr id="9" name="Shape 5"/>
          <p:cNvSpPr/>
          <p:nvPr/>
        </p:nvSpPr>
        <p:spPr>
          <a:xfrm>
            <a:off x="6492240" y="2148840"/>
            <a:ext cx="5148072" cy="777240"/>
          </a:xfrm>
          <a:prstGeom prst="roundRect">
            <a:avLst>
              <a:gd name="adj" fmla="val 8235"/>
            </a:avLst>
          </a:prstGeom>
          <a:solidFill>
            <a:schemeClr val="bg2"/>
          </a:solidFill>
          <a:ln w="9525">
            <a:solidFill>
              <a:schemeClr val="bg2"/>
            </a:solidFill>
            <a:prstDash val="solid"/>
          </a:ln>
        </p:spPr>
      </p:sp>
      <p:sp>
        <p:nvSpPr>
          <p:cNvPr id="10" name="Text 6"/>
          <p:cNvSpPr txBox="1"/>
          <p:nvPr/>
        </p:nvSpPr>
        <p:spPr>
          <a:xfrm>
            <a:off x="6656832" y="2221992"/>
            <a:ext cx="4846320" cy="274320"/>
          </a:xfrm>
          <a:prstGeom prst="rect">
            <a:avLst/>
          </a:prstGeom>
          <a:noFill/>
          <a:ln/>
        </p:spPr>
        <p:txBody>
          <a:bodyPr wrap="square" lIns="0" tIns="0" rIns="0" bIns="0" rtlCol="0" anchor="t"/>
          <a:lstStyle/>
          <a:p>
            <a:pPr indent="0" marL="0">
              <a:buNone/>
            </a:pPr>
            <a:r>
              <a:rPr lang="en-US" sz="1400" b="1" dirty="0">
                <a:solidFill>
                  <a:schemeClr val="tx2"/>
                </a:solidFill>
              </a:rPr>
              <a:t>Filings and technical docs</a:t>
            </a:r>
            <a:endParaRPr lang="en-US" sz="1400" dirty="0"/>
          </a:p>
        </p:txBody>
      </p:sp>
      <p:sp>
        <p:nvSpPr>
          <p:cNvPr id="11" name="Text 7"/>
          <p:cNvSpPr txBox="1"/>
          <p:nvPr/>
        </p:nvSpPr>
        <p:spPr>
          <a:xfrm>
            <a:off x="6656832" y="2514600"/>
            <a:ext cx="4846320" cy="365760"/>
          </a:xfrm>
          <a:prstGeom prst="rect">
            <a:avLst/>
          </a:prstGeom>
          <a:noFill/>
          <a:ln/>
        </p:spPr>
        <p:txBody>
          <a:bodyPr wrap="square" lIns="0" tIns="0" rIns="0" bIns="0" rtlCol="0" anchor="t"/>
          <a:lstStyle/>
          <a:p>
            <a:pPr indent="0" marL="0">
              <a:buNone/>
            </a:pPr>
            <a:r>
              <a:rPr lang="en-US" sz="1200" dirty="0">
                <a:solidFill>
                  <a:schemeClr val="tx1"/>
                </a:solidFill>
              </a:rPr>
              <a:t>Legally accountable or describe real capability.</a:t>
            </a:r>
            <a:endParaRPr lang="en-US" sz="1200" dirty="0"/>
          </a:p>
        </p:txBody>
      </p:sp>
      <p:sp>
        <p:nvSpPr>
          <p:cNvPr id="12" name="Shape 8"/>
          <p:cNvSpPr/>
          <p:nvPr/>
        </p:nvSpPr>
        <p:spPr>
          <a:xfrm>
            <a:off x="6492240" y="3017520"/>
            <a:ext cx="5148072" cy="777240"/>
          </a:xfrm>
          <a:prstGeom prst="roundRect">
            <a:avLst>
              <a:gd name="adj" fmla="val 8235"/>
            </a:avLst>
          </a:prstGeom>
          <a:solidFill>
            <a:schemeClr val="bg2"/>
          </a:solidFill>
          <a:ln w="9525">
            <a:solidFill>
              <a:schemeClr val="bg2"/>
            </a:solidFill>
            <a:prstDash val="solid"/>
          </a:ln>
        </p:spPr>
      </p:sp>
      <p:sp>
        <p:nvSpPr>
          <p:cNvPr id="13" name="Text 9"/>
          <p:cNvSpPr txBox="1"/>
          <p:nvPr/>
        </p:nvSpPr>
        <p:spPr>
          <a:xfrm>
            <a:off x="6656832" y="3090672"/>
            <a:ext cx="4846320" cy="274320"/>
          </a:xfrm>
          <a:prstGeom prst="rect">
            <a:avLst/>
          </a:prstGeom>
          <a:noFill/>
          <a:ln/>
        </p:spPr>
        <p:txBody>
          <a:bodyPr wrap="square" lIns="0" tIns="0" rIns="0" bIns="0" rtlCol="0" anchor="t"/>
          <a:lstStyle/>
          <a:p>
            <a:pPr indent="0" marL="0">
              <a:buNone/>
            </a:pPr>
            <a:r>
              <a:rPr lang="en-US" sz="1400" b="1" dirty="0">
                <a:solidFill>
                  <a:schemeClr val="tx2"/>
                </a:solidFill>
              </a:rPr>
              <a:t>Press and executive statements</a:t>
            </a:r>
            <a:endParaRPr lang="en-US" sz="1400" dirty="0"/>
          </a:p>
        </p:txBody>
      </p:sp>
      <p:sp>
        <p:nvSpPr>
          <p:cNvPr id="14" name="Text 10"/>
          <p:cNvSpPr txBox="1"/>
          <p:nvPr/>
        </p:nvSpPr>
        <p:spPr>
          <a:xfrm>
            <a:off x="6656832" y="3383280"/>
            <a:ext cx="4846320" cy="365760"/>
          </a:xfrm>
          <a:prstGeom prst="rect">
            <a:avLst/>
          </a:prstGeom>
          <a:noFill/>
          <a:ln/>
        </p:spPr>
        <p:txBody>
          <a:bodyPr wrap="square" lIns="0" tIns="0" rIns="0" bIns="0" rtlCol="0" anchor="t"/>
          <a:lstStyle/>
          <a:p>
            <a:pPr indent="0" marL="0">
              <a:buNone/>
            </a:pPr>
            <a:r>
              <a:rPr lang="en-US" sz="1200" dirty="0">
                <a:solidFill>
                  <a:schemeClr val="tx1"/>
                </a:solidFill>
              </a:rPr>
              <a:t>Approved announcements: reliable on the fact of use, vague on detail.</a:t>
            </a:r>
            <a:endParaRPr lang="en-US" sz="1200" dirty="0"/>
          </a:p>
        </p:txBody>
      </p:sp>
      <p:sp>
        <p:nvSpPr>
          <p:cNvPr id="15" name="Shape 11"/>
          <p:cNvSpPr/>
          <p:nvPr/>
        </p:nvSpPr>
        <p:spPr>
          <a:xfrm>
            <a:off x="6492240" y="3886200"/>
            <a:ext cx="5148072" cy="777240"/>
          </a:xfrm>
          <a:prstGeom prst="roundRect">
            <a:avLst>
              <a:gd name="adj" fmla="val 8235"/>
            </a:avLst>
          </a:prstGeom>
          <a:solidFill>
            <a:schemeClr val="bg2"/>
          </a:solidFill>
          <a:ln w="9525">
            <a:solidFill>
              <a:schemeClr val="bg2"/>
            </a:solidFill>
            <a:prstDash val="solid"/>
          </a:ln>
        </p:spPr>
      </p:sp>
      <p:sp>
        <p:nvSpPr>
          <p:cNvPr id="16" name="Text 12"/>
          <p:cNvSpPr txBox="1"/>
          <p:nvPr/>
        </p:nvSpPr>
        <p:spPr>
          <a:xfrm>
            <a:off x="6656832" y="3959352"/>
            <a:ext cx="4846320" cy="274320"/>
          </a:xfrm>
          <a:prstGeom prst="rect">
            <a:avLst/>
          </a:prstGeom>
          <a:noFill/>
          <a:ln/>
        </p:spPr>
        <p:txBody>
          <a:bodyPr wrap="square" lIns="0" tIns="0" rIns="0" bIns="0" rtlCol="0" anchor="t"/>
          <a:lstStyle/>
          <a:p>
            <a:pPr indent="0" marL="0">
              <a:buNone/>
            </a:pPr>
            <a:r>
              <a:rPr lang="en-US" sz="1400" b="1" dirty="0">
                <a:solidFill>
                  <a:schemeClr val="tx2"/>
                </a:solidFill>
              </a:rPr>
              <a:t>Blogs and job posts</a:t>
            </a:r>
            <a:endParaRPr lang="en-US" sz="1400" dirty="0"/>
          </a:p>
        </p:txBody>
      </p:sp>
      <p:sp>
        <p:nvSpPr>
          <p:cNvPr id="17" name="Text 13"/>
          <p:cNvSpPr txBox="1"/>
          <p:nvPr/>
        </p:nvSpPr>
        <p:spPr>
          <a:xfrm>
            <a:off x="6656832" y="4251960"/>
            <a:ext cx="4846320" cy="365760"/>
          </a:xfrm>
          <a:prstGeom prst="rect">
            <a:avLst/>
          </a:prstGeom>
          <a:noFill/>
          <a:ln/>
        </p:spPr>
        <p:txBody>
          <a:bodyPr wrap="square" lIns="0" tIns="0" rIns="0" bIns="0" rtlCol="0" anchor="t"/>
          <a:lstStyle/>
          <a:p>
            <a:pPr indent="0" marL="0">
              <a:buNone/>
            </a:pPr>
            <a:r>
              <a:rPr lang="en-US" sz="1200" dirty="0">
                <a:solidFill>
                  <a:schemeClr val="tx1"/>
                </a:solidFill>
              </a:rPr>
              <a:t>Real capability mixed with positioning; hiring shows intent, not production.</a:t>
            </a:r>
            <a:endParaRPr lang="en-US" sz="1200" dirty="0"/>
          </a:p>
        </p:txBody>
      </p:sp>
      <p:sp>
        <p:nvSpPr>
          <p:cNvPr id="18" name="Shape 14"/>
          <p:cNvSpPr/>
          <p:nvPr/>
        </p:nvSpPr>
        <p:spPr>
          <a:xfrm>
            <a:off x="6492240" y="4754880"/>
            <a:ext cx="5148072" cy="777240"/>
          </a:xfrm>
          <a:prstGeom prst="roundRect">
            <a:avLst>
              <a:gd name="adj" fmla="val 8235"/>
            </a:avLst>
          </a:prstGeom>
          <a:solidFill>
            <a:schemeClr val="bg2"/>
          </a:solidFill>
          <a:ln w="9525">
            <a:solidFill>
              <a:schemeClr val="bg2"/>
            </a:solidFill>
            <a:prstDash val="solid"/>
          </a:ln>
        </p:spPr>
      </p:sp>
      <p:sp>
        <p:nvSpPr>
          <p:cNvPr id="19" name="Text 15"/>
          <p:cNvSpPr txBox="1"/>
          <p:nvPr/>
        </p:nvSpPr>
        <p:spPr>
          <a:xfrm>
            <a:off x="6656832" y="4828032"/>
            <a:ext cx="4846320" cy="274320"/>
          </a:xfrm>
          <a:prstGeom prst="rect">
            <a:avLst/>
          </a:prstGeom>
          <a:noFill/>
          <a:ln/>
        </p:spPr>
        <p:txBody>
          <a:bodyPr wrap="square" lIns="0" tIns="0" rIns="0" bIns="0" rtlCol="0" anchor="t"/>
          <a:lstStyle/>
          <a:p>
            <a:pPr indent="0" marL="0">
              <a:buNone/>
            </a:pPr>
            <a:r>
              <a:rPr lang="en-US" sz="1400" b="1" dirty="0">
                <a:solidFill>
                  <a:schemeClr val="tx2"/>
                </a:solidFill>
              </a:rPr>
              <a:t>Media and marketing</a:t>
            </a:r>
            <a:endParaRPr lang="en-US" sz="1400" dirty="0"/>
          </a:p>
        </p:txBody>
      </p:sp>
      <p:sp>
        <p:nvSpPr>
          <p:cNvPr id="20" name="Text 16"/>
          <p:cNvSpPr txBox="1"/>
          <p:nvPr/>
        </p:nvSpPr>
        <p:spPr>
          <a:xfrm>
            <a:off x="6656832" y="5120640"/>
            <a:ext cx="4846320" cy="365760"/>
          </a:xfrm>
          <a:prstGeom prst="rect">
            <a:avLst/>
          </a:prstGeom>
          <a:noFill/>
          <a:ln/>
        </p:spPr>
        <p:txBody>
          <a:bodyPr wrap="square" lIns="0" tIns="0" rIns="0" bIns="0" rtlCol="0" anchor="t"/>
          <a:lstStyle/>
          <a:p>
            <a:pPr indent="0" marL="0">
              <a:buNone/>
            </a:pPr>
            <a:r>
              <a:rPr lang="en-US" sz="1200" dirty="0">
                <a:solidFill>
                  <a:schemeClr val="tx1"/>
                </a:solidFill>
              </a:rPr>
              <a:t>Second-hand or aspirational. Corroborates, never proves.</a:t>
            </a:r>
            <a:endParaRPr lang="en-US" sz="1200" dirty="0"/>
          </a:p>
        </p:txBody>
      </p:sp>
      <p:sp>
        <p:nvSpPr>
          <p:cNvPr id="21" name="Text 17"/>
          <p:cNvSpPr txBox="1"/>
          <p:nvPr/>
        </p:nvSpPr>
        <p:spPr>
          <a:xfrm>
            <a:off x="6492240" y="5715000"/>
            <a:ext cx="5148072" cy="502920"/>
          </a:xfrm>
          <a:prstGeom prst="rect">
            <a:avLst/>
          </a:prstGeom>
          <a:noFill/>
          <a:ln/>
        </p:spPr>
        <p:txBody>
          <a:bodyPr wrap="square" lIns="0" tIns="0" rIns="0" bIns="0" rtlCol="0" anchor="t"/>
          <a:lstStyle/>
          <a:p>
            <a:pPr indent="0" marL="0">
              <a:buNone/>
            </a:pPr>
            <a:r>
              <a:rPr lang="en-US" sz="1300" i="1" dirty="0">
                <a:solidFill>
                  <a:schemeClr val="accent6"/>
                </a:solidFill>
              </a:rPr>
              <a:t>The tier sets which classes an analyst consults: all eight for Critical vendors, two for Low.</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Weighing evidence: how sure are we?</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Repetition from one source adds nothing; agreement between different kinds of source raises confidence.</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sp>
        <p:nvSpPr>
          <p:cNvPr id="7" name="Shape 4"/>
          <p:cNvSpPr/>
          <p:nvPr/>
        </p:nvSpPr>
        <p:spPr>
          <a:xfrm>
            <a:off x="548640" y="1783080"/>
            <a:ext cx="11091672" cy="1554480"/>
          </a:xfrm>
          <a:prstGeom prst="roundRect">
            <a:avLst>
              <a:gd name="adj" fmla="val 4118"/>
            </a:avLst>
          </a:prstGeom>
          <a:solidFill>
            <a:schemeClr val="bg2"/>
          </a:solidFill>
          <a:ln w="6350">
            <a:solidFill>
              <a:schemeClr val="bg2"/>
            </a:solidFill>
            <a:prstDash val="solid"/>
          </a:ln>
        </p:spPr>
      </p:sp>
      <p:sp>
        <p:nvSpPr>
          <p:cNvPr id="8" name="Text 5"/>
          <p:cNvSpPr txBox="1"/>
          <p:nvPr/>
        </p:nvSpPr>
        <p:spPr>
          <a:xfrm>
            <a:off x="731520" y="1856232"/>
            <a:ext cx="45720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1  SCORE EACH SIGNAL</a:t>
            </a:r>
            <a:endParaRPr lang="en-US" sz="1200" dirty="0"/>
          </a:p>
        </p:txBody>
      </p:sp>
      <p:sp>
        <p:nvSpPr>
          <p:cNvPr id="9" name="Shape 6"/>
          <p:cNvSpPr/>
          <p:nvPr/>
        </p:nvSpPr>
        <p:spPr>
          <a:xfrm>
            <a:off x="731520" y="2194560"/>
            <a:ext cx="2011680" cy="1005840"/>
          </a:xfrm>
          <a:prstGeom prst="roundRect">
            <a:avLst>
              <a:gd name="adj" fmla="val 6364"/>
            </a:avLst>
          </a:prstGeom>
          <a:solidFill>
            <a:schemeClr val="bg1"/>
          </a:solidFill>
          <a:ln w="15875">
            <a:solidFill>
              <a:schemeClr val="accent1"/>
            </a:solidFill>
            <a:prstDash val="solid"/>
          </a:ln>
        </p:spPr>
      </p:sp>
      <p:sp>
        <p:nvSpPr>
          <p:cNvPr id="10" name="Text 7"/>
          <p:cNvSpPr txBox="1"/>
          <p:nvPr/>
        </p:nvSpPr>
        <p:spPr>
          <a:xfrm>
            <a:off x="822960" y="2240280"/>
            <a:ext cx="1828800" cy="320040"/>
          </a:xfrm>
          <a:prstGeom prst="rect">
            <a:avLst/>
          </a:prstGeom>
          <a:noFill/>
          <a:ln/>
        </p:spPr>
        <p:txBody>
          <a:bodyPr wrap="square" lIns="0" tIns="0" rIns="0" bIns="0" rtlCol="0" anchor="t"/>
          <a:lstStyle/>
          <a:p>
            <a:pPr indent="0" marL="0">
              <a:buNone/>
            </a:pPr>
            <a:r>
              <a:rPr lang="en-US" sz="1400" b="1" dirty="0">
                <a:solidFill>
                  <a:schemeClr val="tx2"/>
                </a:solidFill>
              </a:rPr>
              <a:t>Source weight   0.8</a:t>
            </a:r>
            <a:endParaRPr lang="en-US" sz="1400" dirty="0"/>
          </a:p>
        </p:txBody>
      </p:sp>
      <p:sp>
        <p:nvSpPr>
          <p:cNvPr id="11" name="Text 8"/>
          <p:cNvSpPr txBox="1"/>
          <p:nvPr/>
        </p:nvSpPr>
        <p:spPr>
          <a:xfrm>
            <a:off x="822960" y="2578608"/>
            <a:ext cx="1828800" cy="594360"/>
          </a:xfrm>
          <a:prstGeom prst="rect">
            <a:avLst/>
          </a:prstGeom>
          <a:noFill/>
          <a:ln/>
        </p:spPr>
        <p:txBody>
          <a:bodyPr wrap="square" lIns="0" tIns="0" rIns="0" bIns="0" rtlCol="0" anchor="t"/>
          <a:lstStyle/>
          <a:p>
            <a:pPr indent="0" marL="0">
              <a:buNone/>
            </a:pPr>
            <a:r>
              <a:rPr lang="en-US" sz="1100" dirty="0">
                <a:solidFill>
                  <a:schemeClr val="tx1"/>
                </a:solidFill>
              </a:rPr>
              <a:t>reliability of the source class (press release shown)</a:t>
            </a:r>
            <a:endParaRPr lang="en-US" sz="1100" dirty="0"/>
          </a:p>
        </p:txBody>
      </p:sp>
      <p:sp>
        <p:nvSpPr>
          <p:cNvPr id="12" name="Text 9"/>
          <p:cNvSpPr txBox="1"/>
          <p:nvPr/>
        </p:nvSpPr>
        <p:spPr>
          <a:xfrm>
            <a:off x="2743200" y="2286000"/>
            <a:ext cx="365760" cy="640080"/>
          </a:xfrm>
          <a:prstGeom prst="rect">
            <a:avLst/>
          </a:prstGeom>
          <a:noFill/>
          <a:ln/>
        </p:spPr>
        <p:txBody>
          <a:bodyPr wrap="square" lIns="0" tIns="0" rIns="0" bIns="0" rtlCol="0" anchor="ctr"/>
          <a:lstStyle/>
          <a:p>
            <a:pPr algn="ctr" indent="0" marL="0">
              <a:buNone/>
            </a:pPr>
            <a:r>
              <a:rPr lang="en-US" sz="2600" b="1" dirty="0">
                <a:solidFill>
                  <a:schemeClr val="accent2"/>
                </a:solidFill>
              </a:rPr>
              <a:t>×</a:t>
            </a:r>
            <a:endParaRPr lang="en-US" sz="2600" dirty="0"/>
          </a:p>
        </p:txBody>
      </p:sp>
      <p:sp>
        <p:nvSpPr>
          <p:cNvPr id="13" name="Shape 10"/>
          <p:cNvSpPr/>
          <p:nvPr/>
        </p:nvSpPr>
        <p:spPr>
          <a:xfrm>
            <a:off x="3108960" y="2194560"/>
            <a:ext cx="2834640" cy="1005840"/>
          </a:xfrm>
          <a:prstGeom prst="roundRect">
            <a:avLst>
              <a:gd name="adj" fmla="val 6364"/>
            </a:avLst>
          </a:prstGeom>
          <a:solidFill>
            <a:schemeClr val="bg1"/>
          </a:solidFill>
          <a:ln w="15875">
            <a:solidFill>
              <a:schemeClr val="accent1"/>
            </a:solidFill>
            <a:prstDash val="solid"/>
          </a:ln>
        </p:spPr>
      </p:sp>
      <p:sp>
        <p:nvSpPr>
          <p:cNvPr id="14" name="Text 11"/>
          <p:cNvSpPr txBox="1"/>
          <p:nvPr/>
        </p:nvSpPr>
        <p:spPr>
          <a:xfrm>
            <a:off x="3200400" y="2240280"/>
            <a:ext cx="2651760" cy="320040"/>
          </a:xfrm>
          <a:prstGeom prst="rect">
            <a:avLst/>
          </a:prstGeom>
          <a:noFill/>
          <a:ln/>
        </p:spPr>
        <p:txBody>
          <a:bodyPr wrap="square" lIns="0" tIns="0" rIns="0" bIns="0" rtlCol="0" anchor="t"/>
          <a:lstStyle/>
          <a:p>
            <a:pPr indent="0" marL="0">
              <a:buNone/>
            </a:pPr>
            <a:r>
              <a:rPr lang="en-US" sz="1400" b="1" dirty="0">
                <a:solidFill>
                  <a:schemeClr val="tx2"/>
                </a:solidFill>
              </a:rPr>
              <a:t>Signal type   1.0</a:t>
            </a:r>
            <a:endParaRPr lang="en-US" sz="1400" dirty="0"/>
          </a:p>
        </p:txBody>
      </p:sp>
      <p:sp>
        <p:nvSpPr>
          <p:cNvPr id="15" name="Text 12"/>
          <p:cNvSpPr txBox="1"/>
          <p:nvPr/>
        </p:nvSpPr>
        <p:spPr>
          <a:xfrm>
            <a:off x="3200400" y="2578608"/>
            <a:ext cx="2651760" cy="594360"/>
          </a:xfrm>
          <a:prstGeom prst="rect">
            <a:avLst/>
          </a:prstGeom>
          <a:noFill/>
          <a:ln/>
        </p:spPr>
        <p:txBody>
          <a:bodyPr wrap="square" lIns="0" tIns="0" rIns="0" bIns="0" rtlCol="0" anchor="t"/>
          <a:lstStyle/>
          <a:p>
            <a:pPr indent="0" marL="0">
              <a:buNone/>
            </a:pPr>
            <a:r>
              <a:rPr lang="en-US" sz="1100" dirty="0">
                <a:solidFill>
                  <a:schemeClr val="tx1"/>
                </a:solidFill>
              </a:rPr>
              <a:t>deployed 1.0 · feature 0.8 · partnership 0.7 · hiring 0.5 · marketing 0.15</a:t>
            </a:r>
            <a:endParaRPr lang="en-US" sz="1100" dirty="0"/>
          </a:p>
        </p:txBody>
      </p:sp>
      <p:sp>
        <p:nvSpPr>
          <p:cNvPr id="16" name="Text 13"/>
          <p:cNvSpPr txBox="1"/>
          <p:nvPr/>
        </p:nvSpPr>
        <p:spPr>
          <a:xfrm>
            <a:off x="5943600" y="2286000"/>
            <a:ext cx="365760" cy="640080"/>
          </a:xfrm>
          <a:prstGeom prst="rect">
            <a:avLst/>
          </a:prstGeom>
          <a:noFill/>
          <a:ln/>
        </p:spPr>
        <p:txBody>
          <a:bodyPr wrap="square" lIns="0" tIns="0" rIns="0" bIns="0" rtlCol="0" anchor="ctr"/>
          <a:lstStyle/>
          <a:p>
            <a:pPr algn="ctr" indent="0" marL="0">
              <a:buNone/>
            </a:pPr>
            <a:r>
              <a:rPr lang="en-US" sz="2600" b="1" dirty="0">
                <a:solidFill>
                  <a:schemeClr val="accent2"/>
                </a:solidFill>
              </a:rPr>
              <a:t>×</a:t>
            </a:r>
            <a:endParaRPr lang="en-US" sz="2600" dirty="0"/>
          </a:p>
        </p:txBody>
      </p:sp>
      <p:sp>
        <p:nvSpPr>
          <p:cNvPr id="17" name="Shape 14"/>
          <p:cNvSpPr/>
          <p:nvPr/>
        </p:nvSpPr>
        <p:spPr>
          <a:xfrm>
            <a:off x="6309360" y="2194560"/>
            <a:ext cx="2011680" cy="1005840"/>
          </a:xfrm>
          <a:prstGeom prst="roundRect">
            <a:avLst>
              <a:gd name="adj" fmla="val 6364"/>
            </a:avLst>
          </a:prstGeom>
          <a:solidFill>
            <a:schemeClr val="bg1"/>
          </a:solidFill>
          <a:ln w="15875">
            <a:solidFill>
              <a:schemeClr val="accent1"/>
            </a:solidFill>
            <a:prstDash val="solid"/>
          </a:ln>
        </p:spPr>
      </p:sp>
      <p:sp>
        <p:nvSpPr>
          <p:cNvPr id="18" name="Text 15"/>
          <p:cNvSpPr txBox="1"/>
          <p:nvPr/>
        </p:nvSpPr>
        <p:spPr>
          <a:xfrm>
            <a:off x="6400800" y="2240280"/>
            <a:ext cx="1828800" cy="320040"/>
          </a:xfrm>
          <a:prstGeom prst="rect">
            <a:avLst/>
          </a:prstGeom>
          <a:noFill/>
          <a:ln/>
        </p:spPr>
        <p:txBody>
          <a:bodyPr wrap="square" lIns="0" tIns="0" rIns="0" bIns="0" rtlCol="0" anchor="t"/>
          <a:lstStyle/>
          <a:p>
            <a:pPr indent="0" marL="0">
              <a:buNone/>
            </a:pPr>
            <a:r>
              <a:rPr lang="en-US" sz="1400" b="1" dirty="0">
                <a:solidFill>
                  <a:schemeClr val="tx2"/>
                </a:solidFill>
              </a:rPr>
              <a:t>Trust   0.9</a:t>
            </a:r>
            <a:endParaRPr lang="en-US" sz="1400" dirty="0"/>
          </a:p>
        </p:txBody>
      </p:sp>
      <p:sp>
        <p:nvSpPr>
          <p:cNvPr id="19" name="Text 16"/>
          <p:cNvSpPr txBox="1"/>
          <p:nvPr/>
        </p:nvSpPr>
        <p:spPr>
          <a:xfrm>
            <a:off x="6400800" y="2578608"/>
            <a:ext cx="1828800" cy="594360"/>
          </a:xfrm>
          <a:prstGeom prst="rect">
            <a:avLst/>
          </a:prstGeom>
          <a:noFill/>
          <a:ln/>
        </p:spPr>
        <p:txBody>
          <a:bodyPr wrap="square" lIns="0" tIns="0" rIns="0" bIns="0" rtlCol="0" anchor="t"/>
          <a:lstStyle/>
          <a:p>
            <a:pPr indent="0" marL="0">
              <a:buNone/>
            </a:pPr>
            <a:r>
              <a:rPr lang="en-US" sz="1100" dirty="0">
                <a:solidFill>
                  <a:schemeClr val="tx1"/>
                </a:solidFill>
              </a:rPr>
              <a:t>1.0 machine-fetched · 0.9 analyst-recorded · 0.6 supplier's product</a:t>
            </a:r>
            <a:endParaRPr lang="en-US" sz="1100" dirty="0"/>
          </a:p>
        </p:txBody>
      </p:sp>
      <p:sp>
        <p:nvSpPr>
          <p:cNvPr id="20" name="Text 17"/>
          <p:cNvSpPr txBox="1"/>
          <p:nvPr/>
        </p:nvSpPr>
        <p:spPr>
          <a:xfrm>
            <a:off x="8321040" y="2286000"/>
            <a:ext cx="365760" cy="640080"/>
          </a:xfrm>
          <a:prstGeom prst="rect">
            <a:avLst/>
          </a:prstGeom>
          <a:noFill/>
          <a:ln/>
        </p:spPr>
        <p:txBody>
          <a:bodyPr wrap="square" lIns="0" tIns="0" rIns="0" bIns="0" rtlCol="0" anchor="ctr"/>
          <a:lstStyle/>
          <a:p>
            <a:pPr algn="ctr" indent="0" marL="0">
              <a:buNone/>
            </a:pPr>
            <a:r>
              <a:rPr lang="en-US" sz="2600" b="1" dirty="0">
                <a:solidFill>
                  <a:schemeClr val="accent2"/>
                </a:solidFill>
              </a:rPr>
              <a:t>=</a:t>
            </a:r>
            <a:endParaRPr lang="en-US" sz="2600" dirty="0"/>
          </a:p>
        </p:txBody>
      </p:sp>
      <p:sp>
        <p:nvSpPr>
          <p:cNvPr id="21" name="Shape 18"/>
          <p:cNvSpPr/>
          <p:nvPr/>
        </p:nvSpPr>
        <p:spPr>
          <a:xfrm>
            <a:off x="8686800" y="2194560"/>
            <a:ext cx="1737360" cy="1005840"/>
          </a:xfrm>
          <a:prstGeom prst="roundRect">
            <a:avLst>
              <a:gd name="adj" fmla="val 6364"/>
            </a:avLst>
          </a:prstGeom>
          <a:solidFill>
            <a:schemeClr val="bg1"/>
          </a:solidFill>
          <a:ln w="15875">
            <a:solidFill>
              <a:schemeClr val="accent1"/>
            </a:solidFill>
            <a:prstDash val="solid"/>
          </a:ln>
        </p:spPr>
      </p:sp>
      <p:sp>
        <p:nvSpPr>
          <p:cNvPr id="22" name="Text 19"/>
          <p:cNvSpPr txBox="1"/>
          <p:nvPr/>
        </p:nvSpPr>
        <p:spPr>
          <a:xfrm>
            <a:off x="8778240" y="2240280"/>
            <a:ext cx="1554480" cy="320040"/>
          </a:xfrm>
          <a:prstGeom prst="rect">
            <a:avLst/>
          </a:prstGeom>
          <a:noFill/>
          <a:ln/>
        </p:spPr>
        <p:txBody>
          <a:bodyPr wrap="square" lIns="0" tIns="0" rIns="0" bIns="0" rtlCol="0" anchor="t"/>
          <a:lstStyle/>
          <a:p>
            <a:pPr indent="0" marL="0">
              <a:buNone/>
            </a:pPr>
            <a:r>
              <a:rPr lang="en-US" sz="1400" b="1" dirty="0">
                <a:solidFill>
                  <a:schemeClr val="tx2"/>
                </a:solidFill>
              </a:rPr>
              <a:t>Signal score   0.72</a:t>
            </a:r>
            <a:endParaRPr lang="en-US" sz="1400" dirty="0"/>
          </a:p>
        </p:txBody>
      </p:sp>
      <p:sp>
        <p:nvSpPr>
          <p:cNvPr id="23" name="Text 20"/>
          <p:cNvSpPr txBox="1"/>
          <p:nvPr/>
        </p:nvSpPr>
        <p:spPr>
          <a:xfrm>
            <a:off x="8778240" y="2578608"/>
            <a:ext cx="1554480" cy="594360"/>
          </a:xfrm>
          <a:prstGeom prst="rect">
            <a:avLst/>
          </a:prstGeom>
          <a:noFill/>
          <a:ln/>
        </p:spPr>
        <p:txBody>
          <a:bodyPr wrap="square" lIns="0" tIns="0" rIns="0" bIns="0" rtlCol="0" anchor="t"/>
          <a:lstStyle/>
          <a:p>
            <a:pPr indent="0" marL="0">
              <a:buNone/>
            </a:pPr>
            <a:r>
              <a:rPr lang="en-US" sz="1100" dirty="0">
                <a:solidFill>
                  <a:schemeClr val="tx1"/>
                </a:solidFill>
              </a:rPr>
              <a:t>Fiserv press release example</a:t>
            </a:r>
            <a:endParaRPr lang="en-US" sz="1100" dirty="0"/>
          </a:p>
        </p:txBody>
      </p:sp>
      <p:sp>
        <p:nvSpPr>
          <p:cNvPr id="24" name="Shape 21"/>
          <p:cNvSpPr/>
          <p:nvPr/>
        </p:nvSpPr>
        <p:spPr>
          <a:xfrm>
            <a:off x="548640" y="3520440"/>
            <a:ext cx="5394960" cy="2697480"/>
          </a:xfrm>
          <a:prstGeom prst="roundRect">
            <a:avLst>
              <a:gd name="adj" fmla="val 2373"/>
            </a:avLst>
          </a:prstGeom>
          <a:solidFill>
            <a:schemeClr val="bg2"/>
          </a:solidFill>
          <a:ln w="6350">
            <a:solidFill>
              <a:schemeClr val="bg2"/>
            </a:solidFill>
            <a:prstDash val="solid"/>
          </a:ln>
        </p:spPr>
      </p:sp>
      <p:sp>
        <p:nvSpPr>
          <p:cNvPr id="25" name="Text 22"/>
          <p:cNvSpPr txBox="1"/>
          <p:nvPr/>
        </p:nvSpPr>
        <p:spPr>
          <a:xfrm>
            <a:off x="731520" y="3593592"/>
            <a:ext cx="5029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2  COMBINE BY SOURCE CLASS</a:t>
            </a:r>
            <a:endParaRPr lang="en-US" sz="1200" dirty="0"/>
          </a:p>
        </p:txBody>
      </p:sp>
      <p:sp>
        <p:nvSpPr>
          <p:cNvPr id="26" name="Text 23"/>
          <p:cNvSpPr txBox="1"/>
          <p:nvPr/>
        </p:nvSpPr>
        <p:spPr>
          <a:xfrm>
            <a:off x="731520" y="3913632"/>
            <a:ext cx="5029200" cy="548640"/>
          </a:xfrm>
          <a:prstGeom prst="rect">
            <a:avLst/>
          </a:prstGeom>
          <a:noFill/>
          <a:ln/>
        </p:spPr>
        <p:txBody>
          <a:bodyPr wrap="square" lIns="0" tIns="0" rIns="0" bIns="0" rtlCol="0" anchor="t"/>
          <a:lstStyle/>
          <a:p>
            <a:pPr indent="0" marL="0">
              <a:buNone/>
            </a:pPr>
            <a:r>
              <a:rPr lang="en-US" sz="1300" dirty="0">
                <a:solidFill>
                  <a:schemeClr val="tx1"/>
                </a:solidFill>
              </a:rPr>
              <a:t>Keep the strongest signal per class, then combine the classes. More kinds of source agreeing means a higher score.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4526280"/>
          <a:ext cx="5029200" cy="914400"/>
        </p:xfrm>
        <a:graphic>
          <a:graphicData uri="http://schemas.openxmlformats.org/drawingml/2006/table">
            <a:tbl>
              <a:tblPr/>
              <a:tblGrid>
                <a:gridCol w="3931920"/>
                <a:gridCol w="1097280"/>
              </a:tblGrid>
              <a:tr h="365760">
                <a:tc>
                  <a:txBody>
                    <a:bodyPr/>
                    <a:lstStyle/>
                    <a:p>
                      <a:pPr indent="0" marL="0">
                        <a:buNone/>
                      </a:pPr>
                      <a:r>
                        <a:rPr lang="en-US" sz="1200" dirty="0">
                          <a:solidFill>
                            <a:srgbClr val="17202E"/>
                          </a:solidFill>
                        </a:rPr>
                        <a:t>vendor press</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7202E"/>
                          </a:solidFill>
                        </a:rPr>
                        <a:t>0.72</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7202E"/>
                          </a:solidFill>
                        </a:rPr>
                        <a:t>third party media</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7202E"/>
                          </a:solidFill>
                        </a:rPr>
                        <a:t>0.36</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FFFFFF"/>
                          </a:solidFill>
                        </a:rPr>
                        <a:t>Fiserv: combined usage score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E7C86"/>
                    </a:solidFill>
                  </a:tcPr>
                </a:tc>
                <a:tc>
                  <a:txBody>
                    <a:bodyPr/>
                    <a:lstStyle/>
                    <a:p>
                      <a:pPr algn="r" indent="0" marL="0">
                        <a:buNone/>
                      </a:pPr>
                      <a:r>
                        <a:rPr lang="en-US" sz="1200" b="1" dirty="0">
                          <a:solidFill>
                            <a:srgbClr val="FFFFFF"/>
                          </a:solidFill>
                        </a:rPr>
                        <a:t>0.82</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E7C86"/>
                    </a:solidFill>
                  </a:tcPr>
                </a:tc>
              </a:tr>
            </a:tbl>
          </a:graphicData>
        </a:graphic>
      </p:graphicFrame>
      <p:sp>
        <p:nvSpPr>
          <p:cNvPr id="28" name="Shape 24"/>
          <p:cNvSpPr/>
          <p:nvPr/>
        </p:nvSpPr>
        <p:spPr>
          <a:xfrm>
            <a:off x="6217920" y="3520440"/>
            <a:ext cx="5422392" cy="2697480"/>
          </a:xfrm>
          <a:prstGeom prst="roundRect">
            <a:avLst>
              <a:gd name="adj" fmla="val 2373"/>
            </a:avLst>
          </a:prstGeom>
          <a:solidFill>
            <a:schemeClr val="bg2"/>
          </a:solidFill>
          <a:ln w="6350">
            <a:solidFill>
              <a:schemeClr val="bg2"/>
            </a:solidFill>
            <a:prstDash val="solid"/>
          </a:ln>
        </p:spPr>
      </p:sp>
      <p:sp>
        <p:nvSpPr>
          <p:cNvPr id="29" name="Text 25"/>
          <p:cNvSpPr txBox="1"/>
          <p:nvPr/>
        </p:nvSpPr>
        <p:spPr>
          <a:xfrm>
            <a:off x="6400800" y="3593592"/>
            <a:ext cx="5029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3  TAG AND DECIDE</a:t>
            </a:r>
            <a:endParaRPr lang="en-US" sz="1200" dirty="0"/>
          </a:p>
        </p:txBody>
      </p:sp>
      <p:sp>
        <p:nvSpPr>
          <p:cNvPr id="30" name="Shape 26"/>
          <p:cNvSpPr/>
          <p:nvPr/>
        </p:nvSpPr>
        <p:spPr>
          <a:xfrm>
            <a:off x="6400800" y="3931920"/>
            <a:ext cx="1417320" cy="365760"/>
          </a:xfrm>
          <a:prstGeom prst="roundRect">
            <a:avLst>
              <a:gd name="adj" fmla="val 15000"/>
            </a:avLst>
          </a:prstGeom>
          <a:solidFill>
            <a:srgbClr val="B42318"/>
          </a:solidFill>
          <a:ln w="6350">
            <a:solidFill>
              <a:srgbClr val="B42318"/>
            </a:solidFill>
            <a:prstDash val="solid"/>
          </a:ln>
        </p:spPr>
      </p:sp>
      <p:sp>
        <p:nvSpPr>
          <p:cNvPr id="31" name="Text 27"/>
          <p:cNvSpPr txBox="1"/>
          <p:nvPr/>
        </p:nvSpPr>
        <p:spPr>
          <a:xfrm>
            <a:off x="6400800" y="393192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Confirmed</a:t>
            </a:r>
            <a:endParaRPr lang="en-US" sz="1200" dirty="0"/>
          </a:p>
        </p:txBody>
      </p:sp>
      <p:sp>
        <p:nvSpPr>
          <p:cNvPr id="32" name="Text 28"/>
          <p:cNvSpPr txBox="1"/>
          <p:nvPr/>
        </p:nvSpPr>
        <p:spPr>
          <a:xfrm>
            <a:off x="7955280" y="3931920"/>
            <a:ext cx="2514600" cy="365760"/>
          </a:xfrm>
          <a:prstGeom prst="rect">
            <a:avLst/>
          </a:prstGeom>
          <a:noFill/>
          <a:ln/>
        </p:spPr>
        <p:txBody>
          <a:bodyPr wrap="square" lIns="0" tIns="0" rIns="0" bIns="0" rtlCol="0" anchor="ctr"/>
          <a:lstStyle/>
          <a:p>
            <a:pPr indent="0" marL="0">
              <a:buNone/>
            </a:pPr>
            <a:r>
              <a:rPr lang="en-US" sz="1100" dirty="0">
                <a:solidFill>
                  <a:schemeClr val="tx1"/>
                </a:solidFill>
              </a:rPr>
              <a:t>≥ 0.75 + one strong signal (source ≥ 0.7)</a:t>
            </a:r>
            <a:endParaRPr lang="en-US" sz="1100" dirty="0"/>
          </a:p>
        </p:txBody>
      </p:sp>
      <p:sp>
        <p:nvSpPr>
          <p:cNvPr id="33" name="Text 29"/>
          <p:cNvSpPr txBox="1"/>
          <p:nvPr/>
        </p:nvSpPr>
        <p:spPr>
          <a:xfrm>
            <a:off x="10469880" y="3931920"/>
            <a:ext cx="1143000" cy="365760"/>
          </a:xfrm>
          <a:prstGeom prst="rect">
            <a:avLst/>
          </a:prstGeom>
          <a:noFill/>
          <a:ln/>
        </p:spPr>
        <p:txBody>
          <a:bodyPr wrap="none" lIns="0" tIns="0" rIns="0" bIns="0" rtlCol="0" anchor="ctr"/>
          <a:lstStyle/>
          <a:p>
            <a:pPr indent="0" marL="0">
              <a:buNone/>
            </a:pPr>
            <a:r>
              <a:rPr lang="en-US" sz="1200" b="1" dirty="0">
                <a:solidFill>
                  <a:schemeClr val="tx2"/>
                </a:solidFill>
              </a:rPr>
              <a:t>→ Yes</a:t>
            </a:r>
            <a:endParaRPr lang="en-US" sz="1200" dirty="0"/>
          </a:p>
        </p:txBody>
      </p:sp>
      <p:sp>
        <p:nvSpPr>
          <p:cNvPr id="34" name="Shape 30"/>
          <p:cNvSpPr/>
          <p:nvPr/>
        </p:nvSpPr>
        <p:spPr>
          <a:xfrm>
            <a:off x="6400800" y="4389120"/>
            <a:ext cx="1417320" cy="365760"/>
          </a:xfrm>
          <a:prstGeom prst="roundRect">
            <a:avLst>
              <a:gd name="adj" fmla="val 15000"/>
            </a:avLst>
          </a:prstGeom>
          <a:solidFill>
            <a:srgbClr val="C77700"/>
          </a:solidFill>
          <a:ln w="6350">
            <a:solidFill>
              <a:srgbClr val="C77700"/>
            </a:solidFill>
            <a:prstDash val="solid"/>
          </a:ln>
        </p:spPr>
      </p:sp>
      <p:sp>
        <p:nvSpPr>
          <p:cNvPr id="35" name="Text 31"/>
          <p:cNvSpPr txBox="1"/>
          <p:nvPr/>
        </p:nvSpPr>
        <p:spPr>
          <a:xfrm>
            <a:off x="6400800" y="438912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Probable</a:t>
            </a:r>
            <a:endParaRPr lang="en-US" sz="1200" dirty="0"/>
          </a:p>
        </p:txBody>
      </p:sp>
      <p:sp>
        <p:nvSpPr>
          <p:cNvPr id="36" name="Text 32"/>
          <p:cNvSpPr txBox="1"/>
          <p:nvPr/>
        </p:nvSpPr>
        <p:spPr>
          <a:xfrm>
            <a:off x="7955280" y="4389120"/>
            <a:ext cx="2514600" cy="365760"/>
          </a:xfrm>
          <a:prstGeom prst="rect">
            <a:avLst/>
          </a:prstGeom>
          <a:noFill/>
          <a:ln/>
        </p:spPr>
        <p:txBody>
          <a:bodyPr wrap="square" lIns="0" tIns="0" rIns="0" bIns="0" rtlCol="0" anchor="ctr"/>
          <a:lstStyle/>
          <a:p>
            <a:pPr indent="0" marL="0">
              <a:buNone/>
            </a:pPr>
            <a:r>
              <a:rPr lang="en-US" sz="1100" dirty="0">
                <a:solidFill>
                  <a:schemeClr val="tx1"/>
                </a:solidFill>
              </a:rPr>
              <a:t>≥ 0.50</a:t>
            </a:r>
            <a:endParaRPr lang="en-US" sz="1100" dirty="0"/>
          </a:p>
        </p:txBody>
      </p:sp>
      <p:sp>
        <p:nvSpPr>
          <p:cNvPr id="37" name="Text 33"/>
          <p:cNvSpPr txBox="1"/>
          <p:nvPr/>
        </p:nvSpPr>
        <p:spPr>
          <a:xfrm>
            <a:off x="10469880" y="4389120"/>
            <a:ext cx="1143000" cy="365760"/>
          </a:xfrm>
          <a:prstGeom prst="rect">
            <a:avLst/>
          </a:prstGeom>
          <a:noFill/>
          <a:ln/>
        </p:spPr>
        <p:txBody>
          <a:bodyPr wrap="none" lIns="0" tIns="0" rIns="0" bIns="0" rtlCol="0" anchor="ctr"/>
          <a:lstStyle/>
          <a:p>
            <a:pPr indent="0" marL="0">
              <a:buNone/>
            </a:pPr>
            <a:r>
              <a:rPr lang="en-US" sz="1200" b="1" dirty="0">
                <a:solidFill>
                  <a:schemeClr val="tx2"/>
                </a:solidFill>
              </a:rPr>
              <a:t>→ Yes</a:t>
            </a:r>
            <a:endParaRPr lang="en-US" sz="1200" dirty="0"/>
          </a:p>
        </p:txBody>
      </p:sp>
      <p:sp>
        <p:nvSpPr>
          <p:cNvPr id="38" name="Shape 34"/>
          <p:cNvSpPr/>
          <p:nvPr/>
        </p:nvSpPr>
        <p:spPr>
          <a:xfrm>
            <a:off x="6400800" y="4846320"/>
            <a:ext cx="1417320" cy="365760"/>
          </a:xfrm>
          <a:prstGeom prst="roundRect">
            <a:avLst>
              <a:gd name="adj" fmla="val 15000"/>
            </a:avLst>
          </a:prstGeom>
          <a:solidFill>
            <a:srgbClr val="1F4E8C"/>
          </a:solidFill>
          <a:ln w="6350">
            <a:solidFill>
              <a:srgbClr val="1F4E8C"/>
            </a:solidFill>
            <a:prstDash val="solid"/>
          </a:ln>
        </p:spPr>
      </p:sp>
      <p:sp>
        <p:nvSpPr>
          <p:cNvPr id="39" name="Text 35"/>
          <p:cNvSpPr txBox="1"/>
          <p:nvPr/>
        </p:nvSpPr>
        <p:spPr>
          <a:xfrm>
            <a:off x="6400800" y="484632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Indicative</a:t>
            </a:r>
            <a:endParaRPr lang="en-US" sz="1200" dirty="0"/>
          </a:p>
        </p:txBody>
      </p:sp>
      <p:sp>
        <p:nvSpPr>
          <p:cNvPr id="40" name="Text 36"/>
          <p:cNvSpPr txBox="1"/>
          <p:nvPr/>
        </p:nvSpPr>
        <p:spPr>
          <a:xfrm>
            <a:off x="7955280" y="4846320"/>
            <a:ext cx="2514600" cy="365760"/>
          </a:xfrm>
          <a:prstGeom prst="rect">
            <a:avLst/>
          </a:prstGeom>
          <a:noFill/>
          <a:ln/>
        </p:spPr>
        <p:txBody>
          <a:bodyPr wrap="square" lIns="0" tIns="0" rIns="0" bIns="0" rtlCol="0" anchor="ctr"/>
          <a:lstStyle/>
          <a:p>
            <a:pPr indent="0" marL="0">
              <a:buNone/>
            </a:pPr>
            <a:r>
              <a:rPr lang="en-US" sz="1100" dirty="0">
                <a:solidFill>
                  <a:schemeClr val="tx1"/>
                </a:solidFill>
              </a:rPr>
              <a:t>≥ 0.25</a:t>
            </a:r>
            <a:endParaRPr lang="en-US" sz="1100" dirty="0"/>
          </a:p>
        </p:txBody>
      </p:sp>
      <p:sp>
        <p:nvSpPr>
          <p:cNvPr id="41" name="Text 37"/>
          <p:cNvSpPr txBox="1"/>
          <p:nvPr/>
        </p:nvSpPr>
        <p:spPr>
          <a:xfrm>
            <a:off x="10469880" y="4846320"/>
            <a:ext cx="1143000" cy="365760"/>
          </a:xfrm>
          <a:prstGeom prst="rect">
            <a:avLst/>
          </a:prstGeom>
          <a:noFill/>
          <a:ln/>
        </p:spPr>
        <p:txBody>
          <a:bodyPr wrap="none" lIns="0" tIns="0" rIns="0" bIns="0" rtlCol="0" anchor="ctr"/>
          <a:lstStyle/>
          <a:p>
            <a:pPr indent="0" marL="0">
              <a:buNone/>
            </a:pPr>
            <a:r>
              <a:rPr lang="en-US" sz="1200" b="1" dirty="0">
                <a:solidFill>
                  <a:schemeClr val="tx2"/>
                </a:solidFill>
              </a:rPr>
              <a:t>→ Inconclusive</a:t>
            </a:r>
            <a:endParaRPr lang="en-US" sz="1200" dirty="0"/>
          </a:p>
        </p:txBody>
      </p:sp>
      <p:sp>
        <p:nvSpPr>
          <p:cNvPr id="42" name="Shape 38"/>
          <p:cNvSpPr/>
          <p:nvPr/>
        </p:nvSpPr>
        <p:spPr>
          <a:xfrm>
            <a:off x="6400800" y="5303520"/>
            <a:ext cx="1417320" cy="365760"/>
          </a:xfrm>
          <a:prstGeom prst="roundRect">
            <a:avLst>
              <a:gd name="adj" fmla="val 15000"/>
            </a:avLst>
          </a:prstGeom>
          <a:solidFill>
            <a:srgbClr val="5B6B7F"/>
          </a:solidFill>
          <a:ln w="6350">
            <a:solidFill>
              <a:srgbClr val="5B6B7F"/>
            </a:solidFill>
            <a:prstDash val="solid"/>
          </a:ln>
        </p:spPr>
      </p:sp>
      <p:sp>
        <p:nvSpPr>
          <p:cNvPr id="43" name="Text 39"/>
          <p:cNvSpPr txBox="1"/>
          <p:nvPr/>
        </p:nvSpPr>
        <p:spPr>
          <a:xfrm>
            <a:off x="6400800" y="530352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Marketing-only</a:t>
            </a:r>
            <a:endParaRPr lang="en-US" sz="1200" dirty="0"/>
          </a:p>
        </p:txBody>
      </p:sp>
      <p:sp>
        <p:nvSpPr>
          <p:cNvPr id="44" name="Text 40"/>
          <p:cNvSpPr txBox="1"/>
          <p:nvPr/>
        </p:nvSpPr>
        <p:spPr>
          <a:xfrm>
            <a:off x="7955280" y="5303520"/>
            <a:ext cx="2514600" cy="365760"/>
          </a:xfrm>
          <a:prstGeom prst="rect">
            <a:avLst/>
          </a:prstGeom>
          <a:noFill/>
          <a:ln/>
        </p:spPr>
        <p:txBody>
          <a:bodyPr wrap="square" lIns="0" tIns="0" rIns="0" bIns="0" rtlCol="0" anchor="ctr"/>
          <a:lstStyle/>
          <a:p>
            <a:pPr indent="0" marL="0">
              <a:buNone/>
            </a:pPr>
            <a:r>
              <a:rPr lang="en-US" sz="1100" dirty="0">
                <a:solidFill>
                  <a:schemeClr val="tx1"/>
                </a:solidFill>
              </a:rPr>
              <a:t>&lt; 0.25, or readiness wording only</a:t>
            </a:r>
            <a:endParaRPr lang="en-US" sz="1100" dirty="0"/>
          </a:p>
        </p:txBody>
      </p:sp>
      <p:sp>
        <p:nvSpPr>
          <p:cNvPr id="45" name="Text 41"/>
          <p:cNvSpPr txBox="1"/>
          <p:nvPr/>
        </p:nvSpPr>
        <p:spPr>
          <a:xfrm>
            <a:off x="10469880" y="5303520"/>
            <a:ext cx="1143000" cy="365760"/>
          </a:xfrm>
          <a:prstGeom prst="rect">
            <a:avLst/>
          </a:prstGeom>
          <a:noFill/>
          <a:ln/>
        </p:spPr>
        <p:txBody>
          <a:bodyPr wrap="none" lIns="0" tIns="0" rIns="0" bIns="0" rtlCol="0" anchor="ctr"/>
          <a:lstStyle/>
          <a:p>
            <a:pPr indent="0" marL="0">
              <a:buNone/>
            </a:pPr>
            <a:r>
              <a:rPr lang="en-US" sz="1200" b="1" dirty="0">
                <a:solidFill>
                  <a:schemeClr val="tx2"/>
                </a:solidFill>
              </a:rPr>
              <a:t>→ Inconclusive</a:t>
            </a:r>
            <a:endParaRPr lang="en-US" sz="1200" dirty="0"/>
          </a:p>
        </p:txBody>
      </p:sp>
      <p:sp>
        <p:nvSpPr>
          <p:cNvPr id="46" name="Shape 42"/>
          <p:cNvSpPr/>
          <p:nvPr/>
        </p:nvSpPr>
        <p:spPr>
          <a:xfrm>
            <a:off x="6400800" y="5760720"/>
            <a:ext cx="1417320" cy="365760"/>
          </a:xfrm>
          <a:prstGeom prst="roundRect">
            <a:avLst>
              <a:gd name="adj" fmla="val 15000"/>
            </a:avLst>
          </a:prstGeom>
          <a:solidFill>
            <a:srgbClr val="1C7C4D"/>
          </a:solidFill>
          <a:ln w="6350">
            <a:solidFill>
              <a:srgbClr val="1C7C4D"/>
            </a:solidFill>
            <a:prstDash val="solid"/>
          </a:ln>
        </p:spPr>
      </p:sp>
      <p:sp>
        <p:nvSpPr>
          <p:cNvPr id="47" name="Text 43"/>
          <p:cNvSpPr txBox="1"/>
          <p:nvPr/>
        </p:nvSpPr>
        <p:spPr>
          <a:xfrm>
            <a:off x="6400800" y="5760720"/>
            <a:ext cx="1417320" cy="365760"/>
          </a:xfrm>
          <a:prstGeom prst="rect">
            <a:avLst/>
          </a:prstGeom>
          <a:noFill/>
          <a:ln/>
        </p:spPr>
        <p:txBody>
          <a:bodyPr wrap="square" lIns="0" tIns="0" rIns="0" bIns="0" rtlCol="0" anchor="ctr"/>
          <a:lstStyle/>
          <a:p>
            <a:pPr algn="ctr" indent="0" marL="0">
              <a:buNone/>
            </a:pPr>
            <a:r>
              <a:rPr lang="en-US" sz="1200" b="1" dirty="0">
                <a:solidFill>
                  <a:schemeClr val="bg1"/>
                </a:solidFill>
              </a:rPr>
              <a:t>None found</a:t>
            </a:r>
            <a:endParaRPr lang="en-US" sz="1200" dirty="0"/>
          </a:p>
        </p:txBody>
      </p:sp>
      <p:sp>
        <p:nvSpPr>
          <p:cNvPr id="48" name="Text 44"/>
          <p:cNvSpPr txBox="1"/>
          <p:nvPr/>
        </p:nvSpPr>
        <p:spPr>
          <a:xfrm>
            <a:off x="7955280" y="5760720"/>
            <a:ext cx="2514600" cy="365760"/>
          </a:xfrm>
          <a:prstGeom prst="rect">
            <a:avLst/>
          </a:prstGeom>
          <a:noFill/>
          <a:ln/>
        </p:spPr>
        <p:txBody>
          <a:bodyPr wrap="square" lIns="0" tIns="0" rIns="0" bIns="0" rtlCol="0" anchor="ctr"/>
          <a:lstStyle/>
          <a:p>
            <a:pPr indent="0" marL="0">
              <a:buNone/>
            </a:pPr>
            <a:r>
              <a:rPr lang="en-US" sz="1100" dirty="0">
                <a:solidFill>
                  <a:schemeClr val="tx1"/>
                </a:solidFill>
              </a:rPr>
              <a:t>and enough pages for the tier</a:t>
            </a:r>
            <a:endParaRPr lang="en-US" sz="1100" dirty="0"/>
          </a:p>
        </p:txBody>
      </p:sp>
      <p:sp>
        <p:nvSpPr>
          <p:cNvPr id="49" name="Text 45"/>
          <p:cNvSpPr txBox="1"/>
          <p:nvPr/>
        </p:nvSpPr>
        <p:spPr>
          <a:xfrm>
            <a:off x="10469880" y="5760720"/>
            <a:ext cx="1143000" cy="365760"/>
          </a:xfrm>
          <a:prstGeom prst="rect">
            <a:avLst/>
          </a:prstGeom>
          <a:noFill/>
          <a:ln/>
        </p:spPr>
        <p:txBody>
          <a:bodyPr wrap="none" lIns="0" tIns="0" rIns="0" bIns="0" rtlCol="0" anchor="ctr"/>
          <a:lstStyle/>
          <a:p>
            <a:pPr indent="0" marL="0">
              <a:buNone/>
            </a:pPr>
            <a:r>
              <a:rPr lang="en-US" sz="1200" b="1" dirty="0">
                <a:solidFill>
                  <a:schemeClr val="tx2"/>
                </a:solidFill>
              </a:rPr>
              <a:t>→ No</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Detection capability: collect, extract, classify</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Public pages in; typed, traceable AI signals out, with safeguards built in.</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sp>
        <p:nvSpPr>
          <p:cNvPr id="7" name="Shape 4"/>
          <p:cNvSpPr/>
          <p:nvPr/>
        </p:nvSpPr>
        <p:spPr>
          <a:xfrm>
            <a:off x="548640" y="1783080"/>
            <a:ext cx="3593592" cy="3200400"/>
          </a:xfrm>
          <a:prstGeom prst="roundRect">
            <a:avLst>
              <a:gd name="adj" fmla="val 2286"/>
            </a:avLst>
          </a:prstGeom>
          <a:solidFill>
            <a:schemeClr val="bg2"/>
          </a:solidFill>
          <a:ln w="19050">
            <a:solidFill>
              <a:srgbClr val="0E7C86"/>
            </a:solidFill>
            <a:prstDash val="solid"/>
          </a:ln>
        </p:spPr>
      </p:sp>
      <p:sp>
        <p:nvSpPr>
          <p:cNvPr id="8" name="Text 5"/>
          <p:cNvSpPr txBox="1"/>
          <p:nvPr/>
        </p:nvSpPr>
        <p:spPr>
          <a:xfrm>
            <a:off x="731520" y="1892808"/>
            <a:ext cx="3200400" cy="365760"/>
          </a:xfrm>
          <a:prstGeom prst="rect">
            <a:avLst/>
          </a:prstGeom>
          <a:noFill/>
          <a:ln/>
        </p:spPr>
        <p:txBody>
          <a:bodyPr wrap="square" lIns="0" tIns="0" rIns="0" bIns="0" rtlCol="0" anchor="t"/>
          <a:lstStyle/>
          <a:p>
            <a:pPr indent="0" marL="0">
              <a:buNone/>
            </a:pPr>
            <a:r>
              <a:rPr lang="en-US" sz="1800" b="1" dirty="0">
                <a:solidFill>
                  <a:srgbClr val="0E7C86"/>
                </a:solidFill>
              </a:rPr>
              <a:t>Collect</a:t>
            </a:r>
            <a:endParaRPr lang="en-US" sz="1800" dirty="0"/>
          </a:p>
        </p:txBody>
      </p:sp>
      <p:sp>
        <p:nvSpPr>
          <p:cNvPr id="9" name="Text 6"/>
          <p:cNvSpPr txBox="1"/>
          <p:nvPr/>
        </p:nvSpPr>
        <p:spPr>
          <a:xfrm>
            <a:off x="731520" y="2377440"/>
            <a:ext cx="324612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Starts at the vendor's own domain</a:t>
            </a:r>
            <a:endParaRPr lang="en-US" sz="1400" dirty="0"/>
          </a:p>
          <a:p>
            <a:pPr marL="177800" indent="-177800">
              <a:spcAft>
                <a:spcPts val="600"/>
              </a:spcAft>
              <a:buSzPct val="100000"/>
              <a:buChar char="•"/>
            </a:pPr>
            <a:r>
              <a:rPr lang="en-US" sz="1400" dirty="0">
                <a:solidFill>
                  <a:schemeClr val="tx1"/>
                </a:solidFill>
              </a:rPr>
              <a:t>Ranks discovered links: newsroom, blog, careers, trust, docs</a:t>
            </a:r>
            <a:endParaRPr lang="en-US" sz="1400" dirty="0"/>
          </a:p>
          <a:p>
            <a:pPr marL="177800" indent="-177800">
              <a:spcAft>
                <a:spcPts val="600"/>
              </a:spcAft>
              <a:buSzPct val="100000"/>
              <a:buChar char="•"/>
            </a:pPr>
            <a:r>
              <a:rPr lang="en-US" sz="1400" dirty="0">
                <a:solidFill>
                  <a:schemeClr val="tx1"/>
                </a:solidFill>
              </a:rPr>
              <a:t>Page budget set by the tier</a:t>
            </a:r>
            <a:endParaRPr lang="en-US" sz="1400" dirty="0"/>
          </a:p>
          <a:p>
            <a:pPr marL="177800" indent="-177800">
              <a:spcAft>
                <a:spcPts val="600"/>
              </a:spcAft>
              <a:buSzPct val="100000"/>
              <a:buChar char="•"/>
            </a:pPr>
            <a:r>
              <a:rPr lang="en-US" sz="1400" dirty="0">
                <a:solidFill>
                  <a:schemeClr val="tx1"/>
                </a:solidFill>
              </a:rPr>
              <a:t>Each page stored with URL, date and SHA-256</a:t>
            </a:r>
            <a:endParaRPr lang="en-US" sz="1400" dirty="0"/>
          </a:p>
          <a:p>
            <a:pPr marL="177800" indent="-177800">
              <a:spcAft>
                <a:spcPts val="600"/>
              </a:spcAft>
              <a:buSzPct val="100000"/>
              <a:buChar char="•"/>
            </a:pPr>
            <a:r>
              <a:rPr lang="en-US" sz="1400" dirty="0">
                <a:solidFill>
                  <a:schemeClr val="tx1"/>
                </a:solidFill>
              </a:rPr>
              <a:t>Offline mode replays a recorded snapshot</a:t>
            </a:r>
            <a:endParaRPr lang="en-US" sz="1400" dirty="0"/>
          </a:p>
        </p:txBody>
      </p:sp>
      <p:sp>
        <p:nvSpPr>
          <p:cNvPr id="10" name="Shape 7"/>
          <p:cNvSpPr/>
          <p:nvPr/>
        </p:nvSpPr>
        <p:spPr>
          <a:xfrm>
            <a:off x="4160520" y="3383280"/>
            <a:ext cx="137160" cy="0"/>
          </a:xfrm>
          <a:prstGeom prst="line">
            <a:avLst/>
          </a:prstGeom>
          <a:noFill/>
          <a:ln w="22225">
            <a:solidFill>
              <a:schemeClr val="accent6"/>
            </a:solidFill>
            <a:prstDash val="solid"/>
            <a:tailEnd type="triangle"/>
          </a:ln>
        </p:spPr>
      </p:sp>
      <p:sp>
        <p:nvSpPr>
          <p:cNvPr id="11" name="Shape 8"/>
          <p:cNvSpPr/>
          <p:nvPr/>
        </p:nvSpPr>
        <p:spPr>
          <a:xfrm>
            <a:off x="4297680" y="1783080"/>
            <a:ext cx="3593592" cy="3200400"/>
          </a:xfrm>
          <a:prstGeom prst="roundRect">
            <a:avLst>
              <a:gd name="adj" fmla="val 2286"/>
            </a:avLst>
          </a:prstGeom>
          <a:solidFill>
            <a:schemeClr val="bg2"/>
          </a:solidFill>
          <a:ln w="19050">
            <a:solidFill>
              <a:srgbClr val="1F4E8C"/>
            </a:solidFill>
            <a:prstDash val="solid"/>
          </a:ln>
        </p:spPr>
      </p:sp>
      <p:sp>
        <p:nvSpPr>
          <p:cNvPr id="12" name="Text 9"/>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1800" b="1" dirty="0">
                <a:solidFill>
                  <a:srgbClr val="1F4E8C"/>
                </a:solidFill>
              </a:rPr>
              <a:t>Extract</a:t>
            </a:r>
            <a:endParaRPr lang="en-US" sz="1800" dirty="0"/>
          </a:p>
        </p:txBody>
      </p:sp>
      <p:sp>
        <p:nvSpPr>
          <p:cNvPr id="13" name="Text 10"/>
          <p:cNvSpPr txBox="1"/>
          <p:nvPr/>
        </p:nvSpPr>
        <p:spPr>
          <a:xfrm>
            <a:off x="4480560" y="2377440"/>
            <a:ext cx="324612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Page text split into sentences</a:t>
            </a:r>
            <a:endParaRPr lang="en-US" sz="1400" dirty="0"/>
          </a:p>
          <a:p>
            <a:pPr marL="177800" indent="-177800">
              <a:spcAft>
                <a:spcPts val="600"/>
              </a:spcAft>
              <a:buSzPct val="100000"/>
              <a:buChar char="•"/>
            </a:pPr>
            <a:r>
              <a:rPr lang="en-US" sz="1400" dirty="0">
                <a:solidFill>
                  <a:schemeClr val="tx1"/>
                </a:solidFill>
              </a:rPr>
              <a:t>Keeps sentences with AI terms: AI, LLM, agentic, copilot, MCP…</a:t>
            </a:r>
            <a:endParaRPr lang="en-US" sz="1400" dirty="0"/>
          </a:p>
          <a:p>
            <a:pPr marL="177800" indent="-177800">
              <a:spcAft>
                <a:spcPts val="600"/>
              </a:spcAft>
              <a:buSzPct val="100000"/>
              <a:buChar char="•"/>
            </a:pPr>
            <a:r>
              <a:rPr lang="en-US" sz="1400" dirty="0">
                <a:solidFill>
                  <a:schemeClr val="tx1"/>
                </a:solidFill>
              </a:rPr>
              <a:t>Names model providers (OpenAI, Microsoft, Google…)</a:t>
            </a:r>
            <a:endParaRPr lang="en-US" sz="1400" dirty="0"/>
          </a:p>
          <a:p>
            <a:pPr marL="177800" indent="-177800">
              <a:spcAft>
                <a:spcPts val="600"/>
              </a:spcAft>
              <a:buSzPct val="100000"/>
              <a:buChar char="•"/>
            </a:pPr>
            <a:r>
              <a:rPr lang="en-US" sz="1400" dirty="0">
                <a:solidFill>
                  <a:schemeClr val="tx1"/>
                </a:solidFill>
              </a:rPr>
              <a:t>Software suppliers are not mistaken for model providers</a:t>
            </a:r>
            <a:endParaRPr lang="en-US" sz="1400" dirty="0"/>
          </a:p>
        </p:txBody>
      </p:sp>
      <p:sp>
        <p:nvSpPr>
          <p:cNvPr id="14" name="Shape 11"/>
          <p:cNvSpPr/>
          <p:nvPr/>
        </p:nvSpPr>
        <p:spPr>
          <a:xfrm>
            <a:off x="7909560" y="3383280"/>
            <a:ext cx="137160" cy="0"/>
          </a:xfrm>
          <a:prstGeom prst="line">
            <a:avLst/>
          </a:prstGeom>
          <a:noFill/>
          <a:ln w="22225">
            <a:solidFill>
              <a:schemeClr val="accent6"/>
            </a:solidFill>
            <a:prstDash val="solid"/>
            <a:tailEnd type="triangle"/>
          </a:ln>
        </p:spPr>
      </p:sp>
      <p:sp>
        <p:nvSpPr>
          <p:cNvPr id="15" name="Shape 12"/>
          <p:cNvSpPr/>
          <p:nvPr/>
        </p:nvSpPr>
        <p:spPr>
          <a:xfrm>
            <a:off x="8046720" y="1783080"/>
            <a:ext cx="3593592" cy="3200400"/>
          </a:xfrm>
          <a:prstGeom prst="roundRect">
            <a:avLst>
              <a:gd name="adj" fmla="val 2286"/>
            </a:avLst>
          </a:prstGeom>
          <a:solidFill>
            <a:schemeClr val="bg2"/>
          </a:solidFill>
          <a:ln w="19050">
            <a:solidFill>
              <a:srgbClr val="1C7C4D"/>
            </a:solidFill>
            <a:prstDash val="solid"/>
          </a:ln>
        </p:spPr>
      </p:sp>
      <p:sp>
        <p:nvSpPr>
          <p:cNvPr id="16" name="Text 13"/>
          <p:cNvSpPr txBox="1"/>
          <p:nvPr/>
        </p:nvSpPr>
        <p:spPr>
          <a:xfrm>
            <a:off x="8229600" y="1892808"/>
            <a:ext cx="3200400" cy="365760"/>
          </a:xfrm>
          <a:prstGeom prst="rect">
            <a:avLst/>
          </a:prstGeom>
          <a:noFill/>
          <a:ln/>
        </p:spPr>
        <p:txBody>
          <a:bodyPr wrap="square" lIns="0" tIns="0" rIns="0" bIns="0" rtlCol="0" anchor="t"/>
          <a:lstStyle/>
          <a:p>
            <a:pPr indent="0" marL="0">
              <a:buNone/>
            </a:pPr>
            <a:r>
              <a:rPr lang="en-US" sz="1800" b="1" dirty="0">
                <a:solidFill>
                  <a:srgbClr val="1C7C4D"/>
                </a:solidFill>
              </a:rPr>
              <a:t>Classify and tag</a:t>
            </a:r>
            <a:endParaRPr lang="en-US" sz="1800" dirty="0"/>
          </a:p>
        </p:txBody>
      </p:sp>
      <p:sp>
        <p:nvSpPr>
          <p:cNvPr id="17" name="Text 14"/>
          <p:cNvSpPr txBox="1"/>
          <p:nvPr/>
        </p:nvSpPr>
        <p:spPr>
          <a:xfrm>
            <a:off x="8229600" y="2377440"/>
            <a:ext cx="3246120" cy="25603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Each sentence typed: deployed, feature, partnership, hiring, roadmap, marketing</a:t>
            </a:r>
            <a:endParaRPr lang="en-US" sz="1400" dirty="0"/>
          </a:p>
          <a:p>
            <a:pPr marL="177800" indent="-177800">
              <a:spcAft>
                <a:spcPts val="600"/>
              </a:spcAft>
              <a:buSzPct val="100000"/>
              <a:buChar char="•"/>
            </a:pPr>
            <a:r>
              <a:rPr lang="en-US" sz="1400" dirty="0">
                <a:solidFill>
                  <a:schemeClr val="tx1"/>
                </a:solidFill>
              </a:rPr>
              <a:t>Optional LLM assist re-labels only ambiguous sentences</a:t>
            </a:r>
            <a:endParaRPr lang="en-US" sz="1400" dirty="0"/>
          </a:p>
          <a:p>
            <a:pPr marL="177800" indent="-177800">
              <a:spcAft>
                <a:spcPts val="600"/>
              </a:spcAft>
              <a:buSzPct val="100000"/>
              <a:buChar char="•"/>
            </a:pPr>
            <a:r>
              <a:rPr lang="en-US" sz="1400" dirty="0">
                <a:solidFill>
                  <a:schemeClr val="tx1"/>
                </a:solidFill>
              </a:rPr>
              <a:t>Rule label always kept for audit</a:t>
            </a:r>
            <a:endParaRPr lang="en-US" sz="1400" dirty="0"/>
          </a:p>
          <a:p>
            <a:pPr marL="177800" indent="-177800">
              <a:spcAft>
                <a:spcPts val="600"/>
              </a:spcAft>
              <a:buSzPct val="100000"/>
              <a:buChar char="•"/>
            </a:pPr>
            <a:r>
              <a:rPr lang="en-US" sz="1400" dirty="0">
                <a:solidFill>
                  <a:schemeClr val="tx1"/>
                </a:solidFill>
              </a:rPr>
              <a:t>Agentic / generative / analytic role detected</a:t>
            </a:r>
            <a:endParaRPr lang="en-US" sz="1400" dirty="0"/>
          </a:p>
        </p:txBody>
      </p:sp>
      <p:sp>
        <p:nvSpPr>
          <p:cNvPr id="18" name="Shape 15"/>
          <p:cNvSpPr/>
          <p:nvPr/>
        </p:nvSpPr>
        <p:spPr>
          <a:xfrm>
            <a:off x="548640" y="5212080"/>
            <a:ext cx="11091672" cy="1005840"/>
          </a:xfrm>
          <a:prstGeom prst="roundRect">
            <a:avLst>
              <a:gd name="adj" fmla="val 6364"/>
            </a:avLst>
          </a:prstGeom>
          <a:solidFill>
            <a:schemeClr val="tx2"/>
          </a:solidFill>
          <a:ln w="6350">
            <a:solidFill>
              <a:schemeClr val="tx2"/>
            </a:solidFill>
            <a:prstDash val="solid"/>
          </a:ln>
        </p:spPr>
      </p:sp>
      <p:sp>
        <p:nvSpPr>
          <p:cNvPr id="19" name="Text 16"/>
          <p:cNvSpPr txBox="1"/>
          <p:nvPr/>
        </p:nvSpPr>
        <p:spPr>
          <a:xfrm>
            <a:off x="777240" y="5303520"/>
            <a:ext cx="3657600" cy="274320"/>
          </a:xfrm>
          <a:prstGeom prst="rect">
            <a:avLst/>
          </a:prstGeom>
          <a:noFill/>
          <a:ln/>
        </p:spPr>
        <p:txBody>
          <a:bodyPr wrap="square" lIns="0" tIns="0" rIns="0" bIns="0" rtlCol="0" anchor="t"/>
          <a:lstStyle/>
          <a:p>
            <a:pPr indent="0" marL="0">
              <a:buNone/>
            </a:pPr>
            <a:r>
              <a:rPr lang="en-US" sz="1200" b="1" spc="200" kern="0" dirty="0">
                <a:solidFill>
                  <a:srgbClr val="7FD6DD"/>
                </a:solidFill>
              </a:rPr>
              <a:t>BUILT-IN SAFEGUARDS</a:t>
            </a:r>
            <a:endParaRPr lang="en-US" sz="1200" dirty="0"/>
          </a:p>
        </p:txBody>
      </p:sp>
      <p:sp>
        <p:nvSpPr>
          <p:cNvPr id="20" name="Text 17"/>
          <p:cNvSpPr txBox="1"/>
          <p:nvPr/>
        </p:nvSpPr>
        <p:spPr>
          <a:xfrm>
            <a:off x="777240" y="5596128"/>
            <a:ext cx="10607040" cy="548640"/>
          </a:xfrm>
          <a:prstGeom prst="rect">
            <a:avLst/>
          </a:prstGeom>
          <a:noFill/>
          <a:ln/>
        </p:spPr>
        <p:txBody>
          <a:bodyPr wrap="square" lIns="0" tIns="0" rIns="0" bIns="0" rtlCol="0" anchor="t"/>
          <a:lstStyle/>
          <a:p>
            <a:pPr indent="0" marL="0">
              <a:buNone/>
            </a:pPr>
            <a:r>
              <a:rPr lang="en-US" sz="1400" dirty="0">
                <a:solidFill>
                  <a:schemeClr val="bg1"/>
                </a:solidFill>
              </a:rPr>
              <a:t>Public pages only  ·  robots.txt respected  ·  rate-limited  ·  no vendor contact  ·  internal addresses blocked  ·  error and duplicate pages rejected so they never count as coverage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From evidence to AI security risk</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 weak finding can never produce a Critical rating, and a strong one is not softened.</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METHOD</a:t>
            </a:r>
            <a:endParaRPr lang="en-US" sz="1050" dirty="0"/>
          </a:p>
        </p:txBody>
      </p:sp>
      <p:sp>
        <p:nvSpPr>
          <p:cNvPr id="7" name="Shape 4"/>
          <p:cNvSpPr/>
          <p:nvPr/>
        </p:nvSpPr>
        <p:spPr>
          <a:xfrm>
            <a:off x="548640" y="1783080"/>
            <a:ext cx="1965960" cy="1188720"/>
          </a:xfrm>
          <a:prstGeom prst="roundRect">
            <a:avLst>
              <a:gd name="adj" fmla="val 5385"/>
            </a:avLst>
          </a:prstGeom>
          <a:solidFill>
            <a:schemeClr val="bg2"/>
          </a:solidFill>
          <a:ln w="15875">
            <a:solidFill>
              <a:schemeClr val="accent2"/>
            </a:solidFill>
            <a:prstDash val="solid"/>
          </a:ln>
        </p:spPr>
      </p:sp>
      <p:sp>
        <p:nvSpPr>
          <p:cNvPr id="8" name="Text 5"/>
          <p:cNvSpPr txBox="1"/>
          <p:nvPr/>
        </p:nvSpPr>
        <p:spPr>
          <a:xfrm>
            <a:off x="658368" y="1847088"/>
            <a:ext cx="1737360" cy="292608"/>
          </a:xfrm>
          <a:prstGeom prst="rect">
            <a:avLst/>
          </a:prstGeom>
          <a:noFill/>
          <a:ln/>
        </p:spPr>
        <p:txBody>
          <a:bodyPr wrap="square" lIns="0" tIns="0" rIns="0" bIns="0" rtlCol="0" anchor="t"/>
          <a:lstStyle/>
          <a:p>
            <a:pPr indent="0" marL="0">
              <a:buNone/>
            </a:pPr>
            <a:r>
              <a:rPr lang="en-US" sz="1400" b="1" dirty="0">
                <a:solidFill>
                  <a:schemeClr val="tx2"/>
                </a:solidFill>
              </a:rPr>
              <a:t>Tier</a:t>
            </a:r>
            <a:endParaRPr lang="en-US" sz="1400" dirty="0"/>
          </a:p>
        </p:txBody>
      </p:sp>
      <p:sp>
        <p:nvSpPr>
          <p:cNvPr id="9" name="Text 6"/>
          <p:cNvSpPr txBox="1"/>
          <p:nvPr/>
        </p:nvSpPr>
        <p:spPr>
          <a:xfrm>
            <a:off x="658368" y="2139696"/>
            <a:ext cx="1737360" cy="320040"/>
          </a:xfrm>
          <a:prstGeom prst="rect">
            <a:avLst/>
          </a:prstGeom>
          <a:noFill/>
          <a:ln/>
        </p:spPr>
        <p:txBody>
          <a:bodyPr wrap="square" lIns="0" tIns="0" rIns="0" bIns="0" rtlCol="0" anchor="t"/>
          <a:lstStyle/>
          <a:p>
            <a:pPr indent="0" marL="0">
              <a:buNone/>
            </a:pPr>
            <a:r>
              <a:rPr lang="en-US" sz="1800" b="1" dirty="0">
                <a:solidFill>
                  <a:schemeClr val="accent2"/>
                </a:solidFill>
              </a:rPr>
              <a:t>× 0.4</a:t>
            </a:r>
            <a:endParaRPr lang="en-US" sz="1800" dirty="0"/>
          </a:p>
        </p:txBody>
      </p:sp>
      <p:sp>
        <p:nvSpPr>
          <p:cNvPr id="10" name="Text 7"/>
          <p:cNvSpPr txBox="1"/>
          <p:nvPr/>
        </p:nvSpPr>
        <p:spPr>
          <a:xfrm>
            <a:off x="658368" y="2487168"/>
            <a:ext cx="1737360" cy="457200"/>
          </a:xfrm>
          <a:prstGeom prst="rect">
            <a:avLst/>
          </a:prstGeom>
          <a:noFill/>
          <a:ln/>
        </p:spPr>
        <p:txBody>
          <a:bodyPr wrap="square" lIns="0" tIns="0" rIns="0" bIns="0" rtlCol="0" anchor="t"/>
          <a:lstStyle/>
          <a:p>
            <a:pPr indent="0" marL="0">
              <a:buNone/>
            </a:pPr>
            <a:r>
              <a:rPr lang="en-US" sz="1100" dirty="0">
                <a:solidFill>
                  <a:schemeClr val="tx1"/>
                </a:solidFill>
              </a:rPr>
              <a:t>how critical the vendor is</a:t>
            </a:r>
            <a:endParaRPr lang="en-US" sz="1100" dirty="0"/>
          </a:p>
        </p:txBody>
      </p:sp>
      <p:sp>
        <p:nvSpPr>
          <p:cNvPr id="11" name="Shape 8"/>
          <p:cNvSpPr/>
          <p:nvPr/>
        </p:nvSpPr>
        <p:spPr>
          <a:xfrm>
            <a:off x="2697480" y="1783080"/>
            <a:ext cx="1965960" cy="1188720"/>
          </a:xfrm>
          <a:prstGeom prst="roundRect">
            <a:avLst>
              <a:gd name="adj" fmla="val 5385"/>
            </a:avLst>
          </a:prstGeom>
          <a:solidFill>
            <a:schemeClr val="bg2"/>
          </a:solidFill>
          <a:ln w="15875">
            <a:solidFill>
              <a:schemeClr val="accent2"/>
            </a:solidFill>
            <a:prstDash val="solid"/>
          </a:ln>
        </p:spPr>
      </p:sp>
      <p:sp>
        <p:nvSpPr>
          <p:cNvPr id="12" name="Text 9"/>
          <p:cNvSpPr txBox="1"/>
          <p:nvPr/>
        </p:nvSpPr>
        <p:spPr>
          <a:xfrm>
            <a:off x="2807208" y="1847088"/>
            <a:ext cx="1737360" cy="292608"/>
          </a:xfrm>
          <a:prstGeom prst="rect">
            <a:avLst/>
          </a:prstGeom>
          <a:noFill/>
          <a:ln/>
        </p:spPr>
        <p:txBody>
          <a:bodyPr wrap="square" lIns="0" tIns="0" rIns="0" bIns="0" rtlCol="0" anchor="t"/>
          <a:lstStyle/>
          <a:p>
            <a:pPr indent="0" marL="0">
              <a:buNone/>
            </a:pPr>
            <a:r>
              <a:rPr lang="en-US" sz="1400" b="1" dirty="0">
                <a:solidFill>
                  <a:schemeClr val="tx2"/>
                </a:solidFill>
              </a:rPr>
              <a:t>Data sensitivity</a:t>
            </a:r>
            <a:endParaRPr lang="en-US" sz="1400" dirty="0"/>
          </a:p>
        </p:txBody>
      </p:sp>
      <p:sp>
        <p:nvSpPr>
          <p:cNvPr id="13" name="Text 10"/>
          <p:cNvSpPr txBox="1"/>
          <p:nvPr/>
        </p:nvSpPr>
        <p:spPr>
          <a:xfrm>
            <a:off x="2807208" y="2139696"/>
            <a:ext cx="1737360" cy="320040"/>
          </a:xfrm>
          <a:prstGeom prst="rect">
            <a:avLst/>
          </a:prstGeom>
          <a:noFill/>
          <a:ln/>
        </p:spPr>
        <p:txBody>
          <a:bodyPr wrap="square" lIns="0" tIns="0" rIns="0" bIns="0" rtlCol="0" anchor="t"/>
          <a:lstStyle/>
          <a:p>
            <a:pPr indent="0" marL="0">
              <a:buNone/>
            </a:pPr>
            <a:r>
              <a:rPr lang="en-US" sz="1800" b="1" dirty="0">
                <a:solidFill>
                  <a:schemeClr val="accent2"/>
                </a:solidFill>
              </a:rPr>
              <a:t>× 0.4</a:t>
            </a:r>
            <a:endParaRPr lang="en-US" sz="1800" dirty="0"/>
          </a:p>
        </p:txBody>
      </p:sp>
      <p:sp>
        <p:nvSpPr>
          <p:cNvPr id="14" name="Text 11"/>
          <p:cNvSpPr txBox="1"/>
          <p:nvPr/>
        </p:nvSpPr>
        <p:spPr>
          <a:xfrm>
            <a:off x="2807208" y="2487168"/>
            <a:ext cx="1737360" cy="457200"/>
          </a:xfrm>
          <a:prstGeom prst="rect">
            <a:avLst/>
          </a:prstGeom>
          <a:noFill/>
          <a:ln/>
        </p:spPr>
        <p:txBody>
          <a:bodyPr wrap="square" lIns="0" tIns="0" rIns="0" bIns="0" rtlCol="0" anchor="t"/>
          <a:lstStyle/>
          <a:p>
            <a:pPr indent="0" marL="0">
              <a:buNone/>
            </a:pPr>
            <a:r>
              <a:rPr lang="en-US" sz="1100" dirty="0">
                <a:solidFill>
                  <a:schemeClr val="tx1"/>
                </a:solidFill>
              </a:rPr>
              <a:t>what Meridian data it touches</a:t>
            </a:r>
            <a:endParaRPr lang="en-US" sz="1100" dirty="0"/>
          </a:p>
        </p:txBody>
      </p:sp>
      <p:sp>
        <p:nvSpPr>
          <p:cNvPr id="15" name="Shape 12"/>
          <p:cNvSpPr/>
          <p:nvPr/>
        </p:nvSpPr>
        <p:spPr>
          <a:xfrm>
            <a:off x="4846320" y="1783080"/>
            <a:ext cx="1965960" cy="1188720"/>
          </a:xfrm>
          <a:prstGeom prst="roundRect">
            <a:avLst>
              <a:gd name="adj" fmla="val 5385"/>
            </a:avLst>
          </a:prstGeom>
          <a:solidFill>
            <a:schemeClr val="bg2"/>
          </a:solidFill>
          <a:ln w="15875">
            <a:solidFill>
              <a:schemeClr val="accent2"/>
            </a:solidFill>
            <a:prstDash val="solid"/>
          </a:ln>
        </p:spPr>
      </p:sp>
      <p:sp>
        <p:nvSpPr>
          <p:cNvPr id="16" name="Text 13"/>
          <p:cNvSpPr txBox="1"/>
          <p:nvPr/>
        </p:nvSpPr>
        <p:spPr>
          <a:xfrm>
            <a:off x="4956048" y="1847088"/>
            <a:ext cx="1737360" cy="292608"/>
          </a:xfrm>
          <a:prstGeom prst="rect">
            <a:avLst/>
          </a:prstGeom>
          <a:noFill/>
          <a:ln/>
        </p:spPr>
        <p:txBody>
          <a:bodyPr wrap="square" lIns="0" tIns="0" rIns="0" bIns="0" rtlCol="0" anchor="t"/>
          <a:lstStyle/>
          <a:p>
            <a:pPr indent="0" marL="0">
              <a:buNone/>
            </a:pPr>
            <a:r>
              <a:rPr lang="en-US" sz="1400" b="1" dirty="0">
                <a:solidFill>
                  <a:schemeClr val="tx2"/>
                </a:solidFill>
              </a:rPr>
              <a:t>AI role</a:t>
            </a:r>
            <a:endParaRPr lang="en-US" sz="1400" dirty="0"/>
          </a:p>
        </p:txBody>
      </p:sp>
      <p:sp>
        <p:nvSpPr>
          <p:cNvPr id="17" name="Text 14"/>
          <p:cNvSpPr txBox="1"/>
          <p:nvPr/>
        </p:nvSpPr>
        <p:spPr>
          <a:xfrm>
            <a:off x="4956048" y="2139696"/>
            <a:ext cx="1737360" cy="320040"/>
          </a:xfrm>
          <a:prstGeom prst="rect">
            <a:avLst/>
          </a:prstGeom>
          <a:noFill/>
          <a:ln/>
        </p:spPr>
        <p:txBody>
          <a:bodyPr wrap="square" lIns="0" tIns="0" rIns="0" bIns="0" rtlCol="0" anchor="t"/>
          <a:lstStyle/>
          <a:p>
            <a:pPr indent="0" marL="0">
              <a:buNone/>
            </a:pPr>
            <a:r>
              <a:rPr lang="en-US" sz="1800" b="1" dirty="0">
                <a:solidFill>
                  <a:schemeClr val="accent2"/>
                </a:solidFill>
              </a:rPr>
              <a:t>× 0.2</a:t>
            </a:r>
            <a:endParaRPr lang="en-US" sz="1800" dirty="0"/>
          </a:p>
        </p:txBody>
      </p:sp>
      <p:sp>
        <p:nvSpPr>
          <p:cNvPr id="18" name="Text 15"/>
          <p:cNvSpPr txBox="1"/>
          <p:nvPr/>
        </p:nvSpPr>
        <p:spPr>
          <a:xfrm>
            <a:off x="4956048" y="2487168"/>
            <a:ext cx="1737360" cy="457200"/>
          </a:xfrm>
          <a:prstGeom prst="rect">
            <a:avLst/>
          </a:prstGeom>
          <a:noFill/>
          <a:ln/>
        </p:spPr>
        <p:txBody>
          <a:bodyPr wrap="square" lIns="0" tIns="0" rIns="0" bIns="0" rtlCol="0" anchor="t"/>
          <a:lstStyle/>
          <a:p>
            <a:pPr indent="0" marL="0">
              <a:buNone/>
            </a:pPr>
            <a:r>
              <a:rPr lang="en-US" sz="1100" dirty="0">
                <a:solidFill>
                  <a:schemeClr val="tx1"/>
                </a:solidFill>
              </a:rPr>
              <a:t>agentic 4, generative 3, analytic 2</a:t>
            </a:r>
            <a:endParaRPr lang="en-US" sz="1100" dirty="0"/>
          </a:p>
        </p:txBody>
      </p:sp>
      <p:sp>
        <p:nvSpPr>
          <p:cNvPr id="19" name="Shape 16"/>
          <p:cNvSpPr/>
          <p:nvPr/>
        </p:nvSpPr>
        <p:spPr>
          <a:xfrm>
            <a:off x="6967728" y="2377440"/>
            <a:ext cx="301752" cy="0"/>
          </a:xfrm>
          <a:prstGeom prst="line">
            <a:avLst/>
          </a:prstGeom>
          <a:noFill/>
          <a:ln w="22225">
            <a:solidFill>
              <a:schemeClr val="accent6"/>
            </a:solidFill>
            <a:prstDash val="solid"/>
            <a:tailEnd type="triangle"/>
          </a:ln>
        </p:spPr>
      </p:sp>
      <p:sp>
        <p:nvSpPr>
          <p:cNvPr id="20" name="Shape 17"/>
          <p:cNvSpPr/>
          <p:nvPr/>
        </p:nvSpPr>
        <p:spPr>
          <a:xfrm>
            <a:off x="7315200" y="1783080"/>
            <a:ext cx="1920240" cy="1188720"/>
          </a:xfrm>
          <a:prstGeom prst="roundRect">
            <a:avLst>
              <a:gd name="adj" fmla="val 5385"/>
            </a:avLst>
          </a:prstGeom>
          <a:solidFill>
            <a:schemeClr val="bg1"/>
          </a:solidFill>
          <a:ln w="19050">
            <a:solidFill>
              <a:schemeClr val="accent1"/>
            </a:solidFill>
            <a:prstDash val="solid"/>
          </a:ln>
        </p:spPr>
      </p:sp>
      <p:sp>
        <p:nvSpPr>
          <p:cNvPr id="21" name="Text 18"/>
          <p:cNvSpPr txBox="1"/>
          <p:nvPr/>
        </p:nvSpPr>
        <p:spPr>
          <a:xfrm>
            <a:off x="7424928" y="1847088"/>
            <a:ext cx="1737360" cy="292608"/>
          </a:xfrm>
          <a:prstGeom prst="rect">
            <a:avLst/>
          </a:prstGeom>
          <a:noFill/>
          <a:ln/>
        </p:spPr>
        <p:txBody>
          <a:bodyPr wrap="square" lIns="0" tIns="0" rIns="0" bIns="0" rtlCol="0" anchor="t"/>
          <a:lstStyle/>
          <a:p>
            <a:pPr indent="0" marL="0">
              <a:buNone/>
            </a:pPr>
            <a:r>
              <a:rPr lang="en-US" sz="1400" b="1" dirty="0">
                <a:solidFill>
                  <a:schemeClr val="tx2"/>
                </a:solidFill>
              </a:rPr>
              <a:t>Severity</a:t>
            </a:r>
            <a:endParaRPr lang="en-US" sz="1400" dirty="0"/>
          </a:p>
        </p:txBody>
      </p:sp>
      <p:sp>
        <p:nvSpPr>
          <p:cNvPr id="22" name="Text 19"/>
          <p:cNvSpPr txBox="1"/>
          <p:nvPr/>
        </p:nvSpPr>
        <p:spPr>
          <a:xfrm>
            <a:off x="7424928" y="2176272"/>
            <a:ext cx="1737360" cy="777240"/>
          </a:xfrm>
          <a:prstGeom prst="rect">
            <a:avLst/>
          </a:prstGeom>
          <a:noFill/>
          <a:ln/>
        </p:spPr>
        <p:txBody>
          <a:bodyPr wrap="square" lIns="0" tIns="0" rIns="0" bIns="0" rtlCol="0" anchor="t"/>
          <a:lstStyle/>
          <a:p>
            <a:pPr indent="0" marL="0">
              <a:buNone/>
            </a:pPr>
            <a:r>
              <a:rPr lang="en-US" sz="1200" dirty="0">
                <a:solidFill>
                  <a:schemeClr val="tx1"/>
                </a:solidFill>
              </a:rPr>
              <a:t>Critical ≥ 3.7</a:t>
            </a:r>
            <a:endParaRPr lang="en-US" sz="1200" dirty="0"/>
          </a:p>
          <a:p>
            <a:pPr indent="0" marL="0">
              <a:buNone/>
            </a:pPr>
            <a:r>
              <a:rPr lang="en-US" sz="1200" dirty="0">
                <a:solidFill>
                  <a:schemeClr val="tx1"/>
                </a:solidFill>
              </a:rPr>
              <a:t>High ≥ 2.7</a:t>
            </a:r>
            <a:endParaRPr lang="en-US" sz="1200" dirty="0"/>
          </a:p>
          <a:p>
            <a:pPr indent="0" marL="0">
              <a:buNone/>
            </a:pPr>
            <a:r>
              <a:rPr lang="en-US" sz="1200" dirty="0">
                <a:solidFill>
                  <a:schemeClr val="tx1"/>
                </a:solidFill>
              </a:rPr>
              <a:t>Medium ≥ 1.9</a:t>
            </a:r>
            <a:endParaRPr lang="en-US" sz="1200" dirty="0"/>
          </a:p>
        </p:txBody>
      </p:sp>
      <p:sp>
        <p:nvSpPr>
          <p:cNvPr id="23" name="Shape 20"/>
          <p:cNvSpPr/>
          <p:nvPr/>
        </p:nvSpPr>
        <p:spPr>
          <a:xfrm>
            <a:off x="9253728" y="2377440"/>
            <a:ext cx="256032" cy="0"/>
          </a:xfrm>
          <a:prstGeom prst="line">
            <a:avLst/>
          </a:prstGeom>
          <a:noFill/>
          <a:ln w="22225">
            <a:solidFill>
              <a:schemeClr val="accent6"/>
            </a:solidFill>
            <a:prstDash val="solid"/>
            <a:tailEnd type="triangle"/>
          </a:ln>
        </p:spPr>
      </p:sp>
      <p:sp>
        <p:nvSpPr>
          <p:cNvPr id="24" name="Shape 21"/>
          <p:cNvSpPr/>
          <p:nvPr/>
        </p:nvSpPr>
        <p:spPr>
          <a:xfrm>
            <a:off x="9555480" y="1783080"/>
            <a:ext cx="2084832" cy="1188720"/>
          </a:xfrm>
          <a:prstGeom prst="roundRect">
            <a:avLst>
              <a:gd name="adj" fmla="val 5385"/>
            </a:avLst>
          </a:prstGeom>
          <a:solidFill>
            <a:schemeClr val="tx2"/>
          </a:solidFill>
          <a:ln w="6350">
            <a:solidFill>
              <a:schemeClr val="tx2"/>
            </a:solidFill>
            <a:prstDash val="solid"/>
          </a:ln>
        </p:spPr>
      </p:sp>
      <p:sp>
        <p:nvSpPr>
          <p:cNvPr id="25" name="Text 22"/>
          <p:cNvSpPr txBox="1"/>
          <p:nvPr/>
        </p:nvSpPr>
        <p:spPr>
          <a:xfrm>
            <a:off x="9665208" y="1847088"/>
            <a:ext cx="1920240" cy="292608"/>
          </a:xfrm>
          <a:prstGeom prst="rect">
            <a:avLst/>
          </a:prstGeom>
          <a:noFill/>
          <a:ln/>
        </p:spPr>
        <p:txBody>
          <a:bodyPr wrap="square" lIns="0" tIns="0" rIns="0" bIns="0" rtlCol="0" anchor="t"/>
          <a:lstStyle/>
          <a:p>
            <a:pPr indent="0" marL="0">
              <a:buNone/>
            </a:pPr>
            <a:r>
              <a:rPr lang="en-US" sz="1400" b="1" dirty="0">
                <a:solidFill>
                  <a:schemeClr val="bg1"/>
                </a:solidFill>
              </a:rPr>
              <a:t>Cap by evidence</a:t>
            </a:r>
            <a:endParaRPr lang="en-US" sz="1400" dirty="0"/>
          </a:p>
        </p:txBody>
      </p:sp>
      <p:sp>
        <p:nvSpPr>
          <p:cNvPr id="26" name="Text 23"/>
          <p:cNvSpPr txBox="1"/>
          <p:nvPr/>
        </p:nvSpPr>
        <p:spPr>
          <a:xfrm>
            <a:off x="9665208" y="2176272"/>
            <a:ext cx="1920240" cy="777240"/>
          </a:xfrm>
          <a:prstGeom prst="rect">
            <a:avLst/>
          </a:prstGeom>
          <a:noFill/>
          <a:ln/>
        </p:spPr>
        <p:txBody>
          <a:bodyPr wrap="square" lIns="0" tIns="0" rIns="0" bIns="0" rtlCol="0" anchor="t"/>
          <a:lstStyle/>
          <a:p>
            <a:pPr indent="0" marL="0">
              <a:buNone/>
            </a:pPr>
            <a:r>
              <a:rPr lang="en-US" sz="1100" dirty="0">
                <a:solidFill>
                  <a:schemeClr val="bg2"/>
                </a:solidFill>
              </a:rPr>
              <a:t>Confirmed: no cap</a:t>
            </a:r>
            <a:endParaRPr lang="en-US" sz="1100" dirty="0"/>
          </a:p>
          <a:p>
            <a:pPr indent="0" marL="0">
              <a:buNone/>
            </a:pPr>
            <a:r>
              <a:rPr lang="en-US" sz="1100" dirty="0">
                <a:solidFill>
                  <a:schemeClr val="bg2"/>
                </a:solidFill>
              </a:rPr>
              <a:t>Probable: max High</a:t>
            </a:r>
            <a:endParaRPr lang="en-US" sz="1100" dirty="0"/>
          </a:p>
          <a:p>
            <a:pPr indent="0" marL="0">
              <a:buNone/>
            </a:pPr>
            <a:r>
              <a:rPr lang="en-US" sz="1100" dirty="0">
                <a:solidFill>
                  <a:schemeClr val="bg2"/>
                </a:solidFill>
              </a:rPr>
              <a:t>Indicative: max Medium</a:t>
            </a:r>
            <a:endParaRPr lang="en-US" sz="1100" dirty="0"/>
          </a:p>
        </p:txBody>
      </p:sp>
      <p:sp>
        <p:nvSpPr>
          <p:cNvPr id="27" name="Text 24"/>
          <p:cNvSpPr txBox="1"/>
          <p:nvPr/>
        </p:nvSpPr>
        <p:spPr>
          <a:xfrm>
            <a:off x="548640" y="3200400"/>
            <a:ext cx="36576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WORKED EXAMPLES</a:t>
            </a:r>
            <a:endParaRPr lang="en-US" sz="1200" dirty="0"/>
          </a:p>
        </p:txBody>
      </p:sp>
      <p:sp>
        <p:nvSpPr>
          <p:cNvPr id="28" name="Shape 25"/>
          <p:cNvSpPr/>
          <p:nvPr/>
        </p:nvSpPr>
        <p:spPr>
          <a:xfrm>
            <a:off x="548640" y="3520440"/>
            <a:ext cx="11091672" cy="475488"/>
          </a:xfrm>
          <a:prstGeom prst="roundRect">
            <a:avLst>
              <a:gd name="adj" fmla="val 13462"/>
            </a:avLst>
          </a:prstGeom>
          <a:solidFill>
            <a:schemeClr val="bg2"/>
          </a:solidFill>
          <a:ln w="6350">
            <a:solidFill>
              <a:schemeClr val="bg2"/>
            </a:solidFill>
            <a:prstDash val="solid"/>
          </a:ln>
        </p:spPr>
      </p:sp>
      <p:sp>
        <p:nvSpPr>
          <p:cNvPr id="29" name="Text 26"/>
          <p:cNvSpPr txBox="1"/>
          <p:nvPr/>
        </p:nvSpPr>
        <p:spPr>
          <a:xfrm>
            <a:off x="731520" y="3520440"/>
            <a:ext cx="2011680" cy="475488"/>
          </a:xfrm>
          <a:prstGeom prst="rect">
            <a:avLst/>
          </a:prstGeom>
          <a:noFill/>
          <a:ln/>
        </p:spPr>
        <p:txBody>
          <a:bodyPr wrap="square" lIns="0" tIns="0" rIns="0" bIns="0" rtlCol="0" anchor="ctr"/>
          <a:lstStyle/>
          <a:p>
            <a:pPr indent="0" marL="0">
              <a:buNone/>
            </a:pPr>
            <a:r>
              <a:rPr lang="en-US" sz="1400" b="1" dirty="0">
                <a:solidFill>
                  <a:schemeClr val="tx2"/>
                </a:solidFill>
              </a:rPr>
              <a:t>Fiserv</a:t>
            </a:r>
            <a:endParaRPr lang="en-US" sz="1400" dirty="0"/>
          </a:p>
        </p:txBody>
      </p:sp>
      <p:sp>
        <p:nvSpPr>
          <p:cNvPr id="30" name="Text 27"/>
          <p:cNvSpPr txBox="1"/>
          <p:nvPr/>
        </p:nvSpPr>
        <p:spPr>
          <a:xfrm>
            <a:off x="2743200" y="3520440"/>
            <a:ext cx="6766560" cy="475488"/>
          </a:xfrm>
          <a:prstGeom prst="rect">
            <a:avLst/>
          </a:prstGeom>
          <a:noFill/>
          <a:ln/>
        </p:spPr>
        <p:txBody>
          <a:bodyPr wrap="square" lIns="0" tIns="0" rIns="0" bIns="0" rtlCol="0" anchor="ctr"/>
          <a:lstStyle/>
          <a:p>
            <a:pPr indent="0" marL="0">
              <a:buNone/>
            </a:pPr>
            <a:r>
              <a:rPr lang="en-US" sz="1300" dirty="0">
                <a:solidFill>
                  <a:schemeClr val="tx1"/>
                </a:solidFill>
              </a:rPr>
              <a:t>Critical tier  ·  data 4  ·  role agentic  →  severity 4  ·  evidence Confirmed  →</a:t>
            </a:r>
            <a:endParaRPr lang="en-US" sz="1300" dirty="0"/>
          </a:p>
        </p:txBody>
      </p:sp>
      <p:sp>
        <p:nvSpPr>
          <p:cNvPr id="31" name="Shape 28"/>
          <p:cNvSpPr/>
          <p:nvPr/>
        </p:nvSpPr>
        <p:spPr>
          <a:xfrm>
            <a:off x="10241280" y="3593592"/>
            <a:ext cx="1280160" cy="329184"/>
          </a:xfrm>
          <a:prstGeom prst="roundRect">
            <a:avLst>
              <a:gd name="adj" fmla="val 16667"/>
            </a:avLst>
          </a:prstGeom>
          <a:solidFill>
            <a:srgbClr val="B42318"/>
          </a:solidFill>
          <a:ln w="6350">
            <a:solidFill>
              <a:srgbClr val="B42318"/>
            </a:solidFill>
            <a:prstDash val="solid"/>
          </a:ln>
        </p:spPr>
      </p:sp>
      <p:sp>
        <p:nvSpPr>
          <p:cNvPr id="32" name="Text 29"/>
          <p:cNvSpPr txBox="1"/>
          <p:nvPr/>
        </p:nvSpPr>
        <p:spPr>
          <a:xfrm>
            <a:off x="10241280" y="3593592"/>
            <a:ext cx="1280160" cy="329184"/>
          </a:xfrm>
          <a:prstGeom prst="rect">
            <a:avLst/>
          </a:prstGeom>
          <a:noFill/>
          <a:ln/>
        </p:spPr>
        <p:txBody>
          <a:bodyPr wrap="square" lIns="0" tIns="0" rIns="0" bIns="0" rtlCol="0" anchor="ctr"/>
          <a:lstStyle/>
          <a:p>
            <a:pPr algn="ctr" indent="0" marL="0">
              <a:buNone/>
            </a:pPr>
            <a:r>
              <a:rPr lang="en-US" sz="1300" b="1" dirty="0">
                <a:solidFill>
                  <a:schemeClr val="bg1"/>
                </a:solidFill>
              </a:rPr>
              <a:t>Critical</a:t>
            </a:r>
            <a:endParaRPr lang="en-US" sz="1300" dirty="0"/>
          </a:p>
        </p:txBody>
      </p:sp>
      <p:sp>
        <p:nvSpPr>
          <p:cNvPr id="33" name="Shape 30"/>
          <p:cNvSpPr/>
          <p:nvPr/>
        </p:nvSpPr>
        <p:spPr>
          <a:xfrm>
            <a:off x="548640" y="4087368"/>
            <a:ext cx="11091672" cy="475488"/>
          </a:xfrm>
          <a:prstGeom prst="roundRect">
            <a:avLst>
              <a:gd name="adj" fmla="val 13462"/>
            </a:avLst>
          </a:prstGeom>
          <a:solidFill>
            <a:schemeClr val="bg2"/>
          </a:solidFill>
          <a:ln w="6350">
            <a:solidFill>
              <a:schemeClr val="bg2"/>
            </a:solidFill>
            <a:prstDash val="solid"/>
          </a:ln>
        </p:spPr>
      </p:sp>
      <p:sp>
        <p:nvSpPr>
          <p:cNvPr id="34" name="Text 31"/>
          <p:cNvSpPr txBox="1"/>
          <p:nvPr/>
        </p:nvSpPr>
        <p:spPr>
          <a:xfrm>
            <a:off x="731520" y="4087368"/>
            <a:ext cx="2011680" cy="475488"/>
          </a:xfrm>
          <a:prstGeom prst="rect">
            <a:avLst/>
          </a:prstGeom>
          <a:noFill/>
          <a:ln/>
        </p:spPr>
        <p:txBody>
          <a:bodyPr wrap="square" lIns="0" tIns="0" rIns="0" bIns="0" rtlCol="0" anchor="ctr"/>
          <a:lstStyle/>
          <a:p>
            <a:pPr indent="0" marL="0">
              <a:buNone/>
            </a:pPr>
            <a:r>
              <a:rPr lang="en-US" sz="1400" b="1" dirty="0">
                <a:solidFill>
                  <a:schemeClr val="tx2"/>
                </a:solidFill>
              </a:rPr>
              <a:t>BNY</a:t>
            </a:r>
            <a:endParaRPr lang="en-US" sz="1400" dirty="0"/>
          </a:p>
        </p:txBody>
      </p:sp>
      <p:sp>
        <p:nvSpPr>
          <p:cNvPr id="35" name="Text 32"/>
          <p:cNvSpPr txBox="1"/>
          <p:nvPr/>
        </p:nvSpPr>
        <p:spPr>
          <a:xfrm>
            <a:off x="2743200" y="4087368"/>
            <a:ext cx="6766560" cy="475488"/>
          </a:xfrm>
          <a:prstGeom prst="rect">
            <a:avLst/>
          </a:prstGeom>
          <a:noFill/>
          <a:ln/>
        </p:spPr>
        <p:txBody>
          <a:bodyPr wrap="square" lIns="0" tIns="0" rIns="0" bIns="0" rtlCol="0" anchor="ctr"/>
          <a:lstStyle/>
          <a:p>
            <a:pPr indent="0" marL="0">
              <a:buNone/>
            </a:pPr>
            <a:r>
              <a:rPr lang="en-US" sz="1300" dirty="0">
                <a:solidFill>
                  <a:schemeClr val="tx1"/>
                </a:solidFill>
              </a:rPr>
              <a:t>Critical tier  ·  data 3  ·  role agentic  →  severity 3.6  ·  evidence Probable  →</a:t>
            </a:r>
            <a:endParaRPr lang="en-US" sz="1300" dirty="0"/>
          </a:p>
        </p:txBody>
      </p:sp>
      <p:sp>
        <p:nvSpPr>
          <p:cNvPr id="36" name="Shape 33"/>
          <p:cNvSpPr/>
          <p:nvPr/>
        </p:nvSpPr>
        <p:spPr>
          <a:xfrm>
            <a:off x="10241280" y="4160520"/>
            <a:ext cx="1280160" cy="329184"/>
          </a:xfrm>
          <a:prstGeom prst="roundRect">
            <a:avLst>
              <a:gd name="adj" fmla="val 16667"/>
            </a:avLst>
          </a:prstGeom>
          <a:solidFill>
            <a:srgbClr val="C77700"/>
          </a:solidFill>
          <a:ln w="6350">
            <a:solidFill>
              <a:srgbClr val="C77700"/>
            </a:solidFill>
            <a:prstDash val="solid"/>
          </a:ln>
        </p:spPr>
      </p:sp>
      <p:sp>
        <p:nvSpPr>
          <p:cNvPr id="37" name="Text 34"/>
          <p:cNvSpPr txBox="1"/>
          <p:nvPr/>
        </p:nvSpPr>
        <p:spPr>
          <a:xfrm>
            <a:off x="10241280" y="4160520"/>
            <a:ext cx="1280160" cy="329184"/>
          </a:xfrm>
          <a:prstGeom prst="rect">
            <a:avLst/>
          </a:prstGeom>
          <a:noFill/>
          <a:ln/>
        </p:spPr>
        <p:txBody>
          <a:bodyPr wrap="square" lIns="0" tIns="0" rIns="0" bIns="0" rtlCol="0" anchor="ctr"/>
          <a:lstStyle/>
          <a:p>
            <a:pPr algn="ctr" indent="0" marL="0">
              <a:buNone/>
            </a:pPr>
            <a:r>
              <a:rPr lang="en-US" sz="1300" b="1" dirty="0">
                <a:solidFill>
                  <a:schemeClr val="bg1"/>
                </a:solidFill>
              </a:rPr>
              <a:t>High</a:t>
            </a:r>
            <a:endParaRPr lang="en-US" sz="1300" dirty="0"/>
          </a:p>
        </p:txBody>
      </p:sp>
      <p:sp>
        <p:nvSpPr>
          <p:cNvPr id="38" name="Text 35"/>
          <p:cNvSpPr txBox="1"/>
          <p:nvPr/>
        </p:nvSpPr>
        <p:spPr>
          <a:xfrm>
            <a:off x="548640" y="4754880"/>
            <a:ext cx="54864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HOW THE THREE KEY RISKS SHOW UP IN THE OUTPUT</a:t>
            </a:r>
            <a:endParaRPr lang="en-US" sz="1200" dirty="0"/>
          </a:p>
        </p:txBody>
      </p:sp>
      <p:sp>
        <p:nvSpPr>
          <p:cNvPr id="39" name="Shape 36"/>
          <p:cNvSpPr/>
          <p:nvPr/>
        </p:nvSpPr>
        <p:spPr>
          <a:xfrm>
            <a:off x="548640" y="5074920"/>
            <a:ext cx="3593592" cy="731520"/>
          </a:xfrm>
          <a:prstGeom prst="roundRect">
            <a:avLst>
              <a:gd name="adj" fmla="val 8750"/>
            </a:avLst>
          </a:prstGeom>
          <a:solidFill>
            <a:schemeClr val="bg1"/>
          </a:solidFill>
          <a:ln w="15875">
            <a:solidFill>
              <a:schemeClr val="accent4"/>
            </a:solidFill>
            <a:prstDash val="solid"/>
          </a:ln>
        </p:spPr>
      </p:sp>
      <p:sp>
        <p:nvSpPr>
          <p:cNvPr id="40" name="Text 37"/>
          <p:cNvSpPr txBox="1"/>
          <p:nvPr/>
        </p:nvSpPr>
        <p:spPr>
          <a:xfrm>
            <a:off x="658368" y="5120640"/>
            <a:ext cx="3383280" cy="274320"/>
          </a:xfrm>
          <a:prstGeom prst="rect">
            <a:avLst/>
          </a:prstGeom>
          <a:noFill/>
          <a:ln/>
        </p:spPr>
        <p:txBody>
          <a:bodyPr wrap="square" lIns="0" tIns="0" rIns="0" bIns="0" rtlCol="0" anchor="t"/>
          <a:lstStyle/>
          <a:p>
            <a:pPr indent="0" marL="0">
              <a:buNone/>
            </a:pPr>
            <a:r>
              <a:rPr lang="en-US" sz="1300" b="1" dirty="0">
                <a:solidFill>
                  <a:schemeClr val="tx2"/>
                </a:solidFill>
              </a:rPr>
              <a:t>Sensitive data to AI models</a:t>
            </a:r>
            <a:endParaRPr lang="en-US" sz="1300" dirty="0"/>
          </a:p>
        </p:txBody>
      </p:sp>
      <p:sp>
        <p:nvSpPr>
          <p:cNvPr id="41" name="Text 38"/>
          <p:cNvSpPr txBox="1"/>
          <p:nvPr/>
        </p:nvSpPr>
        <p:spPr>
          <a:xfrm>
            <a:off x="658368" y="5413248"/>
            <a:ext cx="3383280" cy="365760"/>
          </a:xfrm>
          <a:prstGeom prst="rect">
            <a:avLst/>
          </a:prstGeom>
          <a:noFill/>
          <a:ln/>
        </p:spPr>
        <p:txBody>
          <a:bodyPr wrap="square" lIns="0" tIns="0" rIns="0" bIns="0" rtlCol="0" anchor="t"/>
          <a:lstStyle/>
          <a:p>
            <a:pPr indent="0" marL="0">
              <a:buNone/>
            </a:pPr>
            <a:r>
              <a:rPr lang="en-US" sz="1050" dirty="0">
                <a:solidFill>
                  <a:schemeClr val="tx1"/>
                </a:solidFill>
              </a:rPr>
              <a:t>SENSITIVE_DATA_TO_MODELS  ·  data class 3+ and AI evidenced</a:t>
            </a:r>
            <a:endParaRPr lang="en-US" sz="1050" dirty="0"/>
          </a:p>
        </p:txBody>
      </p:sp>
      <p:sp>
        <p:nvSpPr>
          <p:cNvPr id="42" name="Shape 39"/>
          <p:cNvSpPr/>
          <p:nvPr/>
        </p:nvSpPr>
        <p:spPr>
          <a:xfrm>
            <a:off x="4297680" y="5074920"/>
            <a:ext cx="3593592" cy="731520"/>
          </a:xfrm>
          <a:prstGeom prst="roundRect">
            <a:avLst>
              <a:gd name="adj" fmla="val 8750"/>
            </a:avLst>
          </a:prstGeom>
          <a:solidFill>
            <a:schemeClr val="bg1"/>
          </a:solidFill>
          <a:ln w="15875">
            <a:solidFill>
              <a:schemeClr val="accent4"/>
            </a:solidFill>
            <a:prstDash val="solid"/>
          </a:ln>
        </p:spPr>
      </p:sp>
      <p:sp>
        <p:nvSpPr>
          <p:cNvPr id="43" name="Text 40"/>
          <p:cNvSpPr txBox="1"/>
          <p:nvPr/>
        </p:nvSpPr>
        <p:spPr>
          <a:xfrm>
            <a:off x="4407408" y="5120640"/>
            <a:ext cx="3383280" cy="274320"/>
          </a:xfrm>
          <a:prstGeom prst="rect">
            <a:avLst/>
          </a:prstGeom>
          <a:noFill/>
          <a:ln/>
        </p:spPr>
        <p:txBody>
          <a:bodyPr wrap="square" lIns="0" tIns="0" rIns="0" bIns="0" rtlCol="0" anchor="t"/>
          <a:lstStyle/>
          <a:p>
            <a:pPr indent="0" marL="0">
              <a:buNone/>
            </a:pPr>
            <a:r>
              <a:rPr lang="en-US" sz="1300" b="1" dirty="0">
                <a:solidFill>
                  <a:schemeClr val="tx2"/>
                </a:solidFill>
              </a:rPr>
              <a:t>Undisclosed sub-processor</a:t>
            </a:r>
            <a:endParaRPr lang="en-US" sz="1300" dirty="0"/>
          </a:p>
        </p:txBody>
      </p:sp>
      <p:sp>
        <p:nvSpPr>
          <p:cNvPr id="44" name="Text 41"/>
          <p:cNvSpPr txBox="1"/>
          <p:nvPr/>
        </p:nvSpPr>
        <p:spPr>
          <a:xfrm>
            <a:off x="4407408" y="5413248"/>
            <a:ext cx="3383280" cy="365760"/>
          </a:xfrm>
          <a:prstGeom prst="rect">
            <a:avLst/>
          </a:prstGeom>
          <a:noFill/>
          <a:ln/>
        </p:spPr>
        <p:txBody>
          <a:bodyPr wrap="square" lIns="0" tIns="0" rIns="0" bIns="0" rtlCol="0" anchor="t"/>
          <a:lstStyle/>
          <a:p>
            <a:pPr indent="0" marL="0">
              <a:buNone/>
            </a:pPr>
            <a:r>
              <a:rPr lang="en-US" sz="1050" dirty="0">
                <a:solidFill>
                  <a:schemeClr val="tx1"/>
                </a:solidFill>
              </a:rPr>
              <a:t>UNRESOLVED_PROVIDER  ·  AI used, no provider named</a:t>
            </a:r>
            <a:endParaRPr lang="en-US" sz="1050" dirty="0"/>
          </a:p>
        </p:txBody>
      </p:sp>
      <p:sp>
        <p:nvSpPr>
          <p:cNvPr id="45" name="Shape 42"/>
          <p:cNvSpPr/>
          <p:nvPr/>
        </p:nvSpPr>
        <p:spPr>
          <a:xfrm>
            <a:off x="8046720" y="5074920"/>
            <a:ext cx="3593592" cy="731520"/>
          </a:xfrm>
          <a:prstGeom prst="roundRect">
            <a:avLst>
              <a:gd name="adj" fmla="val 8750"/>
            </a:avLst>
          </a:prstGeom>
          <a:solidFill>
            <a:schemeClr val="bg1"/>
          </a:solidFill>
          <a:ln w="15875">
            <a:solidFill>
              <a:schemeClr val="accent4"/>
            </a:solidFill>
            <a:prstDash val="solid"/>
          </a:ln>
        </p:spPr>
      </p:sp>
      <p:sp>
        <p:nvSpPr>
          <p:cNvPr id="46" name="Text 43"/>
          <p:cNvSpPr txBox="1"/>
          <p:nvPr/>
        </p:nvSpPr>
        <p:spPr>
          <a:xfrm>
            <a:off x="8156448" y="5120640"/>
            <a:ext cx="3383280" cy="274320"/>
          </a:xfrm>
          <a:prstGeom prst="rect">
            <a:avLst/>
          </a:prstGeom>
          <a:noFill/>
          <a:ln/>
        </p:spPr>
        <p:txBody>
          <a:bodyPr wrap="square" lIns="0" tIns="0" rIns="0" bIns="0" rtlCol="0" anchor="t"/>
          <a:lstStyle/>
          <a:p>
            <a:pPr indent="0" marL="0">
              <a:buNone/>
            </a:pPr>
            <a:r>
              <a:rPr lang="en-US" sz="1300" b="1" dirty="0">
                <a:solidFill>
                  <a:schemeClr val="tx2"/>
                </a:solidFill>
              </a:rPr>
              <a:t>Reduced transparency</a:t>
            </a:r>
            <a:endParaRPr lang="en-US" sz="1300" dirty="0"/>
          </a:p>
        </p:txBody>
      </p:sp>
      <p:sp>
        <p:nvSpPr>
          <p:cNvPr id="47" name="Text 44"/>
          <p:cNvSpPr txBox="1"/>
          <p:nvPr/>
        </p:nvSpPr>
        <p:spPr>
          <a:xfrm>
            <a:off x="8156448" y="5413248"/>
            <a:ext cx="3383280" cy="365760"/>
          </a:xfrm>
          <a:prstGeom prst="rect">
            <a:avLst/>
          </a:prstGeom>
          <a:noFill/>
          <a:ln/>
        </p:spPr>
        <p:txBody>
          <a:bodyPr wrap="square" lIns="0" tIns="0" rIns="0" bIns="0" rtlCol="0" anchor="t"/>
          <a:lstStyle/>
          <a:p>
            <a:pPr indent="0" marL="0">
              <a:buNone/>
            </a:pPr>
            <a:r>
              <a:rPr lang="en-US" sz="1050" dirty="0">
                <a:solidFill>
                  <a:schemeClr val="tx1"/>
                </a:solidFill>
              </a:rPr>
              <a:t>AUTONOMOUS_ACTIONS  ·  agentic or autonomous wording</a:t>
            </a:r>
            <a:endParaRPr lang="en-US" sz="1050" dirty="0"/>
          </a:p>
        </p:txBody>
      </p:sp>
      <p:sp>
        <p:nvSpPr>
          <p:cNvPr id="48" name="Text 45"/>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b="1" dirty="0">
                <a:solidFill>
                  <a:schemeClr val="accent2"/>
                </a:solidFill>
              </a:rPr>
              <a:t>Action deadlines:  Critical 15 business days  ·  High 30  ·  Medium next review  ·  Low annual</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Results across Meridian's vendors</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Offline snapshot from 14-10-2026; a live sweep refreshes the same table with fetched pages.</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RESULTS</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1554480"/>
                <a:gridCol w="2011680"/>
                <a:gridCol w="1463040"/>
                <a:gridCol w="2377440"/>
                <a:gridCol w="1307592"/>
              </a:tblGrid>
              <a:tr h="457200">
                <a:tc>
                  <a:txBody>
                    <a:bodyPr/>
                    <a:lstStyle/>
                    <a:p>
                      <a:pPr indent="0" marL="0">
                        <a:buNone/>
                      </a:pPr>
                      <a:r>
                        <a:rPr lang="en-US" sz="1200" b="1" dirty="0">
                          <a:solidFill>
                            <a:srgbClr val="FFFFFF"/>
                          </a:solidFill>
                        </a:rPr>
                        <a:t>Vendor</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Tier (score)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AI usage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Evidence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Model providers named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AI risk</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0F1B2D"/>
                    </a:solidFill>
                  </a:tcPr>
                </a:tc>
              </a:tr>
              <a:tr h="457200">
                <a:tc>
                  <a:txBody>
                    <a:bodyPr/>
                    <a:lstStyle/>
                    <a:p>
                      <a:pPr indent="0" marL="0">
                        <a:buNone/>
                      </a:pPr>
                      <a:r>
                        <a:rPr lang="en-US" sz="1200" b="1" dirty="0">
                          <a:solidFill>
                            <a:srgbClr val="17202E"/>
                          </a:solidFill>
                        </a:rPr>
                        <a:t>Fiserv</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Critical (3.7)</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Yes</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Confirmed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OpenAI, Microsoft</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FFFFFF"/>
                          </a:solidFill>
                        </a:rPr>
                        <a:t>Critical</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B42318"/>
                    </a:solidFill>
                  </a:tcPr>
                </a:tc>
              </a:tr>
              <a:tr h="457200">
                <a:tc>
                  <a:txBody>
                    <a:bodyPr/>
                    <a:lstStyle/>
                    <a:p>
                      <a:pPr indent="0" marL="0">
                        <a:buNone/>
                      </a:pPr>
                      <a:r>
                        <a:rPr lang="en-US" sz="1200" b="1" dirty="0">
                          <a:solidFill>
                            <a:srgbClr val="17202E"/>
                          </a:solidFill>
                        </a:rPr>
                        <a:t>BNY</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Critical (3.15)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Yes</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Probable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Microsoft, OpenAI, Google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High</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C77700"/>
                    </a:solidFill>
                  </a:tcPr>
                </a:tc>
              </a:tr>
              <a:tr h="457200">
                <a:tc>
                  <a:txBody>
                    <a:bodyPr/>
                    <a:lstStyle/>
                    <a:p>
                      <a:pPr indent="0" marL="0">
                        <a:buNone/>
                      </a:pPr>
                      <a:r>
                        <a:rPr lang="en-US" sz="1200" b="1" dirty="0">
                          <a:solidFill>
                            <a:srgbClr val="17202E"/>
                          </a:solidFill>
                        </a:rPr>
                        <a:t>AutomWorx</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High (2.25)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Inconclusive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Indicative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None named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FFFFFF"/>
                          </a:solidFill>
                        </a:rPr>
                        <a:t>Medium</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1F4E8C"/>
                    </a:solidFill>
                  </a:tcPr>
                </a:tc>
              </a:tr>
              <a:tr h="457200">
                <a:tc>
                  <a:txBody>
                    <a:bodyPr/>
                    <a:lstStyle/>
                    <a:p>
                      <a:pPr indent="0" marL="0">
                        <a:buNone/>
                      </a:pPr>
                      <a:r>
                        <a:rPr lang="en-US" sz="1200" b="1" dirty="0">
                          <a:solidFill>
                            <a:srgbClr val="17202E"/>
                          </a:solidFill>
                        </a:rPr>
                        <a:t>FSSI</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High (2.9)</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No</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None found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None named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None identified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1C7C4D"/>
                    </a:solidFill>
                  </a:tcPr>
                </a:tc>
              </a:tr>
              <a:tr h="457200">
                <a:tc>
                  <a:txBody>
                    <a:bodyPr/>
                    <a:lstStyle/>
                    <a:p>
                      <a:pPr indent="0" marL="0">
                        <a:buNone/>
                      </a:pPr>
                      <a:r>
                        <a:rPr lang="en-US" sz="1200" b="1" dirty="0">
                          <a:solidFill>
                            <a:srgbClr val="17202E"/>
                          </a:solidFill>
                        </a:rPr>
                        <a:t>The Clearing House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Critical (3.25)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Inconclusive · coverage gap</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None found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indent="0" marL="0">
                        <a:buNone/>
                      </a:pPr>
                      <a:r>
                        <a:rPr lang="en-US" sz="1200" dirty="0">
                          <a:solidFill>
                            <a:srgbClr val="17202E"/>
                          </a:solidFill>
                        </a:rPr>
                        <a:t>None named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2F5F9"/>
                    </a:solidFill>
                  </a:tcPr>
                </a:tc>
                <a:tc>
                  <a:txBody>
                    <a:bodyPr/>
                    <a:lstStyle/>
                    <a:p>
                      <a:pPr algn="ctr" indent="0" marL="0">
                        <a:buNone/>
                      </a:pPr>
                      <a:r>
                        <a:rPr lang="en-US" sz="1200" b="1" dirty="0">
                          <a:solidFill>
                            <a:srgbClr val="FFFFFF"/>
                          </a:solidFill>
                        </a:rPr>
                        <a:t>Medium</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1F4E8C"/>
                    </a:solidFill>
                  </a:tcPr>
                </a:tc>
              </a:tr>
              <a:tr h="457200">
                <a:tc>
                  <a:txBody>
                    <a:bodyPr/>
                    <a:lstStyle/>
                    <a:p>
                      <a:pPr indent="0" marL="0">
                        <a:buNone/>
                      </a:pPr>
                      <a:r>
                        <a:rPr lang="en-US" sz="1200" b="1" dirty="0">
                          <a:solidFill>
                            <a:srgbClr val="17202E"/>
                          </a:solidFill>
                        </a:rPr>
                        <a:t>Terrapin</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Medium (2.15)</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Inconclusive</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Marketing-only</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indent="0" marL="0">
                        <a:buNone/>
                      </a:pPr>
                      <a:r>
                        <a:rPr lang="en-US" sz="1200" dirty="0">
                          <a:solidFill>
                            <a:srgbClr val="17202E"/>
                          </a:solidFill>
                        </a:rPr>
                        <a:t>None named</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rPr>
                        <a:t>Medium</a:t>
                      </a:r>
                      <a:endParaRPr lang="en-US" sz="1200" dirty="0"/>
                    </a:p>
                  </a:txBody>
                  <a:tcPr marL="91440" marR="91440" marT="45720" marB="45720" anchor="ctr">
                    <a:lnL w="6350" cap="flat" cmpd="sng" algn="ctr">
                      <a:solidFill>
                        <a:srgbClr val="D5DBE4"/>
                      </a:solidFill>
                      <a:prstDash val="solid"/>
                      <a:round/>
                      <a:headEnd type="none" w="med" len="med"/>
                      <a:tailEnd type="none" w="med" len="med"/>
                    </a:lnL>
                    <a:lnR w="6350" cap="flat" cmpd="sng" algn="ctr">
                      <a:solidFill>
                        <a:srgbClr val="D5DBE4"/>
                      </a:solidFill>
                      <a:prstDash val="solid"/>
                      <a:round/>
                      <a:headEnd type="none" w="med" len="med"/>
                      <a:tailEnd type="none" w="med" len="med"/>
                    </a:lnR>
                    <a:lnT w="6350" cap="flat" cmpd="sng" algn="ctr">
                      <a:solidFill>
                        <a:srgbClr val="D5DBE4"/>
                      </a:solidFill>
                      <a:prstDash val="solid"/>
                      <a:round/>
                      <a:headEnd type="none" w="med" len="med"/>
                      <a:tailEnd type="none" w="med" len="med"/>
                    </a:lnT>
                    <a:lnB w="6350" cap="flat" cmpd="sng" algn="ctr">
                      <a:solidFill>
                        <a:srgbClr val="D5DBE4"/>
                      </a:solidFill>
                      <a:prstDash val="solid"/>
                      <a:round/>
                      <a:headEnd type="none" w="med" len="med"/>
                      <a:tailEnd type="none" w="med" len="med"/>
                    </a:lnB>
                    <a:solidFill>
                      <a:srgbClr val="1F4E8C"/>
                    </a:solidFill>
                  </a:tcPr>
                </a:tc>
              </a:tr>
            </a:tbl>
          </a:graphicData>
        </a:graphic>
      </p:graphicFrame>
      <p:sp>
        <p:nvSpPr>
          <p:cNvPr id="8" name="Text 4"/>
          <p:cNvSpPr txBox="1"/>
          <p:nvPr/>
        </p:nvSpPr>
        <p:spPr>
          <a:xfrm>
            <a:off x="548640" y="5257800"/>
            <a:ext cx="11091672" cy="914400"/>
          </a:xfrm>
          <a:prstGeom prst="rect">
            <a:avLst/>
          </a:prstGeom>
          <a:noFill/>
          <a:ln/>
        </p:spPr>
        <p:txBody>
          <a:bodyPr wrap="square" lIns="0" tIns="0" rIns="0" bIns="0" rtlCol="0" anchor="t"/>
          <a:lstStyle/>
          <a:p>
            <a:pPr indent="0" marL="0">
              <a:spcAft>
                <a:spcPts val="600"/>
              </a:spcAft>
              <a:buNone/>
            </a:pPr>
            <a:r>
              <a:rPr lang="en-US" sz="1400" b="1" dirty="0">
                <a:solidFill>
                  <a:srgbClr val="B42318"/>
                </a:solidFill>
              </a:rPr>
              <a:t>Escalate: </a:t>
            </a:r>
            <a:pPr indent="0" marL="0">
              <a:spcAft>
                <a:spcPts val="600"/>
              </a:spcAft>
              <a:buNone/>
            </a:pPr>
            <a:r>
              <a:rPr lang="en-US" sz="1400" dirty="0">
                <a:solidFill>
                  <a:schemeClr val="tx1"/>
                </a:solidFill>
              </a:rPr>
              <a:t>Fiserv and BNY combine high criticality with evidenced, autonomous AI on sensitive data.</a:t>
            </a:r>
            <a:endParaRPr lang="en-US" sz="1400" dirty="0"/>
          </a:p>
          <a:p>
            <a:pPr indent="0" marL="0">
              <a:spcAft>
                <a:spcPts val="600"/>
              </a:spcAft>
              <a:buNone/>
            </a:pPr>
            <a:r>
              <a:rPr lang="en-US" sz="1400" b="1" dirty="0">
                <a:solidFill>
                  <a:srgbClr val="C77700"/>
                </a:solidFill>
              </a:rPr>
              <a:t>Not cleared: </a:t>
            </a:r>
            <a:pPr indent="0" marL="0">
              <a:spcAft>
                <a:spcPts val="600"/>
              </a:spcAft>
              <a:buNone/>
            </a:pPr>
            <a:r>
              <a:rPr lang="en-US" sz="1400" dirty="0">
                <a:solidFill>
                  <a:schemeClr val="tx1"/>
                </a:solidFill>
              </a:rPr>
              <a:t>AutomWorx, Terrapin, The Clearing House are inconclusive (too few pages, or marketing-only) and go to the questionnaire.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Every finding is traceable</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An explainable result needs the excerpt, its source, when it was read and what it said at the time.</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RESULTS</a:t>
            </a:r>
            <a:endParaRPr lang="en-US" sz="1050" dirty="0"/>
          </a:p>
        </p:txBody>
      </p:sp>
      <p:sp>
        <p:nvSpPr>
          <p:cNvPr id="7" name="Shape 4"/>
          <p:cNvSpPr/>
          <p:nvPr/>
        </p:nvSpPr>
        <p:spPr>
          <a:xfrm>
            <a:off x="548640" y="1783080"/>
            <a:ext cx="6583680" cy="4434840"/>
          </a:xfrm>
          <a:prstGeom prst="roundRect">
            <a:avLst>
              <a:gd name="adj" fmla="val 1443"/>
            </a:avLst>
          </a:prstGeom>
          <a:solidFill>
            <a:schemeClr val="bg2"/>
          </a:solidFill>
          <a:ln w="6350">
            <a:solidFill>
              <a:schemeClr val="bg2"/>
            </a:solidFill>
            <a:prstDash val="solid"/>
          </a:ln>
        </p:spPr>
      </p:sp>
      <p:sp>
        <p:nvSpPr>
          <p:cNvPr id="8" name="Text 5"/>
          <p:cNvSpPr txBox="1"/>
          <p:nvPr/>
        </p:nvSpPr>
        <p:spPr>
          <a:xfrm>
            <a:off x="777240" y="1901952"/>
            <a:ext cx="62179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ONE FINDING, FULLY TRACED  ·  FISERV</a:t>
            </a:r>
            <a:endParaRPr lang="en-US" sz="1200" dirty="0"/>
          </a:p>
        </p:txBody>
      </p:sp>
      <p:sp>
        <p:nvSpPr>
          <p:cNvPr id="9" name="Shape 6"/>
          <p:cNvSpPr/>
          <p:nvPr/>
        </p:nvSpPr>
        <p:spPr>
          <a:xfrm>
            <a:off x="777240" y="2286000"/>
            <a:ext cx="6126480" cy="1097280"/>
          </a:xfrm>
          <a:prstGeom prst="roundRect">
            <a:avLst>
              <a:gd name="adj" fmla="val 5000"/>
            </a:avLst>
          </a:prstGeom>
          <a:solidFill>
            <a:schemeClr val="bg1"/>
          </a:solidFill>
          <a:ln w="15875">
            <a:solidFill>
              <a:schemeClr val="accent1"/>
            </a:solidFill>
            <a:prstDash val="solid"/>
          </a:ln>
        </p:spPr>
      </p:sp>
      <p:sp>
        <p:nvSpPr>
          <p:cNvPr id="10" name="Text 7"/>
          <p:cNvSpPr txBox="1"/>
          <p:nvPr/>
        </p:nvSpPr>
        <p:spPr>
          <a:xfrm>
            <a:off x="914400" y="2359152"/>
            <a:ext cx="5852160" cy="960120"/>
          </a:xfrm>
          <a:prstGeom prst="rect">
            <a:avLst/>
          </a:prstGeom>
          <a:noFill/>
          <a:ln/>
        </p:spPr>
        <p:txBody>
          <a:bodyPr wrap="square" lIns="0" tIns="0" rIns="0" bIns="0" rtlCol="0" anchor="t"/>
          <a:lstStyle/>
          <a:p>
            <a:pPr indent="0" marL="0">
              <a:buNone/>
            </a:pPr>
            <a:r>
              <a:rPr lang="en-US" sz="1400" i="1" dirty="0">
                <a:solidFill>
                  <a:schemeClr val="tx2"/>
                </a:solidFill>
              </a:rPr>
              <a:t>“Fiserv is collaborating with OpenAI to develop select first-party AI agents on the newly launched agentOS platform, aiming at high-capacity operational workflows across core banking, payments, issuer processing, and servicing.”</a:t>
            </a:r>
            <a:endParaRPr lang="en-US" sz="1400" dirty="0"/>
          </a:p>
        </p:txBody>
      </p:sp>
      <p:sp>
        <p:nvSpPr>
          <p:cNvPr id="11" name="Text 8"/>
          <p:cNvSpPr txBox="1"/>
          <p:nvPr/>
        </p:nvSpPr>
        <p:spPr>
          <a:xfrm>
            <a:off x="822960" y="3611880"/>
            <a:ext cx="1737360" cy="292608"/>
          </a:xfrm>
          <a:prstGeom prst="rect">
            <a:avLst/>
          </a:prstGeom>
          <a:noFill/>
          <a:ln/>
        </p:spPr>
        <p:txBody>
          <a:bodyPr wrap="square" lIns="0" tIns="0" rIns="0" bIns="0" rtlCol="0" anchor="t"/>
          <a:lstStyle/>
          <a:p>
            <a:pPr indent="0" marL="0">
              <a:buNone/>
            </a:pPr>
            <a:r>
              <a:rPr lang="en-US" sz="1200" b="1" dirty="0">
                <a:solidFill>
                  <a:schemeClr val="tx2"/>
                </a:solidFill>
              </a:rPr>
              <a:t>Signal type</a:t>
            </a:r>
            <a:endParaRPr lang="en-US" sz="1200" dirty="0"/>
          </a:p>
        </p:txBody>
      </p:sp>
      <p:sp>
        <p:nvSpPr>
          <p:cNvPr id="12" name="Text 9"/>
          <p:cNvSpPr txBox="1"/>
          <p:nvPr/>
        </p:nvSpPr>
        <p:spPr>
          <a:xfrm>
            <a:off x="2606040" y="3611880"/>
            <a:ext cx="4389120" cy="292608"/>
          </a:xfrm>
          <a:prstGeom prst="rect">
            <a:avLst/>
          </a:prstGeom>
          <a:noFill/>
          <a:ln/>
        </p:spPr>
        <p:txBody>
          <a:bodyPr wrap="square" lIns="0" tIns="0" rIns="0" bIns="0" rtlCol="0" anchor="t"/>
          <a:lstStyle/>
          <a:p>
            <a:pPr indent="0" marL="0">
              <a:buNone/>
            </a:pPr>
            <a:r>
              <a:rPr lang="en-US" sz="1200" dirty="0">
                <a:solidFill>
                  <a:schemeClr val="tx1"/>
                </a:solidFill>
              </a:rPr>
              <a:t>deployed use</a:t>
            </a:r>
            <a:endParaRPr lang="en-US" sz="1200" dirty="0"/>
          </a:p>
        </p:txBody>
      </p:sp>
      <p:sp>
        <p:nvSpPr>
          <p:cNvPr id="13" name="Text 10"/>
          <p:cNvSpPr txBox="1"/>
          <p:nvPr/>
        </p:nvSpPr>
        <p:spPr>
          <a:xfrm>
            <a:off x="822960" y="3977640"/>
            <a:ext cx="1737360" cy="292608"/>
          </a:xfrm>
          <a:prstGeom prst="rect">
            <a:avLst/>
          </a:prstGeom>
          <a:noFill/>
          <a:ln/>
        </p:spPr>
        <p:txBody>
          <a:bodyPr wrap="square" lIns="0" tIns="0" rIns="0" bIns="0" rtlCol="0" anchor="t"/>
          <a:lstStyle/>
          <a:p>
            <a:pPr indent="0" marL="0">
              <a:buNone/>
            </a:pPr>
            <a:r>
              <a:rPr lang="en-US" sz="1200" b="1" dirty="0">
                <a:solidFill>
                  <a:schemeClr val="tx2"/>
                </a:solidFill>
              </a:rPr>
              <a:t>Source class</a:t>
            </a:r>
            <a:endParaRPr lang="en-US" sz="1200" dirty="0"/>
          </a:p>
        </p:txBody>
      </p:sp>
      <p:sp>
        <p:nvSpPr>
          <p:cNvPr id="14" name="Text 11"/>
          <p:cNvSpPr txBox="1"/>
          <p:nvPr/>
        </p:nvSpPr>
        <p:spPr>
          <a:xfrm>
            <a:off x="2606040" y="3977640"/>
            <a:ext cx="4389120" cy="292608"/>
          </a:xfrm>
          <a:prstGeom prst="rect">
            <a:avLst/>
          </a:prstGeom>
          <a:noFill/>
          <a:ln/>
        </p:spPr>
        <p:txBody>
          <a:bodyPr wrap="square" lIns="0" tIns="0" rIns="0" bIns="0" rtlCol="0" anchor="t"/>
          <a:lstStyle/>
          <a:p>
            <a:pPr indent="0" marL="0">
              <a:buNone/>
            </a:pPr>
            <a:r>
              <a:rPr lang="en-US" sz="1200" dirty="0">
                <a:solidFill>
                  <a:schemeClr val="tx1"/>
                </a:solidFill>
              </a:rPr>
              <a:t>vendor press  (weight 0.8)</a:t>
            </a:r>
            <a:endParaRPr lang="en-US" sz="1200" dirty="0"/>
          </a:p>
        </p:txBody>
      </p:sp>
      <p:sp>
        <p:nvSpPr>
          <p:cNvPr id="15" name="Text 12"/>
          <p:cNvSpPr txBox="1"/>
          <p:nvPr/>
        </p:nvSpPr>
        <p:spPr>
          <a:xfrm>
            <a:off x="822960" y="4343400"/>
            <a:ext cx="1737360" cy="292608"/>
          </a:xfrm>
          <a:prstGeom prst="rect">
            <a:avLst/>
          </a:prstGeom>
          <a:noFill/>
          <a:ln/>
        </p:spPr>
        <p:txBody>
          <a:bodyPr wrap="square" lIns="0" tIns="0" rIns="0" bIns="0" rtlCol="0" anchor="t"/>
          <a:lstStyle/>
          <a:p>
            <a:pPr indent="0" marL="0">
              <a:buNone/>
            </a:pPr>
            <a:r>
              <a:rPr lang="en-US" sz="1200" b="1" dirty="0">
                <a:solidFill>
                  <a:schemeClr val="tx2"/>
                </a:solidFill>
              </a:rPr>
              <a:t>Provenance</a:t>
            </a:r>
            <a:endParaRPr lang="en-US" sz="1200" dirty="0"/>
          </a:p>
        </p:txBody>
      </p:sp>
      <p:sp>
        <p:nvSpPr>
          <p:cNvPr id="16" name="Text 13"/>
          <p:cNvSpPr txBox="1"/>
          <p:nvPr/>
        </p:nvSpPr>
        <p:spPr>
          <a:xfrm>
            <a:off x="2606040" y="4343400"/>
            <a:ext cx="4389120" cy="292608"/>
          </a:xfrm>
          <a:prstGeom prst="rect">
            <a:avLst/>
          </a:prstGeom>
          <a:noFill/>
          <a:ln/>
        </p:spPr>
        <p:txBody>
          <a:bodyPr wrap="square" lIns="0" tIns="0" rIns="0" bIns="0" rtlCol="0" anchor="t"/>
          <a:lstStyle/>
          <a:p>
            <a:pPr indent="0" marL="0">
              <a:buNone/>
            </a:pPr>
            <a:r>
              <a:rPr lang="en-US" sz="1200" dirty="0">
                <a:solidFill>
                  <a:schemeClr val="tx1"/>
                </a:solidFill>
              </a:rPr>
              <a:t>analyst-recorded  (trust 0.9)</a:t>
            </a:r>
            <a:endParaRPr lang="en-US" sz="1200" dirty="0"/>
          </a:p>
        </p:txBody>
      </p:sp>
      <p:sp>
        <p:nvSpPr>
          <p:cNvPr id="17" name="Text 14"/>
          <p:cNvSpPr txBox="1"/>
          <p:nvPr/>
        </p:nvSpPr>
        <p:spPr>
          <a:xfrm>
            <a:off x="822960" y="4709160"/>
            <a:ext cx="1737360" cy="292608"/>
          </a:xfrm>
          <a:prstGeom prst="rect">
            <a:avLst/>
          </a:prstGeom>
          <a:noFill/>
          <a:ln/>
        </p:spPr>
        <p:txBody>
          <a:bodyPr wrap="square" lIns="0" tIns="0" rIns="0" bIns="0" rtlCol="0" anchor="t"/>
          <a:lstStyle/>
          <a:p>
            <a:pPr indent="0" marL="0">
              <a:buNone/>
            </a:pPr>
            <a:r>
              <a:rPr lang="en-US" sz="1200" b="1" dirty="0">
                <a:solidFill>
                  <a:schemeClr val="tx2"/>
                </a:solidFill>
              </a:rPr>
              <a:t>Retrieved</a:t>
            </a:r>
            <a:endParaRPr lang="en-US" sz="1200" dirty="0"/>
          </a:p>
        </p:txBody>
      </p:sp>
      <p:sp>
        <p:nvSpPr>
          <p:cNvPr id="18" name="Text 15"/>
          <p:cNvSpPr txBox="1"/>
          <p:nvPr/>
        </p:nvSpPr>
        <p:spPr>
          <a:xfrm>
            <a:off x="2606040" y="4709160"/>
            <a:ext cx="4389120" cy="292608"/>
          </a:xfrm>
          <a:prstGeom prst="rect">
            <a:avLst/>
          </a:prstGeom>
          <a:noFill/>
          <a:ln/>
        </p:spPr>
        <p:txBody>
          <a:bodyPr wrap="square" lIns="0" tIns="0" rIns="0" bIns="0" rtlCol="0" anchor="t"/>
          <a:lstStyle/>
          <a:p>
            <a:pPr indent="0" marL="0">
              <a:buNone/>
            </a:pPr>
            <a:r>
              <a:rPr lang="en-US" sz="1200" dirty="0">
                <a:solidFill>
                  <a:schemeClr val="tx1"/>
                </a:solidFill>
              </a:rPr>
              <a:t>13-10-2026</a:t>
            </a:r>
            <a:endParaRPr lang="en-US" sz="1200" dirty="0"/>
          </a:p>
        </p:txBody>
      </p:sp>
      <p:sp>
        <p:nvSpPr>
          <p:cNvPr id="19" name="Text 16"/>
          <p:cNvSpPr txBox="1"/>
          <p:nvPr/>
        </p:nvSpPr>
        <p:spPr>
          <a:xfrm>
            <a:off x="822960" y="5074920"/>
            <a:ext cx="1737360" cy="292608"/>
          </a:xfrm>
          <a:prstGeom prst="rect">
            <a:avLst/>
          </a:prstGeom>
          <a:noFill/>
          <a:ln/>
        </p:spPr>
        <p:txBody>
          <a:bodyPr wrap="square" lIns="0" tIns="0" rIns="0" bIns="0" rtlCol="0" anchor="t"/>
          <a:lstStyle/>
          <a:p>
            <a:pPr indent="0" marL="0">
              <a:buNone/>
            </a:pPr>
            <a:r>
              <a:rPr lang="en-US" sz="1200" b="1" dirty="0">
                <a:solidFill>
                  <a:schemeClr val="tx2"/>
                </a:solidFill>
              </a:rPr>
              <a:t>Content SHA-256</a:t>
            </a:r>
            <a:endParaRPr lang="en-US" sz="1200" dirty="0"/>
          </a:p>
        </p:txBody>
      </p:sp>
      <p:sp>
        <p:nvSpPr>
          <p:cNvPr id="20" name="Text 17"/>
          <p:cNvSpPr txBox="1"/>
          <p:nvPr/>
        </p:nvSpPr>
        <p:spPr>
          <a:xfrm>
            <a:off x="2606040" y="5074920"/>
            <a:ext cx="4389120" cy="292608"/>
          </a:xfrm>
          <a:prstGeom prst="rect">
            <a:avLst/>
          </a:prstGeom>
          <a:noFill/>
          <a:ln/>
        </p:spPr>
        <p:txBody>
          <a:bodyPr wrap="square" lIns="0" tIns="0" rIns="0" bIns="0" rtlCol="0" anchor="t"/>
          <a:lstStyle/>
          <a:p>
            <a:pPr indent="0" marL="0">
              <a:buNone/>
            </a:pPr>
            <a:r>
              <a:rPr lang="en-US" sz="1200" dirty="0">
                <a:solidFill>
                  <a:schemeClr val="tx1"/>
                </a:solidFill>
              </a:rPr>
              <a:t>78073f3d7420bdda…</a:t>
            </a:r>
            <a:endParaRPr lang="en-US" sz="1200" dirty="0"/>
          </a:p>
        </p:txBody>
      </p:sp>
      <p:sp>
        <p:nvSpPr>
          <p:cNvPr id="21" name="Text 18"/>
          <p:cNvSpPr txBox="1"/>
          <p:nvPr/>
        </p:nvSpPr>
        <p:spPr>
          <a:xfrm>
            <a:off x="822960" y="5440680"/>
            <a:ext cx="1737360" cy="292608"/>
          </a:xfrm>
          <a:prstGeom prst="rect">
            <a:avLst/>
          </a:prstGeom>
          <a:noFill/>
          <a:ln/>
        </p:spPr>
        <p:txBody>
          <a:bodyPr wrap="square" lIns="0" tIns="0" rIns="0" bIns="0" rtlCol="0" anchor="t"/>
          <a:lstStyle/>
          <a:p>
            <a:pPr indent="0" marL="0">
              <a:buNone/>
            </a:pPr>
            <a:r>
              <a:rPr lang="en-US" sz="1200" b="1" dirty="0">
                <a:solidFill>
                  <a:schemeClr val="tx2"/>
                </a:solidFill>
              </a:rPr>
              <a:t>Source</a:t>
            </a:r>
            <a:endParaRPr lang="en-US" sz="1200" dirty="0"/>
          </a:p>
        </p:txBody>
      </p:sp>
      <p:sp>
        <p:nvSpPr>
          <p:cNvPr id="22" name="Text 19"/>
          <p:cNvSpPr txBox="1"/>
          <p:nvPr/>
        </p:nvSpPr>
        <p:spPr>
          <a:xfrm>
            <a:off x="2606040" y="5440680"/>
            <a:ext cx="4389120" cy="292608"/>
          </a:xfrm>
          <a:prstGeom prst="rect">
            <a:avLst/>
          </a:prstGeom>
          <a:noFill/>
          <a:ln/>
        </p:spPr>
        <p:txBody>
          <a:bodyPr wrap="square" lIns="0" tIns="0" rIns="0" bIns="0" rtlCol="0" anchor="t"/>
          <a:lstStyle/>
          <a:p>
            <a:pPr indent="0" marL="0">
              <a:buNone/>
            </a:pPr>
            <a:r>
              <a:rPr lang="en-US" sz="1200" dirty="0">
                <a:solidFill>
                  <a:schemeClr val="tx1"/>
                </a:solidFill>
              </a:rPr>
              <a:t>fiserv.com/en/about-fiserv/newsroom.html</a:t>
            </a:r>
            <a:endParaRPr lang="en-US" sz="1200" dirty="0"/>
          </a:p>
        </p:txBody>
      </p:sp>
      <p:sp>
        <p:nvSpPr>
          <p:cNvPr id="23" name="Text 20"/>
          <p:cNvSpPr txBox="1"/>
          <p:nvPr/>
        </p:nvSpPr>
        <p:spPr>
          <a:xfrm>
            <a:off x="822960" y="5806440"/>
            <a:ext cx="1737360" cy="292608"/>
          </a:xfrm>
          <a:prstGeom prst="rect">
            <a:avLst/>
          </a:prstGeom>
          <a:noFill/>
          <a:ln/>
        </p:spPr>
        <p:txBody>
          <a:bodyPr wrap="square" lIns="0" tIns="0" rIns="0" bIns="0" rtlCol="0" anchor="t"/>
          <a:lstStyle/>
          <a:p>
            <a:pPr indent="0" marL="0">
              <a:buNone/>
            </a:pPr>
            <a:r>
              <a:rPr lang="en-US" sz="1200" b="1" dirty="0">
                <a:solidFill>
                  <a:schemeClr val="tx2"/>
                </a:solidFill>
              </a:rPr>
              <a:t>Signal score</a:t>
            </a:r>
            <a:endParaRPr lang="en-US" sz="1200" dirty="0"/>
          </a:p>
        </p:txBody>
      </p:sp>
      <p:sp>
        <p:nvSpPr>
          <p:cNvPr id="24" name="Text 21"/>
          <p:cNvSpPr txBox="1"/>
          <p:nvPr/>
        </p:nvSpPr>
        <p:spPr>
          <a:xfrm>
            <a:off x="2606040" y="5806440"/>
            <a:ext cx="4389120" cy="292608"/>
          </a:xfrm>
          <a:prstGeom prst="rect">
            <a:avLst/>
          </a:prstGeom>
          <a:noFill/>
          <a:ln/>
        </p:spPr>
        <p:txBody>
          <a:bodyPr wrap="square" lIns="0" tIns="0" rIns="0" bIns="0" rtlCol="0" anchor="t"/>
          <a:lstStyle/>
          <a:p>
            <a:pPr indent="0" marL="0">
              <a:buNone/>
            </a:pPr>
            <a:r>
              <a:rPr lang="en-US" sz="1200" dirty="0">
                <a:solidFill>
                  <a:schemeClr val="tx1"/>
                </a:solidFill>
              </a:rPr>
              <a:t>0.72</a:t>
            </a:r>
            <a:endParaRPr lang="en-US" sz="1200" dirty="0"/>
          </a:p>
        </p:txBody>
      </p:sp>
      <p:sp>
        <p:nvSpPr>
          <p:cNvPr id="25" name="Shape 22"/>
          <p:cNvSpPr/>
          <p:nvPr/>
        </p:nvSpPr>
        <p:spPr>
          <a:xfrm>
            <a:off x="7406640" y="1783080"/>
            <a:ext cx="4233672" cy="1874520"/>
          </a:xfrm>
          <a:prstGeom prst="roundRect">
            <a:avLst>
              <a:gd name="adj" fmla="val 3415"/>
            </a:avLst>
          </a:prstGeom>
          <a:solidFill>
            <a:schemeClr val="tx2"/>
          </a:solidFill>
          <a:ln w="6350">
            <a:solidFill>
              <a:schemeClr val="tx2"/>
            </a:solidFill>
            <a:prstDash val="solid"/>
          </a:ln>
        </p:spPr>
      </p:sp>
      <p:sp>
        <p:nvSpPr>
          <p:cNvPr id="26" name="Text 23"/>
          <p:cNvSpPr txBox="1"/>
          <p:nvPr/>
        </p:nvSpPr>
        <p:spPr>
          <a:xfrm>
            <a:off x="7589520" y="1892808"/>
            <a:ext cx="3931920" cy="320040"/>
          </a:xfrm>
          <a:prstGeom prst="rect">
            <a:avLst/>
          </a:prstGeom>
          <a:noFill/>
          <a:ln/>
        </p:spPr>
        <p:txBody>
          <a:bodyPr wrap="square" lIns="0" tIns="0" rIns="0" bIns="0" rtlCol="0" anchor="t"/>
          <a:lstStyle/>
          <a:p>
            <a:pPr indent="0" marL="0">
              <a:buNone/>
            </a:pPr>
            <a:r>
              <a:rPr lang="en-US" sz="1500" b="1" dirty="0">
                <a:solidFill>
                  <a:schemeClr val="bg1"/>
                </a:solidFill>
              </a:rPr>
              <a:t>Negative findings, handled honestly</a:t>
            </a:r>
            <a:endParaRPr lang="en-US" sz="1500" dirty="0"/>
          </a:p>
        </p:txBody>
      </p:sp>
      <p:sp>
        <p:nvSpPr>
          <p:cNvPr id="27" name="Text 24"/>
          <p:cNvSpPr txBox="1"/>
          <p:nvPr/>
        </p:nvSpPr>
        <p:spPr>
          <a:xfrm>
            <a:off x="7589520" y="2286000"/>
            <a:ext cx="3931920" cy="1280160"/>
          </a:xfrm>
          <a:prstGeom prst="rect">
            <a:avLst/>
          </a:prstGeom>
          <a:noFill/>
          <a:ln/>
        </p:spPr>
        <p:txBody>
          <a:bodyPr wrap="square" lIns="0" tIns="0" rIns="0" bIns="0" rtlCol="0" anchor="t"/>
          <a:lstStyle/>
          <a:p>
            <a:pPr indent="0" marL="0">
              <a:buNone/>
            </a:pPr>
            <a:r>
              <a:rPr lang="en-US" sz="1300" dirty="0">
                <a:solidFill>
                  <a:schemeClr val="bg2"/>
                </a:solidFill>
              </a:rPr>
              <a:t>The Clearing House: no AI signal found, but only 3 page(s) reviewed against the 4 required for a Critical vendor. Result: Inconclusive (coverage gap), not “No”.</a:t>
            </a:r>
            <a:endParaRPr lang="en-US" sz="1300" dirty="0"/>
          </a:p>
        </p:txBody>
      </p:sp>
      <p:sp>
        <p:nvSpPr>
          <p:cNvPr id="28" name="Shape 25"/>
          <p:cNvSpPr/>
          <p:nvPr/>
        </p:nvSpPr>
        <p:spPr>
          <a:xfrm>
            <a:off x="7406640" y="3840480"/>
            <a:ext cx="4233672" cy="2377440"/>
          </a:xfrm>
          <a:prstGeom prst="roundRect">
            <a:avLst>
              <a:gd name="adj" fmla="val 2692"/>
            </a:avLst>
          </a:prstGeom>
          <a:solidFill>
            <a:schemeClr val="bg2"/>
          </a:solidFill>
          <a:ln w="9525">
            <a:solidFill>
              <a:schemeClr val="bg2"/>
            </a:solidFill>
            <a:prstDash val="solid"/>
          </a:ln>
        </p:spPr>
      </p:sp>
      <p:sp>
        <p:nvSpPr>
          <p:cNvPr id="29" name="Text 26"/>
          <p:cNvSpPr txBox="1"/>
          <p:nvPr/>
        </p:nvSpPr>
        <p:spPr>
          <a:xfrm>
            <a:off x="7589520" y="3950208"/>
            <a:ext cx="3931920" cy="320040"/>
          </a:xfrm>
          <a:prstGeom prst="rect">
            <a:avLst/>
          </a:prstGeom>
          <a:noFill/>
          <a:ln/>
        </p:spPr>
        <p:txBody>
          <a:bodyPr wrap="square" lIns="0" tIns="0" rIns="0" bIns="0" rtlCol="0" anchor="t"/>
          <a:lstStyle/>
          <a:p>
            <a:pPr indent="0" marL="0">
              <a:buNone/>
            </a:pPr>
            <a:r>
              <a:rPr lang="en-US" sz="1400" b="1" dirty="0">
                <a:solidFill>
                  <a:schemeClr val="tx2"/>
                </a:solidFill>
              </a:rPr>
              <a:t>Evidence Log sheet in every workbook</a:t>
            </a:r>
            <a:endParaRPr lang="en-US" sz="1400" dirty="0"/>
          </a:p>
        </p:txBody>
      </p:sp>
      <p:sp>
        <p:nvSpPr>
          <p:cNvPr id="30" name="Text 27"/>
          <p:cNvSpPr txBox="1"/>
          <p:nvPr/>
        </p:nvSpPr>
        <p:spPr>
          <a:xfrm>
            <a:off x="7589520" y="4343400"/>
            <a:ext cx="3931920" cy="173736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Vendor, signal type, exact excerpt</a:t>
            </a:r>
            <a:endParaRPr lang="en-US" sz="1300" dirty="0"/>
          </a:p>
          <a:p>
            <a:pPr marL="177800" indent="-177800">
              <a:spcAft>
                <a:spcPts val="400"/>
              </a:spcAft>
              <a:buSzPct val="100000"/>
              <a:buChar char="•"/>
            </a:pPr>
            <a:r>
              <a:rPr lang="en-US" sz="1300" dirty="0">
                <a:solidFill>
                  <a:schemeClr val="tx1"/>
                </a:solidFill>
              </a:rPr>
              <a:t>Source class, weight, trust, score</a:t>
            </a:r>
            <a:endParaRPr lang="en-US" sz="1300" dirty="0"/>
          </a:p>
          <a:p>
            <a:pPr marL="177800" indent="-177800">
              <a:spcAft>
                <a:spcPts val="400"/>
              </a:spcAft>
              <a:buSzPct val="100000"/>
              <a:buChar char="•"/>
            </a:pPr>
            <a:r>
              <a:rPr lang="en-US" sz="1300" dirty="0">
                <a:solidFill>
                  <a:schemeClr val="tx1"/>
                </a:solidFill>
              </a:rPr>
              <a:t>URL, retrieval date, content hash</a:t>
            </a:r>
            <a:endParaRPr lang="en-US" sz="1300" dirty="0"/>
          </a:p>
          <a:p>
            <a:pPr marL="177800" indent="-177800">
              <a:spcAft>
                <a:spcPts val="400"/>
              </a:spcAft>
              <a:buSzPct val="100000"/>
              <a:buChar char="•"/>
            </a:pPr>
            <a:r>
              <a:rPr lang="en-US" sz="1300" dirty="0">
                <a:solidFill>
                  <a:schemeClr val="tx1"/>
                </a:solidFill>
              </a:rPr>
              <a:t>Provenance and providers named</a:t>
            </a:r>
            <a:endParaRPr lang="en-US" sz="1300" dirty="0"/>
          </a:p>
          <a:p>
            <a:pPr marL="177800" indent="-177800">
              <a:spcAft>
                <a:spcPts val="400"/>
              </a:spcAft>
              <a:buSzPct val="100000"/>
              <a:buChar char="•"/>
            </a:pPr>
            <a:r>
              <a:rPr lang="en-US" sz="1300" dirty="0">
                <a:solidFill>
                  <a:schemeClr val="tx1"/>
                </a:solidFill>
              </a:rPr>
              <a:t>Every page reviewed, including fetch failures</a:t>
            </a:r>
            <a:endParaRPr lang="en-US" sz="13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Live demonstration</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 local web application that runs fully offline; live mode adds a sweep of the vendors' public pages.</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DEMO</a:t>
            </a:r>
            <a:endParaRPr lang="en-US" sz="1050" dirty="0"/>
          </a:p>
        </p:txBody>
      </p:sp>
      <p:sp>
        <p:nvSpPr>
          <p:cNvPr id="7" name="Shape 4"/>
          <p:cNvSpPr/>
          <p:nvPr/>
        </p:nvSpPr>
        <p:spPr>
          <a:xfrm>
            <a:off x="548640" y="1783080"/>
            <a:ext cx="2084832" cy="2423160"/>
          </a:xfrm>
          <a:prstGeom prst="roundRect">
            <a:avLst>
              <a:gd name="adj" fmla="val 3070"/>
            </a:avLst>
          </a:prstGeom>
          <a:solidFill>
            <a:schemeClr val="bg2"/>
          </a:solidFill>
          <a:ln w="6350">
            <a:solidFill>
              <a:schemeClr val="bg2"/>
            </a:solidFill>
            <a:prstDash val="solid"/>
          </a:ln>
        </p:spPr>
      </p:sp>
      <p:sp>
        <p:nvSpPr>
          <p:cNvPr id="8" name="Shape 5"/>
          <p:cNvSpPr/>
          <p:nvPr/>
        </p:nvSpPr>
        <p:spPr>
          <a:xfrm>
            <a:off x="713232" y="1920240"/>
            <a:ext cx="457200" cy="457200"/>
          </a:xfrm>
          <a:prstGeom prst="ellipse">
            <a:avLst/>
          </a:prstGeom>
          <a:solidFill>
            <a:schemeClr val="accent2"/>
          </a:solidFill>
          <a:ln w="6350">
            <a:solidFill>
              <a:schemeClr val="accent2"/>
            </a:solidFill>
            <a:prstDash val="solid"/>
          </a:ln>
        </p:spPr>
      </p:sp>
      <p:sp>
        <p:nvSpPr>
          <p:cNvPr id="9" name="Text 6"/>
          <p:cNvSpPr txBox="1"/>
          <p:nvPr/>
        </p:nvSpPr>
        <p:spPr>
          <a:xfrm>
            <a:off x="713232" y="19202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Text 7"/>
          <p:cNvSpPr txBox="1"/>
          <p:nvPr/>
        </p:nvSpPr>
        <p:spPr>
          <a:xfrm>
            <a:off x="713232" y="2514600"/>
            <a:ext cx="1783080" cy="365760"/>
          </a:xfrm>
          <a:prstGeom prst="rect">
            <a:avLst/>
          </a:prstGeom>
          <a:noFill/>
          <a:ln/>
        </p:spPr>
        <p:txBody>
          <a:bodyPr wrap="square" lIns="0" tIns="0" rIns="0" bIns="0" rtlCol="0" anchor="t"/>
          <a:lstStyle/>
          <a:p>
            <a:pPr indent="0" marL="0">
              <a:buNone/>
            </a:pPr>
            <a:r>
              <a:rPr lang="en-US" sz="1700" b="1" dirty="0">
                <a:solidFill>
                  <a:schemeClr val="tx2"/>
                </a:solidFill>
              </a:rPr>
              <a:t>Upload</a:t>
            </a:r>
            <a:endParaRPr lang="en-US" sz="1700" dirty="0"/>
          </a:p>
        </p:txBody>
      </p:sp>
      <p:sp>
        <p:nvSpPr>
          <p:cNvPr id="11" name="Text 8"/>
          <p:cNvSpPr txBox="1"/>
          <p:nvPr/>
        </p:nvSpPr>
        <p:spPr>
          <a:xfrm>
            <a:off x="713232" y="2926080"/>
            <a:ext cx="1783080" cy="1234440"/>
          </a:xfrm>
          <a:prstGeom prst="rect">
            <a:avLst/>
          </a:prstGeom>
          <a:noFill/>
          <a:ln/>
        </p:spPr>
        <p:txBody>
          <a:bodyPr wrap="square" lIns="0" tIns="0" rIns="0" bIns="0" rtlCol="0" anchor="t"/>
          <a:lstStyle/>
          <a:p>
            <a:pPr indent="0" marL="0">
              <a:buNone/>
            </a:pPr>
            <a:r>
              <a:rPr lang="en-US" sz="1250" dirty="0">
                <a:solidFill>
                  <a:schemeClr val="tx1"/>
                </a:solidFill>
              </a:rPr>
              <a:t>Choose the Meridian vendor workbook (.xlsx) or use the bundled template.</a:t>
            </a:r>
            <a:endParaRPr lang="en-US" sz="1250" dirty="0"/>
          </a:p>
        </p:txBody>
      </p:sp>
      <p:sp>
        <p:nvSpPr>
          <p:cNvPr id="12" name="Shape 9"/>
          <p:cNvSpPr/>
          <p:nvPr/>
        </p:nvSpPr>
        <p:spPr>
          <a:xfrm>
            <a:off x="2651760" y="2971800"/>
            <a:ext cx="137160" cy="0"/>
          </a:xfrm>
          <a:prstGeom prst="line">
            <a:avLst/>
          </a:prstGeom>
          <a:noFill/>
          <a:ln w="22225">
            <a:solidFill>
              <a:schemeClr val="accent6"/>
            </a:solidFill>
            <a:prstDash val="solid"/>
            <a:tailEnd type="triangle"/>
          </a:ln>
        </p:spPr>
      </p:sp>
      <p:sp>
        <p:nvSpPr>
          <p:cNvPr id="13" name="Shape 10"/>
          <p:cNvSpPr/>
          <p:nvPr/>
        </p:nvSpPr>
        <p:spPr>
          <a:xfrm>
            <a:off x="2788920" y="1783080"/>
            <a:ext cx="2084832" cy="2423160"/>
          </a:xfrm>
          <a:prstGeom prst="roundRect">
            <a:avLst>
              <a:gd name="adj" fmla="val 3070"/>
            </a:avLst>
          </a:prstGeom>
          <a:solidFill>
            <a:schemeClr val="bg2"/>
          </a:solidFill>
          <a:ln w="6350">
            <a:solidFill>
              <a:schemeClr val="bg2"/>
            </a:solidFill>
            <a:prstDash val="solid"/>
          </a:ln>
        </p:spPr>
      </p:sp>
      <p:sp>
        <p:nvSpPr>
          <p:cNvPr id="14" name="Shape 11"/>
          <p:cNvSpPr/>
          <p:nvPr/>
        </p:nvSpPr>
        <p:spPr>
          <a:xfrm>
            <a:off x="2953512" y="1920240"/>
            <a:ext cx="457200" cy="457200"/>
          </a:xfrm>
          <a:prstGeom prst="ellipse">
            <a:avLst/>
          </a:prstGeom>
          <a:solidFill>
            <a:schemeClr val="accent2"/>
          </a:solidFill>
          <a:ln w="6350">
            <a:solidFill>
              <a:schemeClr val="accent2"/>
            </a:solidFill>
            <a:prstDash val="solid"/>
          </a:ln>
        </p:spPr>
      </p:sp>
      <p:sp>
        <p:nvSpPr>
          <p:cNvPr id="15" name="Text 12"/>
          <p:cNvSpPr txBox="1"/>
          <p:nvPr/>
        </p:nvSpPr>
        <p:spPr>
          <a:xfrm>
            <a:off x="2953512" y="19202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 13"/>
          <p:cNvSpPr txBox="1"/>
          <p:nvPr/>
        </p:nvSpPr>
        <p:spPr>
          <a:xfrm>
            <a:off x="2953512" y="2514600"/>
            <a:ext cx="1783080" cy="365760"/>
          </a:xfrm>
          <a:prstGeom prst="rect">
            <a:avLst/>
          </a:prstGeom>
          <a:noFill/>
          <a:ln/>
        </p:spPr>
        <p:txBody>
          <a:bodyPr wrap="square" lIns="0" tIns="0" rIns="0" bIns="0" rtlCol="0" anchor="t"/>
          <a:lstStyle/>
          <a:p>
            <a:pPr indent="0" marL="0">
              <a:buNone/>
            </a:pPr>
            <a:r>
              <a:rPr lang="en-US" sz="1700" b="1" dirty="0">
                <a:solidFill>
                  <a:schemeClr val="tx2"/>
                </a:solidFill>
              </a:rPr>
              <a:t>Choose mode</a:t>
            </a:r>
            <a:endParaRPr lang="en-US" sz="1700" dirty="0"/>
          </a:p>
        </p:txBody>
      </p:sp>
      <p:sp>
        <p:nvSpPr>
          <p:cNvPr id="17" name="Text 14"/>
          <p:cNvSpPr txBox="1"/>
          <p:nvPr/>
        </p:nvSpPr>
        <p:spPr>
          <a:xfrm>
            <a:off x="2953512" y="2926080"/>
            <a:ext cx="1783080" cy="1234440"/>
          </a:xfrm>
          <a:prstGeom prst="rect">
            <a:avLst/>
          </a:prstGeom>
          <a:noFill/>
          <a:ln/>
        </p:spPr>
        <p:txBody>
          <a:bodyPr wrap="square" lIns="0" tIns="0" rIns="0" bIns="0" rtlCol="0" anchor="t"/>
          <a:lstStyle/>
          <a:p>
            <a:pPr indent="0" marL="0">
              <a:buNone/>
            </a:pPr>
            <a:r>
              <a:rPr lang="en-US" sz="1250" dirty="0">
                <a:solidFill>
                  <a:schemeClr val="tx1"/>
                </a:solidFill>
              </a:rPr>
              <a:t>Offline snapshot, instant. Live sweep fetches public pages (1–3 minutes).</a:t>
            </a:r>
            <a:endParaRPr lang="en-US" sz="1250" dirty="0"/>
          </a:p>
        </p:txBody>
      </p:sp>
      <p:sp>
        <p:nvSpPr>
          <p:cNvPr id="18" name="Shape 15"/>
          <p:cNvSpPr/>
          <p:nvPr/>
        </p:nvSpPr>
        <p:spPr>
          <a:xfrm>
            <a:off x="4892040" y="2971800"/>
            <a:ext cx="137160" cy="0"/>
          </a:xfrm>
          <a:prstGeom prst="line">
            <a:avLst/>
          </a:prstGeom>
          <a:noFill/>
          <a:ln w="22225">
            <a:solidFill>
              <a:schemeClr val="accent6"/>
            </a:solidFill>
            <a:prstDash val="solid"/>
            <a:tailEnd type="triangle"/>
          </a:ln>
        </p:spPr>
      </p:sp>
      <p:sp>
        <p:nvSpPr>
          <p:cNvPr id="19" name="Shape 16"/>
          <p:cNvSpPr/>
          <p:nvPr/>
        </p:nvSpPr>
        <p:spPr>
          <a:xfrm>
            <a:off x="5029200" y="1783080"/>
            <a:ext cx="2084832" cy="2423160"/>
          </a:xfrm>
          <a:prstGeom prst="roundRect">
            <a:avLst>
              <a:gd name="adj" fmla="val 3070"/>
            </a:avLst>
          </a:prstGeom>
          <a:solidFill>
            <a:schemeClr val="bg2"/>
          </a:solidFill>
          <a:ln w="6350">
            <a:solidFill>
              <a:schemeClr val="bg2"/>
            </a:solidFill>
            <a:prstDash val="solid"/>
          </a:ln>
        </p:spPr>
      </p:sp>
      <p:sp>
        <p:nvSpPr>
          <p:cNvPr id="20" name="Shape 17"/>
          <p:cNvSpPr/>
          <p:nvPr/>
        </p:nvSpPr>
        <p:spPr>
          <a:xfrm>
            <a:off x="5193792" y="1920240"/>
            <a:ext cx="457200" cy="457200"/>
          </a:xfrm>
          <a:prstGeom prst="ellipse">
            <a:avLst/>
          </a:prstGeom>
          <a:solidFill>
            <a:schemeClr val="accent2"/>
          </a:solidFill>
          <a:ln w="6350">
            <a:solidFill>
              <a:schemeClr val="accent2"/>
            </a:solidFill>
            <a:prstDash val="solid"/>
          </a:ln>
        </p:spPr>
      </p:sp>
      <p:sp>
        <p:nvSpPr>
          <p:cNvPr id="21" name="Text 18"/>
          <p:cNvSpPr txBox="1"/>
          <p:nvPr/>
        </p:nvSpPr>
        <p:spPr>
          <a:xfrm>
            <a:off x="5193792" y="19202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19"/>
          <p:cNvSpPr txBox="1"/>
          <p:nvPr/>
        </p:nvSpPr>
        <p:spPr>
          <a:xfrm>
            <a:off x="5193792" y="2514600"/>
            <a:ext cx="1783080" cy="365760"/>
          </a:xfrm>
          <a:prstGeom prst="rect">
            <a:avLst/>
          </a:prstGeom>
          <a:noFill/>
          <a:ln/>
        </p:spPr>
        <p:txBody>
          <a:bodyPr wrap="square" lIns="0" tIns="0" rIns="0" bIns="0" rtlCol="0" anchor="t"/>
          <a:lstStyle/>
          <a:p>
            <a:pPr indent="0" marL="0">
              <a:buNone/>
            </a:pPr>
            <a:r>
              <a:rPr lang="en-US" sz="1700" b="1" dirty="0">
                <a:solidFill>
                  <a:schemeClr val="tx2"/>
                </a:solidFill>
              </a:rPr>
              <a:t>Run</a:t>
            </a:r>
            <a:endParaRPr lang="en-US" sz="1700" dirty="0"/>
          </a:p>
        </p:txBody>
      </p:sp>
      <p:sp>
        <p:nvSpPr>
          <p:cNvPr id="23" name="Text 20"/>
          <p:cNvSpPr txBox="1"/>
          <p:nvPr/>
        </p:nvSpPr>
        <p:spPr>
          <a:xfrm>
            <a:off x="5193792" y="2926080"/>
            <a:ext cx="1783080" cy="1234440"/>
          </a:xfrm>
          <a:prstGeom prst="rect">
            <a:avLst/>
          </a:prstGeom>
          <a:noFill/>
          <a:ln/>
        </p:spPr>
        <p:txBody>
          <a:bodyPr wrap="square" lIns="0" tIns="0" rIns="0" bIns="0" rtlCol="0" anchor="t"/>
          <a:lstStyle/>
          <a:p>
            <a:pPr indent="0" marL="0">
              <a:buNone/>
            </a:pPr>
            <a:r>
              <a:rPr lang="en-US" sz="1250" dirty="0">
                <a:solidFill>
                  <a:schemeClr val="tx1"/>
                </a:solidFill>
              </a:rPr>
              <a:t>Progress log per vendor. The benchmark V-000 is re-checked every run.</a:t>
            </a:r>
            <a:endParaRPr lang="en-US" sz="1250" dirty="0"/>
          </a:p>
        </p:txBody>
      </p:sp>
      <p:sp>
        <p:nvSpPr>
          <p:cNvPr id="24" name="Shape 21"/>
          <p:cNvSpPr/>
          <p:nvPr/>
        </p:nvSpPr>
        <p:spPr>
          <a:xfrm>
            <a:off x="7132320" y="2971800"/>
            <a:ext cx="137160" cy="0"/>
          </a:xfrm>
          <a:prstGeom prst="line">
            <a:avLst/>
          </a:prstGeom>
          <a:noFill/>
          <a:ln w="22225">
            <a:solidFill>
              <a:schemeClr val="accent6"/>
            </a:solidFill>
            <a:prstDash val="solid"/>
            <a:tailEnd type="triangle"/>
          </a:ln>
        </p:spPr>
      </p:sp>
      <p:sp>
        <p:nvSpPr>
          <p:cNvPr id="25" name="Shape 22"/>
          <p:cNvSpPr/>
          <p:nvPr/>
        </p:nvSpPr>
        <p:spPr>
          <a:xfrm>
            <a:off x="7269480" y="1783080"/>
            <a:ext cx="2084832" cy="2423160"/>
          </a:xfrm>
          <a:prstGeom prst="roundRect">
            <a:avLst>
              <a:gd name="adj" fmla="val 3070"/>
            </a:avLst>
          </a:prstGeom>
          <a:solidFill>
            <a:schemeClr val="bg2"/>
          </a:solidFill>
          <a:ln w="6350">
            <a:solidFill>
              <a:schemeClr val="bg2"/>
            </a:solidFill>
            <a:prstDash val="solid"/>
          </a:ln>
        </p:spPr>
      </p:sp>
      <p:sp>
        <p:nvSpPr>
          <p:cNvPr id="26" name="Shape 23"/>
          <p:cNvSpPr/>
          <p:nvPr/>
        </p:nvSpPr>
        <p:spPr>
          <a:xfrm>
            <a:off x="7434072" y="1920240"/>
            <a:ext cx="457200" cy="457200"/>
          </a:xfrm>
          <a:prstGeom prst="ellipse">
            <a:avLst/>
          </a:prstGeom>
          <a:solidFill>
            <a:schemeClr val="accent2"/>
          </a:solidFill>
          <a:ln w="6350">
            <a:solidFill>
              <a:schemeClr val="accent2"/>
            </a:solidFill>
            <a:prstDash val="solid"/>
          </a:ln>
        </p:spPr>
      </p:sp>
      <p:sp>
        <p:nvSpPr>
          <p:cNvPr id="27" name="Text 24"/>
          <p:cNvSpPr txBox="1"/>
          <p:nvPr/>
        </p:nvSpPr>
        <p:spPr>
          <a:xfrm>
            <a:off x="7434072" y="19202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8" name="Text 25"/>
          <p:cNvSpPr txBox="1"/>
          <p:nvPr/>
        </p:nvSpPr>
        <p:spPr>
          <a:xfrm>
            <a:off x="7434072" y="2514600"/>
            <a:ext cx="1783080" cy="365760"/>
          </a:xfrm>
          <a:prstGeom prst="rect">
            <a:avLst/>
          </a:prstGeom>
          <a:noFill/>
          <a:ln/>
        </p:spPr>
        <p:txBody>
          <a:bodyPr wrap="square" lIns="0" tIns="0" rIns="0" bIns="0" rtlCol="0" anchor="t"/>
          <a:lstStyle/>
          <a:p>
            <a:pPr indent="0" marL="0">
              <a:buNone/>
            </a:pPr>
            <a:r>
              <a:rPr lang="en-US" sz="1700" b="1" dirty="0">
                <a:solidFill>
                  <a:schemeClr val="tx2"/>
                </a:solidFill>
              </a:rPr>
              <a:t>Review</a:t>
            </a:r>
            <a:endParaRPr lang="en-US" sz="1700" dirty="0"/>
          </a:p>
        </p:txBody>
      </p:sp>
      <p:sp>
        <p:nvSpPr>
          <p:cNvPr id="29" name="Text 26"/>
          <p:cNvSpPr txBox="1"/>
          <p:nvPr/>
        </p:nvSpPr>
        <p:spPr>
          <a:xfrm>
            <a:off x="7434072" y="2926080"/>
            <a:ext cx="1783080" cy="1234440"/>
          </a:xfrm>
          <a:prstGeom prst="rect">
            <a:avLst/>
          </a:prstGeom>
          <a:noFill/>
          <a:ln/>
        </p:spPr>
        <p:txBody>
          <a:bodyPr wrap="square" lIns="0" tIns="0" rIns="0" bIns="0" rtlCol="0" anchor="t"/>
          <a:lstStyle/>
          <a:p>
            <a:pPr indent="0" marL="0">
              <a:buNone/>
            </a:pPr>
            <a:r>
              <a:rPr lang="en-US" sz="1250" dirty="0">
                <a:solidFill>
                  <a:schemeClr val="tx1"/>
                </a:solidFill>
              </a:rPr>
              <a:t>Tier, AI usage, evidence tag, providers, risk, flags. Click a vendor for every signal and source.</a:t>
            </a:r>
            <a:endParaRPr lang="en-US" sz="1250" dirty="0"/>
          </a:p>
        </p:txBody>
      </p:sp>
      <p:sp>
        <p:nvSpPr>
          <p:cNvPr id="30" name="Shape 27"/>
          <p:cNvSpPr/>
          <p:nvPr/>
        </p:nvSpPr>
        <p:spPr>
          <a:xfrm>
            <a:off x="9372600" y="2971800"/>
            <a:ext cx="137160" cy="0"/>
          </a:xfrm>
          <a:prstGeom prst="line">
            <a:avLst/>
          </a:prstGeom>
          <a:noFill/>
          <a:ln w="22225">
            <a:solidFill>
              <a:schemeClr val="accent6"/>
            </a:solidFill>
            <a:prstDash val="solid"/>
            <a:tailEnd type="triangle"/>
          </a:ln>
        </p:spPr>
      </p:sp>
      <p:sp>
        <p:nvSpPr>
          <p:cNvPr id="31" name="Shape 28"/>
          <p:cNvSpPr/>
          <p:nvPr/>
        </p:nvSpPr>
        <p:spPr>
          <a:xfrm>
            <a:off x="9509760" y="1783080"/>
            <a:ext cx="2084832" cy="2423160"/>
          </a:xfrm>
          <a:prstGeom prst="roundRect">
            <a:avLst>
              <a:gd name="adj" fmla="val 3070"/>
            </a:avLst>
          </a:prstGeom>
          <a:solidFill>
            <a:schemeClr val="bg2"/>
          </a:solidFill>
          <a:ln w="6350">
            <a:solidFill>
              <a:schemeClr val="bg2"/>
            </a:solidFill>
            <a:prstDash val="solid"/>
          </a:ln>
        </p:spPr>
      </p:sp>
      <p:sp>
        <p:nvSpPr>
          <p:cNvPr id="32" name="Shape 29"/>
          <p:cNvSpPr/>
          <p:nvPr/>
        </p:nvSpPr>
        <p:spPr>
          <a:xfrm>
            <a:off x="9674352" y="1920240"/>
            <a:ext cx="457200" cy="457200"/>
          </a:xfrm>
          <a:prstGeom prst="ellipse">
            <a:avLst/>
          </a:prstGeom>
          <a:solidFill>
            <a:schemeClr val="accent2"/>
          </a:solidFill>
          <a:ln w="6350">
            <a:solidFill>
              <a:schemeClr val="accent2"/>
            </a:solidFill>
            <a:prstDash val="solid"/>
          </a:ln>
        </p:spPr>
      </p:sp>
      <p:sp>
        <p:nvSpPr>
          <p:cNvPr id="33" name="Text 30"/>
          <p:cNvSpPr txBox="1"/>
          <p:nvPr/>
        </p:nvSpPr>
        <p:spPr>
          <a:xfrm>
            <a:off x="9674352" y="192024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4" name="Text 31"/>
          <p:cNvSpPr txBox="1"/>
          <p:nvPr/>
        </p:nvSpPr>
        <p:spPr>
          <a:xfrm>
            <a:off x="9674352" y="2514600"/>
            <a:ext cx="1783080" cy="365760"/>
          </a:xfrm>
          <a:prstGeom prst="rect">
            <a:avLst/>
          </a:prstGeom>
          <a:noFill/>
          <a:ln/>
        </p:spPr>
        <p:txBody>
          <a:bodyPr wrap="square" lIns="0" tIns="0" rIns="0" bIns="0" rtlCol="0" anchor="t"/>
          <a:lstStyle/>
          <a:p>
            <a:pPr indent="0" marL="0">
              <a:buNone/>
            </a:pPr>
            <a:r>
              <a:rPr lang="en-US" sz="1700" b="1" dirty="0">
                <a:solidFill>
                  <a:schemeClr val="tx2"/>
                </a:solidFill>
              </a:rPr>
              <a:t>Download</a:t>
            </a:r>
            <a:endParaRPr lang="en-US" sz="1700" dirty="0"/>
          </a:p>
        </p:txBody>
      </p:sp>
      <p:sp>
        <p:nvSpPr>
          <p:cNvPr id="35" name="Text 32"/>
          <p:cNvSpPr txBox="1"/>
          <p:nvPr/>
        </p:nvSpPr>
        <p:spPr>
          <a:xfrm>
            <a:off x="9674352" y="2926080"/>
            <a:ext cx="1783080" cy="1234440"/>
          </a:xfrm>
          <a:prstGeom prst="rect">
            <a:avLst/>
          </a:prstGeom>
          <a:noFill/>
          <a:ln/>
        </p:spPr>
        <p:txBody>
          <a:bodyPr wrap="square" lIns="0" tIns="0" rIns="0" bIns="0" rtlCol="0" anchor="t"/>
          <a:lstStyle/>
          <a:p>
            <a:pPr indent="0" marL="0">
              <a:buNone/>
            </a:pPr>
            <a:r>
              <a:rPr lang="en-US" sz="1250" dirty="0">
                <a:solidFill>
                  <a:schemeClr val="tx1"/>
                </a:solidFill>
              </a:rPr>
              <a:t>Completed workbook: columns L–V, Evidence Log, criticality scores, rubric.</a:t>
            </a:r>
            <a:endParaRPr lang="en-US" sz="1250" dirty="0"/>
          </a:p>
        </p:txBody>
      </p:sp>
      <p:sp>
        <p:nvSpPr>
          <p:cNvPr id="36" name="Text 33"/>
          <p:cNvSpPr txBox="1"/>
          <p:nvPr/>
        </p:nvSpPr>
        <p:spPr>
          <a:xfrm>
            <a:off x="548640" y="4480560"/>
            <a:ext cx="7315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ALSO ON THE SITE, RENDERED FROM THE SAME RUN</a:t>
            </a:r>
            <a:endParaRPr lang="en-US" sz="1200" dirty="0"/>
          </a:p>
        </p:txBody>
      </p:sp>
      <p:sp>
        <p:nvSpPr>
          <p:cNvPr id="37" name="Shape 34"/>
          <p:cNvSpPr/>
          <p:nvPr/>
        </p:nvSpPr>
        <p:spPr>
          <a:xfrm>
            <a:off x="548640" y="4846320"/>
            <a:ext cx="2084832" cy="1143000"/>
          </a:xfrm>
          <a:prstGeom prst="roundRect">
            <a:avLst>
              <a:gd name="adj" fmla="val 5600"/>
            </a:avLst>
          </a:prstGeom>
          <a:solidFill>
            <a:schemeClr val="bg1"/>
          </a:solidFill>
          <a:ln w="15875">
            <a:solidFill>
              <a:schemeClr val="accent1"/>
            </a:solidFill>
            <a:prstDash val="solid"/>
          </a:ln>
        </p:spPr>
      </p:sp>
      <p:sp>
        <p:nvSpPr>
          <p:cNvPr id="38" name="Text 35"/>
          <p:cNvSpPr txBox="1"/>
          <p:nvPr/>
        </p:nvSpPr>
        <p:spPr>
          <a:xfrm>
            <a:off x="685800" y="49377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Command Center</a:t>
            </a:r>
            <a:endParaRPr lang="en-US" sz="1400" dirty="0"/>
          </a:p>
        </p:txBody>
      </p:sp>
      <p:sp>
        <p:nvSpPr>
          <p:cNvPr id="39" name="Text 36"/>
          <p:cNvSpPr txBox="1"/>
          <p:nvPr/>
        </p:nvSpPr>
        <p:spPr>
          <a:xfrm>
            <a:off x="685800" y="5321808"/>
            <a:ext cx="1828800" cy="594360"/>
          </a:xfrm>
          <a:prstGeom prst="rect">
            <a:avLst/>
          </a:prstGeom>
          <a:noFill/>
          <a:ln/>
        </p:spPr>
        <p:txBody>
          <a:bodyPr wrap="square" lIns="0" tIns="0" rIns="0" bIns="0" rtlCol="0" anchor="t"/>
          <a:lstStyle/>
          <a:p>
            <a:pPr indent="0" marL="0">
              <a:buNone/>
            </a:pPr>
            <a:r>
              <a:rPr lang="en-US" sz="1200" dirty="0">
                <a:solidFill>
                  <a:schemeClr val="tx1"/>
                </a:solidFill>
              </a:rPr>
              <a:t>KPIs, escalation, concentration</a:t>
            </a:r>
            <a:endParaRPr lang="en-US" sz="1200" dirty="0"/>
          </a:p>
        </p:txBody>
      </p:sp>
      <p:sp>
        <p:nvSpPr>
          <p:cNvPr id="40" name="Shape 37"/>
          <p:cNvSpPr/>
          <p:nvPr/>
        </p:nvSpPr>
        <p:spPr>
          <a:xfrm>
            <a:off x="2788920" y="4846320"/>
            <a:ext cx="2084832" cy="1143000"/>
          </a:xfrm>
          <a:prstGeom prst="roundRect">
            <a:avLst>
              <a:gd name="adj" fmla="val 5600"/>
            </a:avLst>
          </a:prstGeom>
          <a:solidFill>
            <a:schemeClr val="bg1"/>
          </a:solidFill>
          <a:ln w="15875">
            <a:solidFill>
              <a:schemeClr val="accent1"/>
            </a:solidFill>
            <a:prstDash val="solid"/>
          </a:ln>
        </p:spPr>
      </p:sp>
      <p:sp>
        <p:nvSpPr>
          <p:cNvPr id="41" name="Text 38"/>
          <p:cNvSpPr txBox="1"/>
          <p:nvPr/>
        </p:nvSpPr>
        <p:spPr>
          <a:xfrm>
            <a:off x="2926080" y="49377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Risk Matrix</a:t>
            </a:r>
            <a:endParaRPr lang="en-US" sz="1400" dirty="0"/>
          </a:p>
        </p:txBody>
      </p:sp>
      <p:sp>
        <p:nvSpPr>
          <p:cNvPr id="42" name="Text 39"/>
          <p:cNvSpPr txBox="1"/>
          <p:nvPr/>
        </p:nvSpPr>
        <p:spPr>
          <a:xfrm>
            <a:off x="2926080" y="5321808"/>
            <a:ext cx="1828800" cy="594360"/>
          </a:xfrm>
          <a:prstGeom prst="rect">
            <a:avLst/>
          </a:prstGeom>
          <a:noFill/>
          <a:ln/>
        </p:spPr>
        <p:txBody>
          <a:bodyPr wrap="square" lIns="0" tIns="0" rIns="0" bIns="0" rtlCol="0" anchor="t"/>
          <a:lstStyle/>
          <a:p>
            <a:pPr indent="0" marL="0">
              <a:buNone/>
            </a:pPr>
            <a:r>
              <a:rPr lang="en-US" sz="1200" dirty="0">
                <a:solidFill>
                  <a:schemeClr val="tx1"/>
                </a:solidFill>
              </a:rPr>
              <a:t>tier × AI risk heatmap</a:t>
            </a:r>
            <a:endParaRPr lang="en-US" sz="1200" dirty="0"/>
          </a:p>
        </p:txBody>
      </p:sp>
      <p:sp>
        <p:nvSpPr>
          <p:cNvPr id="43" name="Shape 40"/>
          <p:cNvSpPr/>
          <p:nvPr/>
        </p:nvSpPr>
        <p:spPr>
          <a:xfrm>
            <a:off x="5029200" y="4846320"/>
            <a:ext cx="2084832" cy="1143000"/>
          </a:xfrm>
          <a:prstGeom prst="roundRect">
            <a:avLst>
              <a:gd name="adj" fmla="val 5600"/>
            </a:avLst>
          </a:prstGeom>
          <a:solidFill>
            <a:schemeClr val="bg1"/>
          </a:solidFill>
          <a:ln w="15875">
            <a:solidFill>
              <a:schemeClr val="accent1"/>
            </a:solidFill>
            <a:prstDash val="solid"/>
          </a:ln>
        </p:spPr>
      </p:sp>
      <p:sp>
        <p:nvSpPr>
          <p:cNvPr id="44" name="Text 41"/>
          <p:cNvSpPr txBox="1"/>
          <p:nvPr/>
        </p:nvSpPr>
        <p:spPr>
          <a:xfrm>
            <a:off x="5166360" y="49377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Vendor Inventory</a:t>
            </a:r>
            <a:endParaRPr lang="en-US" sz="1400" dirty="0"/>
          </a:p>
        </p:txBody>
      </p:sp>
      <p:sp>
        <p:nvSpPr>
          <p:cNvPr id="45" name="Text 42"/>
          <p:cNvSpPr txBox="1"/>
          <p:nvPr/>
        </p:nvSpPr>
        <p:spPr>
          <a:xfrm>
            <a:off x="5166360" y="5321808"/>
            <a:ext cx="1828800" cy="594360"/>
          </a:xfrm>
          <a:prstGeom prst="rect">
            <a:avLst/>
          </a:prstGeom>
          <a:noFill/>
          <a:ln/>
        </p:spPr>
        <p:txBody>
          <a:bodyPr wrap="square" lIns="0" tIns="0" rIns="0" bIns="0" rtlCol="0" anchor="t"/>
          <a:lstStyle/>
          <a:p>
            <a:pPr indent="0" marL="0">
              <a:buNone/>
            </a:pPr>
            <a:r>
              <a:rPr lang="en-US" sz="1200" dirty="0">
                <a:solidFill>
                  <a:schemeClr val="tx1"/>
                </a:solidFill>
              </a:rPr>
              <a:t>cards, filters, dossiers</a:t>
            </a:r>
            <a:endParaRPr lang="en-US" sz="1200" dirty="0"/>
          </a:p>
        </p:txBody>
      </p:sp>
      <p:sp>
        <p:nvSpPr>
          <p:cNvPr id="46" name="Shape 43"/>
          <p:cNvSpPr/>
          <p:nvPr/>
        </p:nvSpPr>
        <p:spPr>
          <a:xfrm>
            <a:off x="7269480" y="4846320"/>
            <a:ext cx="2084832" cy="1143000"/>
          </a:xfrm>
          <a:prstGeom prst="roundRect">
            <a:avLst>
              <a:gd name="adj" fmla="val 5600"/>
            </a:avLst>
          </a:prstGeom>
          <a:solidFill>
            <a:schemeClr val="bg1"/>
          </a:solidFill>
          <a:ln w="15875">
            <a:solidFill>
              <a:schemeClr val="accent1"/>
            </a:solidFill>
            <a:prstDash val="solid"/>
          </a:ln>
        </p:spPr>
      </p:sp>
      <p:sp>
        <p:nvSpPr>
          <p:cNvPr id="47" name="Text 44"/>
          <p:cNvSpPr txBox="1"/>
          <p:nvPr/>
        </p:nvSpPr>
        <p:spPr>
          <a:xfrm>
            <a:off x="7406640" y="49377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4th-Party Chain</a:t>
            </a:r>
            <a:endParaRPr lang="en-US" sz="1400" dirty="0"/>
          </a:p>
        </p:txBody>
      </p:sp>
      <p:sp>
        <p:nvSpPr>
          <p:cNvPr id="48" name="Text 45"/>
          <p:cNvSpPr txBox="1"/>
          <p:nvPr/>
        </p:nvSpPr>
        <p:spPr>
          <a:xfrm>
            <a:off x="7406640" y="5321808"/>
            <a:ext cx="1828800" cy="594360"/>
          </a:xfrm>
          <a:prstGeom prst="rect">
            <a:avLst/>
          </a:prstGeom>
          <a:noFill/>
          <a:ln/>
        </p:spPr>
        <p:txBody>
          <a:bodyPr wrap="square" lIns="0" tIns="0" rIns="0" bIns="0" rtlCol="0" anchor="t"/>
          <a:lstStyle/>
          <a:p>
            <a:pPr indent="0" marL="0">
              <a:buNone/>
            </a:pPr>
            <a:r>
              <a:rPr lang="en-US" sz="1200" dirty="0">
                <a:solidFill>
                  <a:schemeClr val="tx1"/>
                </a:solidFill>
              </a:rPr>
              <a:t>vendor to model-provider map</a:t>
            </a:r>
            <a:endParaRPr lang="en-US" sz="1200" dirty="0"/>
          </a:p>
        </p:txBody>
      </p:sp>
      <p:sp>
        <p:nvSpPr>
          <p:cNvPr id="49" name="Shape 46"/>
          <p:cNvSpPr/>
          <p:nvPr/>
        </p:nvSpPr>
        <p:spPr>
          <a:xfrm>
            <a:off x="9509760" y="4846320"/>
            <a:ext cx="2084832" cy="1143000"/>
          </a:xfrm>
          <a:prstGeom prst="roundRect">
            <a:avLst>
              <a:gd name="adj" fmla="val 5600"/>
            </a:avLst>
          </a:prstGeom>
          <a:solidFill>
            <a:schemeClr val="bg1"/>
          </a:solidFill>
          <a:ln w="15875">
            <a:solidFill>
              <a:schemeClr val="accent1"/>
            </a:solidFill>
            <a:prstDash val="solid"/>
          </a:ln>
        </p:spPr>
      </p:sp>
      <p:sp>
        <p:nvSpPr>
          <p:cNvPr id="50" name="Text 47"/>
          <p:cNvSpPr txBox="1"/>
          <p:nvPr/>
        </p:nvSpPr>
        <p:spPr>
          <a:xfrm>
            <a:off x="9646920" y="4937760"/>
            <a:ext cx="1828800" cy="320040"/>
          </a:xfrm>
          <a:prstGeom prst="rect">
            <a:avLst/>
          </a:prstGeom>
          <a:noFill/>
          <a:ln/>
        </p:spPr>
        <p:txBody>
          <a:bodyPr wrap="square" lIns="0" tIns="0" rIns="0" bIns="0" rtlCol="0" anchor="t"/>
          <a:lstStyle/>
          <a:p>
            <a:pPr indent="0" marL="0">
              <a:buNone/>
            </a:pPr>
            <a:r>
              <a:rPr lang="en-US" sz="1400" b="1" dirty="0">
                <a:solidFill>
                  <a:schemeClr val="tx2"/>
                </a:solidFill>
              </a:rPr>
              <a:t>Action Tracker</a:t>
            </a:r>
            <a:endParaRPr lang="en-US" sz="1400" dirty="0"/>
          </a:p>
        </p:txBody>
      </p:sp>
      <p:sp>
        <p:nvSpPr>
          <p:cNvPr id="51" name="Text 48"/>
          <p:cNvSpPr txBox="1"/>
          <p:nvPr/>
        </p:nvSpPr>
        <p:spPr>
          <a:xfrm>
            <a:off x="9646920" y="5321808"/>
            <a:ext cx="1828800" cy="594360"/>
          </a:xfrm>
          <a:prstGeom prst="rect">
            <a:avLst/>
          </a:prstGeom>
          <a:noFill/>
          <a:ln/>
        </p:spPr>
        <p:txBody>
          <a:bodyPr wrap="square" lIns="0" tIns="0" rIns="0" bIns="0" rtlCol="0" anchor="t"/>
          <a:lstStyle/>
          <a:p>
            <a:pPr indent="0" marL="0">
              <a:buNone/>
            </a:pPr>
            <a:r>
              <a:rPr lang="en-US" sz="1200" dirty="0">
                <a:solidFill>
                  <a:schemeClr val="tx1"/>
                </a:solidFill>
              </a:rPr>
              <a:t>deadlines and owners</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Recommended actions for Meridian</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Actions are generated per vendor from the risk class and evidence strength, with owners and deadlines in the workbook.</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RESULTS</a:t>
            </a:r>
            <a:endParaRPr lang="en-US" sz="1050" dirty="0"/>
          </a:p>
        </p:txBody>
      </p:sp>
      <p:sp>
        <p:nvSpPr>
          <p:cNvPr id="7" name="Shape 4"/>
          <p:cNvSpPr/>
          <p:nvPr/>
        </p:nvSpPr>
        <p:spPr>
          <a:xfrm>
            <a:off x="548640" y="1783080"/>
            <a:ext cx="3593592" cy="4114800"/>
          </a:xfrm>
          <a:prstGeom prst="roundRect">
            <a:avLst>
              <a:gd name="adj" fmla="val 2036"/>
            </a:avLst>
          </a:prstGeom>
          <a:solidFill>
            <a:schemeClr val="bg2"/>
          </a:solidFill>
          <a:ln w="22225">
            <a:solidFill>
              <a:srgbClr val="B42318"/>
            </a:solidFill>
            <a:prstDash val="solid"/>
          </a:ln>
        </p:spPr>
      </p:sp>
      <p:sp>
        <p:nvSpPr>
          <p:cNvPr id="8" name="Text 5"/>
          <p:cNvSpPr txBox="1"/>
          <p:nvPr/>
        </p:nvSpPr>
        <p:spPr>
          <a:xfrm>
            <a:off x="731520" y="1901952"/>
            <a:ext cx="3246120" cy="365760"/>
          </a:xfrm>
          <a:prstGeom prst="rect">
            <a:avLst/>
          </a:prstGeom>
          <a:noFill/>
          <a:ln/>
        </p:spPr>
        <p:txBody>
          <a:bodyPr wrap="square" lIns="0" tIns="0" rIns="0" bIns="0" rtlCol="0" anchor="t"/>
          <a:lstStyle/>
          <a:p>
            <a:pPr indent="0" marL="0">
              <a:buNone/>
            </a:pPr>
            <a:r>
              <a:rPr lang="en-US" sz="1700" b="1" dirty="0">
                <a:solidFill>
                  <a:srgbClr val="B42318"/>
                </a:solidFill>
              </a:rPr>
              <a:t>Within 15 business days</a:t>
            </a:r>
            <a:endParaRPr lang="en-US" sz="1700" dirty="0"/>
          </a:p>
        </p:txBody>
      </p:sp>
      <p:sp>
        <p:nvSpPr>
          <p:cNvPr id="9" name="Text 6"/>
          <p:cNvSpPr txBox="1"/>
          <p:nvPr/>
        </p:nvSpPr>
        <p:spPr>
          <a:xfrm>
            <a:off x="731520" y="237744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WHAT TO DO</a:t>
            </a:r>
            <a:endParaRPr lang="en-US" sz="1050" dirty="0"/>
          </a:p>
        </p:txBody>
      </p:sp>
      <p:sp>
        <p:nvSpPr>
          <p:cNvPr id="10" name="Text 7"/>
          <p:cNvSpPr txBox="1"/>
          <p:nvPr/>
        </p:nvSpPr>
        <p:spPr>
          <a:xfrm>
            <a:off x="731520" y="2633472"/>
            <a:ext cx="3246120" cy="1600200"/>
          </a:xfrm>
          <a:prstGeom prst="rect">
            <a:avLst/>
          </a:prstGeom>
          <a:noFill/>
          <a:ln/>
        </p:spPr>
        <p:txBody>
          <a:bodyPr wrap="square" lIns="0" tIns="0" rIns="0" bIns="0" rtlCol="0" anchor="t"/>
          <a:lstStyle/>
          <a:p>
            <a:pPr indent="0" marL="0">
              <a:buNone/>
            </a:pPr>
            <a:r>
              <a:rPr lang="en-US" sz="1350" dirty="0">
                <a:solidFill>
                  <a:schemeClr val="tx1"/>
                </a:solidFill>
              </a:rPr>
              <a:t>Formal AI security and sub-processor questionnaire; verify retention, training use and human-review thresholds; add contract clauses; escalate to the Risk Committee.</a:t>
            </a:r>
            <a:endParaRPr lang="en-US" sz="1350" dirty="0"/>
          </a:p>
        </p:txBody>
      </p:sp>
      <p:sp>
        <p:nvSpPr>
          <p:cNvPr id="11" name="Text 8"/>
          <p:cNvSpPr txBox="1"/>
          <p:nvPr/>
        </p:nvSpPr>
        <p:spPr>
          <a:xfrm>
            <a:off x="731520" y="388620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VENDORS</a:t>
            </a:r>
            <a:endParaRPr lang="en-US" sz="1050" dirty="0"/>
          </a:p>
        </p:txBody>
      </p:sp>
      <p:sp>
        <p:nvSpPr>
          <p:cNvPr id="12" name="Shape 9"/>
          <p:cNvSpPr/>
          <p:nvPr/>
        </p:nvSpPr>
        <p:spPr>
          <a:xfrm>
            <a:off x="731520" y="4160520"/>
            <a:ext cx="3227832" cy="338328"/>
          </a:xfrm>
          <a:prstGeom prst="roundRect">
            <a:avLst>
              <a:gd name="adj" fmla="val 16216"/>
            </a:avLst>
          </a:prstGeom>
          <a:solidFill>
            <a:schemeClr val="bg1"/>
          </a:solidFill>
          <a:ln w="6350">
            <a:solidFill>
              <a:schemeClr val="bg1"/>
            </a:solidFill>
            <a:prstDash val="solid"/>
          </a:ln>
        </p:spPr>
      </p:sp>
      <p:sp>
        <p:nvSpPr>
          <p:cNvPr id="13" name="Text 10"/>
          <p:cNvSpPr txBox="1"/>
          <p:nvPr/>
        </p:nvSpPr>
        <p:spPr>
          <a:xfrm>
            <a:off x="841248" y="4160520"/>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Fiserv</a:t>
            </a:r>
            <a:endParaRPr lang="en-US" sz="1300" dirty="0"/>
          </a:p>
        </p:txBody>
      </p:sp>
      <p:sp>
        <p:nvSpPr>
          <p:cNvPr id="14" name="Text 11"/>
          <p:cNvSpPr txBox="1"/>
          <p:nvPr/>
        </p:nvSpPr>
        <p:spPr>
          <a:xfrm>
            <a:off x="2377440" y="4160520"/>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Critical · Confirmed</a:t>
            </a:r>
            <a:endParaRPr lang="en-US" sz="1050" dirty="0"/>
          </a:p>
        </p:txBody>
      </p:sp>
      <p:sp>
        <p:nvSpPr>
          <p:cNvPr id="15" name="Shape 12"/>
          <p:cNvSpPr/>
          <p:nvPr/>
        </p:nvSpPr>
        <p:spPr>
          <a:xfrm>
            <a:off x="4297680" y="1783080"/>
            <a:ext cx="3593592" cy="4114800"/>
          </a:xfrm>
          <a:prstGeom prst="roundRect">
            <a:avLst>
              <a:gd name="adj" fmla="val 2036"/>
            </a:avLst>
          </a:prstGeom>
          <a:solidFill>
            <a:schemeClr val="bg2"/>
          </a:solidFill>
          <a:ln w="22225">
            <a:solidFill>
              <a:srgbClr val="C77700"/>
            </a:solidFill>
            <a:prstDash val="solid"/>
          </a:ln>
        </p:spPr>
      </p:sp>
      <p:sp>
        <p:nvSpPr>
          <p:cNvPr id="16" name="Text 13"/>
          <p:cNvSpPr txBox="1"/>
          <p:nvPr/>
        </p:nvSpPr>
        <p:spPr>
          <a:xfrm>
            <a:off x="4480560" y="1901952"/>
            <a:ext cx="3246120" cy="365760"/>
          </a:xfrm>
          <a:prstGeom prst="rect">
            <a:avLst/>
          </a:prstGeom>
          <a:noFill/>
          <a:ln/>
        </p:spPr>
        <p:txBody>
          <a:bodyPr wrap="square" lIns="0" tIns="0" rIns="0" bIns="0" rtlCol="0" anchor="t"/>
          <a:lstStyle/>
          <a:p>
            <a:pPr indent="0" marL="0">
              <a:buNone/>
            </a:pPr>
            <a:r>
              <a:rPr lang="en-US" sz="1700" b="1" dirty="0">
                <a:solidFill>
                  <a:srgbClr val="C77700"/>
                </a:solidFill>
              </a:rPr>
              <a:t>Within 30 business days</a:t>
            </a:r>
            <a:endParaRPr lang="en-US" sz="1700" dirty="0"/>
          </a:p>
        </p:txBody>
      </p:sp>
      <p:sp>
        <p:nvSpPr>
          <p:cNvPr id="17" name="Text 14"/>
          <p:cNvSpPr txBox="1"/>
          <p:nvPr/>
        </p:nvSpPr>
        <p:spPr>
          <a:xfrm>
            <a:off x="4480560" y="237744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WHAT TO DO</a:t>
            </a:r>
            <a:endParaRPr lang="en-US" sz="1050" dirty="0"/>
          </a:p>
        </p:txBody>
      </p:sp>
      <p:sp>
        <p:nvSpPr>
          <p:cNvPr id="18" name="Text 15"/>
          <p:cNvSpPr txBox="1"/>
          <p:nvPr/>
        </p:nvSpPr>
        <p:spPr>
          <a:xfrm>
            <a:off x="4480560" y="2633472"/>
            <a:ext cx="3246120" cy="1600200"/>
          </a:xfrm>
          <a:prstGeom prst="rect">
            <a:avLst/>
          </a:prstGeom>
          <a:noFill/>
          <a:ln/>
        </p:spPr>
        <p:txBody>
          <a:bodyPr wrap="square" lIns="0" tIns="0" rIns="0" bIns="0" rtlCol="0" anchor="t"/>
          <a:lstStyle/>
          <a:p>
            <a:pPr indent="0" marL="0">
              <a:buNone/>
            </a:pPr>
            <a:r>
              <a:rPr lang="en-US" sz="1350" dirty="0">
                <a:solidFill>
                  <a:schemeClr val="tx1"/>
                </a:solidFill>
              </a:rPr>
              <a:t>Governance briefing for High-risk vendors; for inconclusive vendors, extend OSINT coverage and issue a targeted questionnaire.</a:t>
            </a:r>
            <a:endParaRPr lang="en-US" sz="1350" dirty="0"/>
          </a:p>
        </p:txBody>
      </p:sp>
      <p:sp>
        <p:nvSpPr>
          <p:cNvPr id="19" name="Text 16"/>
          <p:cNvSpPr txBox="1"/>
          <p:nvPr/>
        </p:nvSpPr>
        <p:spPr>
          <a:xfrm>
            <a:off x="4480560" y="388620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VENDORS</a:t>
            </a:r>
            <a:endParaRPr lang="en-US" sz="1050" dirty="0"/>
          </a:p>
        </p:txBody>
      </p:sp>
      <p:sp>
        <p:nvSpPr>
          <p:cNvPr id="20" name="Shape 17"/>
          <p:cNvSpPr/>
          <p:nvPr/>
        </p:nvSpPr>
        <p:spPr>
          <a:xfrm>
            <a:off x="4480560" y="4160520"/>
            <a:ext cx="3227832" cy="338328"/>
          </a:xfrm>
          <a:prstGeom prst="roundRect">
            <a:avLst>
              <a:gd name="adj" fmla="val 16216"/>
            </a:avLst>
          </a:prstGeom>
          <a:solidFill>
            <a:schemeClr val="bg1"/>
          </a:solidFill>
          <a:ln w="6350">
            <a:solidFill>
              <a:schemeClr val="bg1"/>
            </a:solidFill>
            <a:prstDash val="solid"/>
          </a:ln>
        </p:spPr>
      </p:sp>
      <p:sp>
        <p:nvSpPr>
          <p:cNvPr id="21" name="Text 18"/>
          <p:cNvSpPr txBox="1"/>
          <p:nvPr/>
        </p:nvSpPr>
        <p:spPr>
          <a:xfrm>
            <a:off x="4590288" y="4160520"/>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AutomWorx</a:t>
            </a:r>
            <a:endParaRPr lang="en-US" sz="1300" dirty="0"/>
          </a:p>
        </p:txBody>
      </p:sp>
      <p:sp>
        <p:nvSpPr>
          <p:cNvPr id="22" name="Text 19"/>
          <p:cNvSpPr txBox="1"/>
          <p:nvPr/>
        </p:nvSpPr>
        <p:spPr>
          <a:xfrm>
            <a:off x="6126480" y="4160520"/>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Medium · Indicative</a:t>
            </a:r>
            <a:endParaRPr lang="en-US" sz="1050" dirty="0"/>
          </a:p>
        </p:txBody>
      </p:sp>
      <p:sp>
        <p:nvSpPr>
          <p:cNvPr id="23" name="Shape 20"/>
          <p:cNvSpPr/>
          <p:nvPr/>
        </p:nvSpPr>
        <p:spPr>
          <a:xfrm>
            <a:off x="4480560" y="4562856"/>
            <a:ext cx="3227832" cy="338328"/>
          </a:xfrm>
          <a:prstGeom prst="roundRect">
            <a:avLst>
              <a:gd name="adj" fmla="val 16216"/>
            </a:avLst>
          </a:prstGeom>
          <a:solidFill>
            <a:schemeClr val="bg1"/>
          </a:solidFill>
          <a:ln w="6350">
            <a:solidFill>
              <a:schemeClr val="bg1"/>
            </a:solidFill>
            <a:prstDash val="solid"/>
          </a:ln>
        </p:spPr>
      </p:sp>
      <p:sp>
        <p:nvSpPr>
          <p:cNvPr id="24" name="Text 21"/>
          <p:cNvSpPr txBox="1"/>
          <p:nvPr/>
        </p:nvSpPr>
        <p:spPr>
          <a:xfrm>
            <a:off x="4590288" y="4562856"/>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Terrapin</a:t>
            </a:r>
            <a:endParaRPr lang="en-US" sz="1300" dirty="0"/>
          </a:p>
        </p:txBody>
      </p:sp>
      <p:sp>
        <p:nvSpPr>
          <p:cNvPr id="25" name="Text 22"/>
          <p:cNvSpPr txBox="1"/>
          <p:nvPr/>
        </p:nvSpPr>
        <p:spPr>
          <a:xfrm>
            <a:off x="6126480" y="4562856"/>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Medium · Marketing-only</a:t>
            </a:r>
            <a:endParaRPr lang="en-US" sz="1050" dirty="0"/>
          </a:p>
        </p:txBody>
      </p:sp>
      <p:sp>
        <p:nvSpPr>
          <p:cNvPr id="26" name="Shape 23"/>
          <p:cNvSpPr/>
          <p:nvPr/>
        </p:nvSpPr>
        <p:spPr>
          <a:xfrm>
            <a:off x="4480560" y="4965192"/>
            <a:ext cx="3227832" cy="338328"/>
          </a:xfrm>
          <a:prstGeom prst="roundRect">
            <a:avLst>
              <a:gd name="adj" fmla="val 16216"/>
            </a:avLst>
          </a:prstGeom>
          <a:solidFill>
            <a:schemeClr val="bg1"/>
          </a:solidFill>
          <a:ln w="6350">
            <a:solidFill>
              <a:schemeClr val="bg1"/>
            </a:solidFill>
            <a:prstDash val="solid"/>
          </a:ln>
        </p:spPr>
      </p:sp>
      <p:sp>
        <p:nvSpPr>
          <p:cNvPr id="27" name="Text 24"/>
          <p:cNvSpPr txBox="1"/>
          <p:nvPr/>
        </p:nvSpPr>
        <p:spPr>
          <a:xfrm>
            <a:off x="4590288" y="4965192"/>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BNY</a:t>
            </a:r>
            <a:endParaRPr lang="en-US" sz="1300" dirty="0"/>
          </a:p>
        </p:txBody>
      </p:sp>
      <p:sp>
        <p:nvSpPr>
          <p:cNvPr id="28" name="Text 25"/>
          <p:cNvSpPr txBox="1"/>
          <p:nvPr/>
        </p:nvSpPr>
        <p:spPr>
          <a:xfrm>
            <a:off x="6126480" y="4965192"/>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High · Probable</a:t>
            </a:r>
            <a:endParaRPr lang="en-US" sz="1050" dirty="0"/>
          </a:p>
        </p:txBody>
      </p:sp>
      <p:sp>
        <p:nvSpPr>
          <p:cNvPr id="29" name="Shape 26"/>
          <p:cNvSpPr/>
          <p:nvPr/>
        </p:nvSpPr>
        <p:spPr>
          <a:xfrm>
            <a:off x="4480560" y="5367528"/>
            <a:ext cx="3227832" cy="338328"/>
          </a:xfrm>
          <a:prstGeom prst="roundRect">
            <a:avLst>
              <a:gd name="adj" fmla="val 16216"/>
            </a:avLst>
          </a:prstGeom>
          <a:solidFill>
            <a:schemeClr val="bg1"/>
          </a:solidFill>
          <a:ln w="6350">
            <a:solidFill>
              <a:schemeClr val="bg1"/>
            </a:solidFill>
            <a:prstDash val="solid"/>
          </a:ln>
        </p:spPr>
      </p:sp>
      <p:sp>
        <p:nvSpPr>
          <p:cNvPr id="30" name="Text 27"/>
          <p:cNvSpPr txBox="1"/>
          <p:nvPr/>
        </p:nvSpPr>
        <p:spPr>
          <a:xfrm>
            <a:off x="4590288" y="5367528"/>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The Clearing House</a:t>
            </a:r>
            <a:endParaRPr lang="en-US" sz="1300" dirty="0"/>
          </a:p>
        </p:txBody>
      </p:sp>
      <p:sp>
        <p:nvSpPr>
          <p:cNvPr id="31" name="Text 28"/>
          <p:cNvSpPr txBox="1"/>
          <p:nvPr/>
        </p:nvSpPr>
        <p:spPr>
          <a:xfrm>
            <a:off x="6126480" y="5367528"/>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Medium · coverage gap</a:t>
            </a:r>
            <a:endParaRPr lang="en-US" sz="1050" dirty="0"/>
          </a:p>
        </p:txBody>
      </p:sp>
      <p:sp>
        <p:nvSpPr>
          <p:cNvPr id="32" name="Shape 29"/>
          <p:cNvSpPr/>
          <p:nvPr/>
        </p:nvSpPr>
        <p:spPr>
          <a:xfrm>
            <a:off x="8046720" y="1783080"/>
            <a:ext cx="3593592" cy="4114800"/>
          </a:xfrm>
          <a:prstGeom prst="roundRect">
            <a:avLst>
              <a:gd name="adj" fmla="val 2036"/>
            </a:avLst>
          </a:prstGeom>
          <a:solidFill>
            <a:schemeClr val="bg2"/>
          </a:solidFill>
          <a:ln w="22225">
            <a:solidFill>
              <a:srgbClr val="1C7C4D"/>
            </a:solidFill>
            <a:prstDash val="solid"/>
          </a:ln>
        </p:spPr>
      </p:sp>
      <p:sp>
        <p:nvSpPr>
          <p:cNvPr id="33" name="Text 30"/>
          <p:cNvSpPr txBox="1"/>
          <p:nvPr/>
        </p:nvSpPr>
        <p:spPr>
          <a:xfrm>
            <a:off x="8229600" y="1901952"/>
            <a:ext cx="3246120" cy="365760"/>
          </a:xfrm>
          <a:prstGeom prst="rect">
            <a:avLst/>
          </a:prstGeom>
          <a:noFill/>
          <a:ln/>
        </p:spPr>
        <p:txBody>
          <a:bodyPr wrap="square" lIns="0" tIns="0" rIns="0" bIns="0" rtlCol="0" anchor="t"/>
          <a:lstStyle/>
          <a:p>
            <a:pPr indent="0" marL="0">
              <a:buNone/>
            </a:pPr>
            <a:r>
              <a:rPr lang="en-US" sz="1700" b="1" dirty="0">
                <a:solidFill>
                  <a:srgbClr val="1C7C4D"/>
                </a:solidFill>
              </a:rPr>
              <a:t>Next review cycle</a:t>
            </a:r>
            <a:endParaRPr lang="en-US" sz="1700" dirty="0"/>
          </a:p>
        </p:txBody>
      </p:sp>
      <p:sp>
        <p:nvSpPr>
          <p:cNvPr id="34" name="Text 31"/>
          <p:cNvSpPr txBox="1"/>
          <p:nvPr/>
        </p:nvSpPr>
        <p:spPr>
          <a:xfrm>
            <a:off x="8229600" y="237744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WHAT TO DO</a:t>
            </a:r>
            <a:endParaRPr lang="en-US" sz="1050" dirty="0"/>
          </a:p>
        </p:txBody>
      </p:sp>
      <p:sp>
        <p:nvSpPr>
          <p:cNvPr id="35" name="Text 32"/>
          <p:cNvSpPr txBox="1"/>
          <p:nvPr/>
        </p:nvSpPr>
        <p:spPr>
          <a:xfrm>
            <a:off x="8229600" y="2633472"/>
            <a:ext cx="3246120" cy="1600200"/>
          </a:xfrm>
          <a:prstGeom prst="rect">
            <a:avLst/>
          </a:prstGeom>
          <a:noFill/>
          <a:ln/>
        </p:spPr>
        <p:txBody>
          <a:bodyPr wrap="square" lIns="0" tIns="0" rIns="0" bIns="0" rtlCol="0" anchor="t"/>
          <a:lstStyle/>
          <a:p>
            <a:pPr indent="0" marL="0">
              <a:buNone/>
            </a:pPr>
            <a:r>
              <a:rPr lang="en-US" sz="1350" dirty="0">
                <a:solidFill>
                  <a:schemeClr val="tx1"/>
                </a:solidFill>
              </a:rPr>
              <a:t>Preventative clause requiring notice before AI or new sub-processors are introduced; annual re-assessment.</a:t>
            </a:r>
            <a:endParaRPr lang="en-US" sz="1350" dirty="0"/>
          </a:p>
        </p:txBody>
      </p:sp>
      <p:sp>
        <p:nvSpPr>
          <p:cNvPr id="36" name="Text 33"/>
          <p:cNvSpPr txBox="1"/>
          <p:nvPr/>
        </p:nvSpPr>
        <p:spPr>
          <a:xfrm>
            <a:off x="8229600" y="3886200"/>
            <a:ext cx="3246120" cy="228600"/>
          </a:xfrm>
          <a:prstGeom prst="rect">
            <a:avLst/>
          </a:prstGeom>
          <a:noFill/>
          <a:ln/>
        </p:spPr>
        <p:txBody>
          <a:bodyPr wrap="square" lIns="0" tIns="0" rIns="0" bIns="0" rtlCol="0" anchor="t"/>
          <a:lstStyle/>
          <a:p>
            <a:pPr indent="0" marL="0">
              <a:buNone/>
            </a:pPr>
            <a:r>
              <a:rPr lang="en-US" sz="1050" b="1" spc="200" kern="0" dirty="0">
                <a:solidFill>
                  <a:schemeClr val="accent6"/>
                </a:solidFill>
              </a:rPr>
              <a:t>VENDORS</a:t>
            </a:r>
            <a:endParaRPr lang="en-US" sz="1050" dirty="0"/>
          </a:p>
        </p:txBody>
      </p:sp>
      <p:sp>
        <p:nvSpPr>
          <p:cNvPr id="37" name="Shape 34"/>
          <p:cNvSpPr/>
          <p:nvPr/>
        </p:nvSpPr>
        <p:spPr>
          <a:xfrm>
            <a:off x="8229600" y="4160520"/>
            <a:ext cx="3227832" cy="338328"/>
          </a:xfrm>
          <a:prstGeom prst="roundRect">
            <a:avLst>
              <a:gd name="adj" fmla="val 16216"/>
            </a:avLst>
          </a:prstGeom>
          <a:solidFill>
            <a:schemeClr val="bg1"/>
          </a:solidFill>
          <a:ln w="6350">
            <a:solidFill>
              <a:schemeClr val="bg1"/>
            </a:solidFill>
            <a:prstDash val="solid"/>
          </a:ln>
        </p:spPr>
      </p:sp>
      <p:sp>
        <p:nvSpPr>
          <p:cNvPr id="38" name="Text 35"/>
          <p:cNvSpPr txBox="1"/>
          <p:nvPr/>
        </p:nvSpPr>
        <p:spPr>
          <a:xfrm>
            <a:off x="8339328" y="4160520"/>
            <a:ext cx="1737360" cy="338328"/>
          </a:xfrm>
          <a:prstGeom prst="rect">
            <a:avLst/>
          </a:prstGeom>
          <a:noFill/>
          <a:ln/>
        </p:spPr>
        <p:txBody>
          <a:bodyPr wrap="square" lIns="0" tIns="0" rIns="0" bIns="0" rtlCol="0" anchor="ctr"/>
          <a:lstStyle/>
          <a:p>
            <a:pPr indent="0" marL="0">
              <a:buNone/>
            </a:pPr>
            <a:r>
              <a:rPr lang="en-US" sz="1300" b="1" dirty="0">
                <a:solidFill>
                  <a:schemeClr val="tx2"/>
                </a:solidFill>
              </a:rPr>
              <a:t>FSSI</a:t>
            </a:r>
            <a:endParaRPr lang="en-US" sz="1300" dirty="0"/>
          </a:p>
        </p:txBody>
      </p:sp>
      <p:sp>
        <p:nvSpPr>
          <p:cNvPr id="39" name="Text 36"/>
          <p:cNvSpPr txBox="1"/>
          <p:nvPr/>
        </p:nvSpPr>
        <p:spPr>
          <a:xfrm>
            <a:off x="9875520" y="4160520"/>
            <a:ext cx="1536192" cy="338328"/>
          </a:xfrm>
          <a:prstGeom prst="rect">
            <a:avLst/>
          </a:prstGeom>
          <a:noFill/>
          <a:ln/>
        </p:spPr>
        <p:txBody>
          <a:bodyPr wrap="square" lIns="0" tIns="0" rIns="0" bIns="0" rtlCol="0" anchor="ctr"/>
          <a:lstStyle/>
          <a:p>
            <a:pPr algn="r" indent="0" marL="0">
              <a:buNone/>
            </a:pPr>
            <a:r>
              <a:rPr lang="en-US" sz="1050" dirty="0">
                <a:solidFill>
                  <a:schemeClr val="accent6"/>
                </a:solidFill>
              </a:rPr>
              <a:t>None identified</a:t>
            </a:r>
            <a:endParaRPr lang="en-US" sz="105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Limitations and next steps</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t"/>
          <a:lstStyle/>
          <a:p>
            <a:pPr indent="0" marL="0">
              <a:buNone/>
            </a:pPr>
            <a:r>
              <a:rPr lang="en-US" sz="1600" dirty="0">
                <a:solidFill>
                  <a:schemeClr val="accent6"/>
                </a:solidFill>
              </a:rPr>
              <a:t>OSINT narrows the questions; it does not replace the vendor questionnaire.</a:t>
            </a:r>
            <a:endParaRPr lang="en-US" sz="1600" dirty="0"/>
          </a:p>
        </p:txBody>
      </p:sp>
      <p:sp>
        <p:nvSpPr>
          <p:cNvPr id="4" name="Shape 2"/>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5" name="Text 3"/>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WRAP-UP</a:t>
            </a:r>
            <a:endParaRPr lang="en-US" sz="1050" dirty="0"/>
          </a:p>
        </p:txBody>
      </p:sp>
      <p:sp>
        <p:nvSpPr>
          <p:cNvPr id="7" name="Shape 4"/>
          <p:cNvSpPr/>
          <p:nvPr/>
        </p:nvSpPr>
        <p:spPr>
          <a:xfrm>
            <a:off x="548640" y="1783080"/>
            <a:ext cx="5422392" cy="3566160"/>
          </a:xfrm>
          <a:prstGeom prst="roundRect">
            <a:avLst>
              <a:gd name="adj" fmla="val 2051"/>
            </a:avLst>
          </a:prstGeom>
          <a:solidFill>
            <a:schemeClr val="bg2"/>
          </a:solidFill>
          <a:ln w="19050">
            <a:solidFill>
              <a:srgbClr val="C77700"/>
            </a:solidFill>
            <a:prstDash val="solid"/>
          </a:ln>
        </p:spPr>
      </p:sp>
      <p:sp>
        <p:nvSpPr>
          <p:cNvPr id="8" name="Text 5"/>
          <p:cNvSpPr txBox="1"/>
          <p:nvPr/>
        </p:nvSpPr>
        <p:spPr>
          <a:xfrm>
            <a:off x="777240" y="1901952"/>
            <a:ext cx="4937760" cy="365760"/>
          </a:xfrm>
          <a:prstGeom prst="rect">
            <a:avLst/>
          </a:prstGeom>
          <a:noFill/>
          <a:ln/>
        </p:spPr>
        <p:txBody>
          <a:bodyPr wrap="square" lIns="0" tIns="0" rIns="0" bIns="0" rtlCol="0" anchor="t"/>
          <a:lstStyle/>
          <a:p>
            <a:pPr indent="0" marL="0">
              <a:buNone/>
            </a:pPr>
            <a:r>
              <a:rPr lang="en-US" sz="1800" b="1" dirty="0">
                <a:solidFill>
                  <a:srgbClr val="C77700"/>
                </a:solidFill>
              </a:rPr>
              <a:t>Limits</a:t>
            </a:r>
            <a:endParaRPr lang="en-US" sz="1800" dirty="0"/>
          </a:p>
        </p:txBody>
      </p:sp>
      <p:sp>
        <p:nvSpPr>
          <p:cNvPr id="9" name="Text 6"/>
          <p:cNvSpPr txBox="1"/>
          <p:nvPr/>
        </p:nvSpPr>
        <p:spPr>
          <a:xfrm>
            <a:off x="777240" y="2377440"/>
            <a:ext cx="4983480" cy="29260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chemeClr val="tx1"/>
                </a:solidFill>
              </a:rPr>
              <a:t>Sentence typing is rule-based and can misread context; a human reviews the excerpts.</a:t>
            </a:r>
            <a:endParaRPr lang="en-US" sz="1350" dirty="0"/>
          </a:p>
          <a:p>
            <a:pPr marL="177800" indent="-177800">
              <a:spcAft>
                <a:spcPts val="600"/>
              </a:spcAft>
              <a:buSzPct val="100000"/>
              <a:buChar char="•"/>
            </a:pPr>
            <a:r>
              <a:rPr lang="en-US" sz="1350" dirty="0">
                <a:solidFill>
                  <a:schemeClr val="tx1"/>
                </a:solidFill>
              </a:rPr>
              <a:t>Offline results use analyst-recorded evidence (discounted ×0.9, flagged); a live sweep replaces it with fetched pages.</a:t>
            </a:r>
            <a:endParaRPr lang="en-US" sz="1350" dirty="0"/>
          </a:p>
          <a:p>
            <a:pPr marL="177800" indent="-177800">
              <a:spcAft>
                <a:spcPts val="600"/>
              </a:spcAft>
              <a:buSzPct val="100000"/>
              <a:buChar char="•"/>
            </a:pPr>
            <a:r>
              <a:rPr lang="en-US" sz="1350" dirty="0">
                <a:solidFill>
                  <a:schemeClr val="tx1"/>
                </a:solidFill>
              </a:rPr>
              <a:t>“No AI” is only returned after enough pages for the tier; otherwise it is a coverage gap.</a:t>
            </a:r>
            <a:endParaRPr lang="en-US" sz="1350" dirty="0"/>
          </a:p>
          <a:p>
            <a:pPr marL="177800" indent="-177800">
              <a:spcAft>
                <a:spcPts val="600"/>
              </a:spcAft>
              <a:buSzPct val="100000"/>
              <a:buChar char="•"/>
            </a:pPr>
            <a:r>
              <a:rPr lang="en-US" sz="1350" dirty="0">
                <a:solidFill>
                  <a:schemeClr val="tx1"/>
                </a:solidFill>
              </a:rPr>
              <a:t>Weights and the Critical threshold are judgement calls, calibrated on one benchmark row.</a:t>
            </a:r>
            <a:endParaRPr lang="en-US" sz="1350" dirty="0"/>
          </a:p>
          <a:p>
            <a:pPr marL="177800" indent="-177800">
              <a:spcAft>
                <a:spcPts val="600"/>
              </a:spcAft>
              <a:buSzPct val="100000"/>
              <a:buChar char="•"/>
            </a:pPr>
            <a:r>
              <a:rPr lang="en-US" sz="1350" dirty="0">
                <a:solidFill>
                  <a:schemeClr val="tx1"/>
                </a:solidFill>
              </a:rPr>
              <a:t>Public material shows AI use, not data flows; flows remain inferred until the vendor answers.</a:t>
            </a:r>
            <a:endParaRPr lang="en-US" sz="1350" dirty="0"/>
          </a:p>
        </p:txBody>
      </p:sp>
      <p:sp>
        <p:nvSpPr>
          <p:cNvPr id="10" name="Shape 7"/>
          <p:cNvSpPr/>
          <p:nvPr/>
        </p:nvSpPr>
        <p:spPr>
          <a:xfrm>
            <a:off x="6217920" y="1783080"/>
            <a:ext cx="5422392" cy="3566160"/>
          </a:xfrm>
          <a:prstGeom prst="roundRect">
            <a:avLst>
              <a:gd name="adj" fmla="val 2051"/>
            </a:avLst>
          </a:prstGeom>
          <a:solidFill>
            <a:schemeClr val="bg2"/>
          </a:solidFill>
          <a:ln w="19050">
            <a:solidFill>
              <a:srgbClr val="1F4E8C"/>
            </a:solidFill>
            <a:prstDash val="solid"/>
          </a:ln>
        </p:spPr>
      </p:sp>
      <p:sp>
        <p:nvSpPr>
          <p:cNvPr id="11" name="Text 8"/>
          <p:cNvSpPr txBox="1"/>
          <p:nvPr/>
        </p:nvSpPr>
        <p:spPr>
          <a:xfrm>
            <a:off x="6446520" y="1901952"/>
            <a:ext cx="4937760" cy="365760"/>
          </a:xfrm>
          <a:prstGeom prst="rect">
            <a:avLst/>
          </a:prstGeom>
          <a:noFill/>
          <a:ln/>
        </p:spPr>
        <p:txBody>
          <a:bodyPr wrap="square" lIns="0" tIns="0" rIns="0" bIns="0" rtlCol="0" anchor="t"/>
          <a:lstStyle/>
          <a:p>
            <a:pPr indent="0" marL="0">
              <a:buNone/>
            </a:pPr>
            <a:r>
              <a:rPr lang="en-US" sz="1800" b="1" dirty="0">
                <a:solidFill>
                  <a:srgbClr val="1F4E8C"/>
                </a:solidFill>
              </a:rPr>
              <a:t>Next steps</a:t>
            </a:r>
            <a:endParaRPr lang="en-US" sz="1800" dirty="0"/>
          </a:p>
        </p:txBody>
      </p:sp>
      <p:sp>
        <p:nvSpPr>
          <p:cNvPr id="12" name="Text 9"/>
          <p:cNvSpPr txBox="1"/>
          <p:nvPr/>
        </p:nvSpPr>
        <p:spPr>
          <a:xfrm>
            <a:off x="6446520" y="2377440"/>
            <a:ext cx="4983480" cy="29260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chemeClr val="tx1"/>
                </a:solidFill>
              </a:rPr>
              <a:t>Run the live sweep for all vendors and review excerpts with an analyst.</a:t>
            </a:r>
            <a:endParaRPr lang="en-US" sz="1350" dirty="0"/>
          </a:p>
          <a:p>
            <a:pPr marL="177800" indent="-177800">
              <a:spcAft>
                <a:spcPts val="600"/>
              </a:spcAft>
              <a:buSzPct val="100000"/>
              <a:buChar char="•"/>
            </a:pPr>
            <a:r>
              <a:rPr lang="en-US" sz="1350" dirty="0">
                <a:solidFill>
                  <a:schemeClr val="tx1"/>
                </a:solidFill>
              </a:rPr>
              <a:t>Exercise the optional LLM assist on ambiguous sentences and measure agreement.</a:t>
            </a:r>
            <a:endParaRPr lang="en-US" sz="1350" dirty="0"/>
          </a:p>
          <a:p>
            <a:pPr marL="177800" indent="-177800">
              <a:spcAft>
                <a:spcPts val="600"/>
              </a:spcAft>
              <a:buSzPct val="100000"/>
              <a:buChar char="•"/>
            </a:pPr>
            <a:r>
              <a:rPr lang="en-US" sz="1350" dirty="0">
                <a:solidFill>
                  <a:schemeClr val="tx1"/>
                </a:solidFill>
              </a:rPr>
              <a:t>Calibrate weights on more benchmark rows and publish the sensitivity of ratings.</a:t>
            </a:r>
            <a:endParaRPr lang="en-US" sz="1350" dirty="0"/>
          </a:p>
          <a:p>
            <a:pPr marL="177800" indent="-177800">
              <a:spcAft>
                <a:spcPts val="600"/>
              </a:spcAft>
              <a:buSzPct val="100000"/>
              <a:buChar char="•"/>
            </a:pPr>
            <a:r>
              <a:rPr lang="en-US" sz="1350" dirty="0">
                <a:solidFill>
                  <a:schemeClr val="tx1"/>
                </a:solidFill>
              </a:rPr>
              <a:t>Feed questionnaire answers back to upgrade or close findings.</a:t>
            </a:r>
            <a:endParaRPr lang="en-US" sz="1350" dirty="0"/>
          </a:p>
          <a:p>
            <a:pPr marL="177800" indent="-177800">
              <a:spcAft>
                <a:spcPts val="600"/>
              </a:spcAft>
              <a:buSzPct val="100000"/>
              <a:buChar char="•"/>
            </a:pPr>
            <a:r>
              <a:rPr lang="en-US" sz="1350" dirty="0">
                <a:solidFill>
                  <a:schemeClr val="tx1"/>
                </a:solidFill>
              </a:rPr>
              <a:t>Create the enterprise AI sub-processor registry from named providers.</a:t>
            </a:r>
            <a:endParaRPr lang="en-US" sz="1350" dirty="0"/>
          </a:p>
        </p:txBody>
      </p:sp>
      <p:sp>
        <p:nvSpPr>
          <p:cNvPr id="13" name="Shape 10"/>
          <p:cNvSpPr/>
          <p:nvPr/>
        </p:nvSpPr>
        <p:spPr>
          <a:xfrm>
            <a:off x="548640" y="5532120"/>
            <a:ext cx="11091672" cy="685800"/>
          </a:xfrm>
          <a:prstGeom prst="roundRect">
            <a:avLst>
              <a:gd name="adj" fmla="val 9333"/>
            </a:avLst>
          </a:prstGeom>
          <a:solidFill>
            <a:schemeClr val="tx2"/>
          </a:solidFill>
          <a:ln w="6350">
            <a:solidFill>
              <a:schemeClr val="tx2"/>
            </a:solidFill>
            <a:prstDash val="solid"/>
          </a:ln>
        </p:spPr>
      </p:sp>
      <p:sp>
        <p:nvSpPr>
          <p:cNvPr id="14" name="Text 11"/>
          <p:cNvSpPr txBox="1"/>
          <p:nvPr/>
        </p:nvSpPr>
        <p:spPr>
          <a:xfrm>
            <a:off x="777240" y="5532120"/>
            <a:ext cx="10607040" cy="685800"/>
          </a:xfrm>
          <a:prstGeom prst="rect">
            <a:avLst/>
          </a:prstGeom>
          <a:noFill/>
          <a:ln/>
        </p:spPr>
        <p:txBody>
          <a:bodyPr wrap="square" lIns="0" tIns="0" rIns="0" bIns="0" rtlCol="0" anchor="ctr"/>
          <a:lstStyle/>
          <a:p>
            <a:pPr indent="0" marL="0">
              <a:buNone/>
            </a:pPr>
            <a:r>
              <a:rPr lang="en-US" sz="1400" dirty="0">
                <a:solidFill>
                  <a:schemeClr val="bg1"/>
                </a:solidFill>
              </a:rPr>
              <a:t>Confidentiality: findings stay on this machine. No public repository, no published presentation, no contact with vendors.</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40080"/>
          </a:xfrm>
          <a:prstGeom prst="rect">
            <a:avLst/>
          </a:prstGeom>
          <a:noFill/>
          <a:ln/>
        </p:spPr>
        <p:txBody>
          <a:bodyPr wrap="square" lIns="0" tIns="0" rIns="0" bIns="0" rtlCol="0" anchor="ctr"/>
          <a:lstStyle/>
          <a:p>
            <a:pPr algn="l" indent="0" marL="0">
              <a:buNone/>
            </a:pPr>
            <a:r>
              <a:rPr lang="en-US" sz="2800" b="1" dirty="0">
                <a:solidFill>
                  <a:schemeClr val="tx2"/>
                </a:solidFill>
              </a:rPr>
              <a:t>Appendix: key terms</a:t>
            </a:r>
            <a:endParaRPr lang="en-US" sz="2800" dirty="0"/>
          </a:p>
        </p:txBody>
      </p:sp>
      <p:sp>
        <p:nvSpPr>
          <p:cNvPr id="3" name="Shape 1"/>
          <p:cNvSpPr/>
          <p:nvPr/>
        </p:nvSpPr>
        <p:spPr>
          <a:xfrm>
            <a:off x="548640" y="256032"/>
            <a:ext cx="1463040" cy="274320"/>
          </a:xfrm>
          <a:prstGeom prst="roundRect">
            <a:avLst>
              <a:gd name="adj" fmla="val 50000"/>
            </a:avLst>
          </a:prstGeom>
          <a:solidFill>
            <a:schemeClr val="bg2"/>
          </a:solidFill>
          <a:ln w="6350">
            <a:solidFill>
              <a:schemeClr val="bg2"/>
            </a:solidFill>
            <a:prstDash val="solid"/>
          </a:ln>
        </p:spPr>
      </p:sp>
      <p:sp>
        <p:nvSpPr>
          <p:cNvPr id="4" name="Text 2"/>
          <p:cNvSpPr txBox="1"/>
          <p:nvPr/>
        </p:nvSpPr>
        <p:spPr>
          <a:xfrm>
            <a:off x="548640" y="256032"/>
            <a:ext cx="1463040" cy="274320"/>
          </a:xfrm>
          <a:prstGeom prst="rect">
            <a:avLst/>
          </a:prstGeom>
          <a:noFill/>
          <a:ln/>
        </p:spPr>
        <p:txBody>
          <a:bodyPr wrap="square" lIns="0" tIns="0" rIns="0" bIns="0" rtlCol="0" anchor="ctr"/>
          <a:lstStyle/>
          <a:p>
            <a:pPr algn="ctr" indent="0" marL="0">
              <a:buNone/>
            </a:pPr>
            <a:r>
              <a:rPr lang="en-US" sz="1050" b="1" dirty="0">
                <a:solidFill>
                  <a:schemeClr val="accent2"/>
                </a:solidFill>
              </a:rPr>
              <a:t>APPENDIX</a:t>
            </a:r>
            <a:endParaRPr lang="en-US" sz="1050" dirty="0"/>
          </a:p>
        </p:txBody>
      </p:sp>
      <p:sp>
        <p:nvSpPr>
          <p:cNvPr id="6" name="Shape 3"/>
          <p:cNvSpPr/>
          <p:nvPr/>
        </p:nvSpPr>
        <p:spPr>
          <a:xfrm>
            <a:off x="548640" y="1371600"/>
            <a:ext cx="5449824" cy="731520"/>
          </a:xfrm>
          <a:prstGeom prst="roundRect">
            <a:avLst>
              <a:gd name="adj" fmla="val 8750"/>
            </a:avLst>
          </a:prstGeom>
          <a:solidFill>
            <a:schemeClr val="bg2"/>
          </a:solidFill>
          <a:ln w="9525">
            <a:solidFill>
              <a:schemeClr val="bg2"/>
            </a:solidFill>
            <a:prstDash val="solid"/>
          </a:ln>
        </p:spPr>
      </p:sp>
      <p:sp>
        <p:nvSpPr>
          <p:cNvPr id="7" name="Text 4"/>
          <p:cNvSpPr txBox="1"/>
          <p:nvPr/>
        </p:nvSpPr>
        <p:spPr>
          <a:xfrm>
            <a:off x="685800" y="143560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TPRM</a:t>
            </a:r>
            <a:endParaRPr lang="en-US" sz="1300" dirty="0"/>
          </a:p>
        </p:txBody>
      </p:sp>
      <p:sp>
        <p:nvSpPr>
          <p:cNvPr id="8" name="Text 5"/>
          <p:cNvSpPr txBox="1"/>
          <p:nvPr/>
        </p:nvSpPr>
        <p:spPr>
          <a:xfrm>
            <a:off x="685800" y="1709928"/>
            <a:ext cx="5212080" cy="365760"/>
          </a:xfrm>
          <a:prstGeom prst="rect">
            <a:avLst/>
          </a:prstGeom>
          <a:noFill/>
          <a:ln/>
        </p:spPr>
        <p:txBody>
          <a:bodyPr wrap="square" lIns="0" tIns="0" rIns="0" bIns="0" rtlCol="0" anchor="t"/>
          <a:lstStyle/>
          <a:p>
            <a:pPr indent="0" marL="0">
              <a:buNone/>
            </a:pPr>
            <a:r>
              <a:rPr lang="en-US" sz="1150" dirty="0">
                <a:solidFill>
                  <a:schemeClr val="tx1"/>
                </a:solidFill>
              </a:rPr>
              <a:t>Third-Party Risk Management: assessing risk that comes from vendors.</a:t>
            </a:r>
            <a:endParaRPr lang="en-US" sz="1150" dirty="0"/>
          </a:p>
        </p:txBody>
      </p:sp>
      <p:sp>
        <p:nvSpPr>
          <p:cNvPr id="9" name="Shape 6"/>
          <p:cNvSpPr/>
          <p:nvPr/>
        </p:nvSpPr>
        <p:spPr>
          <a:xfrm>
            <a:off x="6190488" y="1371600"/>
            <a:ext cx="5449824" cy="731520"/>
          </a:xfrm>
          <a:prstGeom prst="roundRect">
            <a:avLst>
              <a:gd name="adj" fmla="val 8750"/>
            </a:avLst>
          </a:prstGeom>
          <a:solidFill>
            <a:schemeClr val="bg2"/>
          </a:solidFill>
          <a:ln w="9525">
            <a:solidFill>
              <a:schemeClr val="bg2"/>
            </a:solidFill>
            <a:prstDash val="solid"/>
          </a:ln>
        </p:spPr>
      </p:sp>
      <p:sp>
        <p:nvSpPr>
          <p:cNvPr id="10" name="Text 7"/>
          <p:cNvSpPr txBox="1"/>
          <p:nvPr/>
        </p:nvSpPr>
        <p:spPr>
          <a:xfrm>
            <a:off x="6327648" y="143560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OSINT</a:t>
            </a:r>
            <a:endParaRPr lang="en-US" sz="1300" dirty="0"/>
          </a:p>
        </p:txBody>
      </p:sp>
      <p:sp>
        <p:nvSpPr>
          <p:cNvPr id="11" name="Text 8"/>
          <p:cNvSpPr txBox="1"/>
          <p:nvPr/>
        </p:nvSpPr>
        <p:spPr>
          <a:xfrm>
            <a:off x="6327648" y="1709928"/>
            <a:ext cx="5212080" cy="365760"/>
          </a:xfrm>
          <a:prstGeom prst="rect">
            <a:avLst/>
          </a:prstGeom>
          <a:noFill/>
          <a:ln/>
        </p:spPr>
        <p:txBody>
          <a:bodyPr wrap="square" lIns="0" tIns="0" rIns="0" bIns="0" rtlCol="0" anchor="t"/>
          <a:lstStyle/>
          <a:p>
            <a:pPr indent="0" marL="0">
              <a:buNone/>
            </a:pPr>
            <a:r>
              <a:rPr lang="en-US" sz="1150" dirty="0">
                <a:solidFill>
                  <a:schemeClr val="tx1"/>
                </a:solidFill>
              </a:rPr>
              <a:t>Open-source intelligence: only publicly available information.</a:t>
            </a:r>
            <a:endParaRPr lang="en-US" sz="1150" dirty="0"/>
          </a:p>
        </p:txBody>
      </p:sp>
      <p:sp>
        <p:nvSpPr>
          <p:cNvPr id="12" name="Shape 9"/>
          <p:cNvSpPr/>
          <p:nvPr/>
        </p:nvSpPr>
        <p:spPr>
          <a:xfrm>
            <a:off x="548640" y="2194560"/>
            <a:ext cx="5449824" cy="731520"/>
          </a:xfrm>
          <a:prstGeom prst="roundRect">
            <a:avLst>
              <a:gd name="adj" fmla="val 8750"/>
            </a:avLst>
          </a:prstGeom>
          <a:solidFill>
            <a:schemeClr val="bg2"/>
          </a:solidFill>
          <a:ln w="9525">
            <a:solidFill>
              <a:schemeClr val="bg2"/>
            </a:solidFill>
            <a:prstDash val="solid"/>
          </a:ln>
        </p:spPr>
      </p:sp>
      <p:sp>
        <p:nvSpPr>
          <p:cNvPr id="13" name="Text 10"/>
          <p:cNvSpPr txBox="1"/>
          <p:nvPr/>
        </p:nvSpPr>
        <p:spPr>
          <a:xfrm>
            <a:off x="685800" y="225856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3rd / 4th party</a:t>
            </a:r>
            <a:endParaRPr lang="en-US" sz="1300" dirty="0"/>
          </a:p>
        </p:txBody>
      </p:sp>
      <p:sp>
        <p:nvSpPr>
          <p:cNvPr id="14" name="Text 11"/>
          <p:cNvSpPr txBox="1"/>
          <p:nvPr/>
        </p:nvSpPr>
        <p:spPr>
          <a:xfrm>
            <a:off x="685800" y="2532888"/>
            <a:ext cx="5212080" cy="365760"/>
          </a:xfrm>
          <a:prstGeom prst="rect">
            <a:avLst/>
          </a:prstGeom>
          <a:noFill/>
          <a:ln/>
        </p:spPr>
        <p:txBody>
          <a:bodyPr wrap="square" lIns="0" tIns="0" rIns="0" bIns="0" rtlCol="0" anchor="t"/>
          <a:lstStyle/>
          <a:p>
            <a:pPr indent="0" marL="0">
              <a:buNone/>
            </a:pPr>
            <a:r>
              <a:rPr lang="en-US" sz="1150" dirty="0">
                <a:solidFill>
                  <a:schemeClr val="tx1"/>
                </a:solidFill>
              </a:rPr>
              <a:t>The vendor Meridian buys from / that vendor's own supplier, such as a model provider.</a:t>
            </a:r>
            <a:endParaRPr lang="en-US" sz="1150" dirty="0"/>
          </a:p>
        </p:txBody>
      </p:sp>
      <p:sp>
        <p:nvSpPr>
          <p:cNvPr id="15" name="Shape 12"/>
          <p:cNvSpPr/>
          <p:nvPr/>
        </p:nvSpPr>
        <p:spPr>
          <a:xfrm>
            <a:off x="6190488" y="2194560"/>
            <a:ext cx="5449824" cy="731520"/>
          </a:xfrm>
          <a:prstGeom prst="roundRect">
            <a:avLst>
              <a:gd name="adj" fmla="val 8750"/>
            </a:avLst>
          </a:prstGeom>
          <a:solidFill>
            <a:schemeClr val="bg2"/>
          </a:solidFill>
          <a:ln w="9525">
            <a:solidFill>
              <a:schemeClr val="bg2"/>
            </a:solidFill>
            <a:prstDash val="solid"/>
          </a:ln>
        </p:spPr>
      </p:sp>
      <p:sp>
        <p:nvSpPr>
          <p:cNvPr id="16" name="Text 13"/>
          <p:cNvSpPr txBox="1"/>
          <p:nvPr/>
        </p:nvSpPr>
        <p:spPr>
          <a:xfrm>
            <a:off x="6327648" y="225856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AI sub-processor</a:t>
            </a:r>
            <a:endParaRPr lang="en-US" sz="1300" dirty="0"/>
          </a:p>
        </p:txBody>
      </p:sp>
      <p:sp>
        <p:nvSpPr>
          <p:cNvPr id="17" name="Text 14"/>
          <p:cNvSpPr txBox="1"/>
          <p:nvPr/>
        </p:nvSpPr>
        <p:spPr>
          <a:xfrm>
            <a:off x="6327648" y="2532888"/>
            <a:ext cx="5212080" cy="365760"/>
          </a:xfrm>
          <a:prstGeom prst="rect">
            <a:avLst/>
          </a:prstGeom>
          <a:noFill/>
          <a:ln/>
        </p:spPr>
        <p:txBody>
          <a:bodyPr wrap="square" lIns="0" tIns="0" rIns="0" bIns="0" rtlCol="0" anchor="t"/>
          <a:lstStyle/>
          <a:p>
            <a:pPr indent="0" marL="0">
              <a:buNone/>
            </a:pPr>
            <a:r>
              <a:rPr lang="en-US" sz="1150" dirty="0">
                <a:solidFill>
                  <a:schemeClr val="tx1"/>
                </a:solidFill>
              </a:rPr>
              <a:t>An outside AI provider that handles data on the vendor's behalf.</a:t>
            </a:r>
            <a:endParaRPr lang="en-US" sz="1150" dirty="0"/>
          </a:p>
        </p:txBody>
      </p:sp>
      <p:sp>
        <p:nvSpPr>
          <p:cNvPr id="18" name="Shape 15"/>
          <p:cNvSpPr/>
          <p:nvPr/>
        </p:nvSpPr>
        <p:spPr>
          <a:xfrm>
            <a:off x="548640" y="3017520"/>
            <a:ext cx="5449824" cy="731520"/>
          </a:xfrm>
          <a:prstGeom prst="roundRect">
            <a:avLst>
              <a:gd name="adj" fmla="val 8750"/>
            </a:avLst>
          </a:prstGeom>
          <a:solidFill>
            <a:schemeClr val="bg2"/>
          </a:solidFill>
          <a:ln w="9525">
            <a:solidFill>
              <a:schemeClr val="bg2"/>
            </a:solidFill>
            <a:prstDash val="solid"/>
          </a:ln>
        </p:spPr>
      </p:sp>
      <p:sp>
        <p:nvSpPr>
          <p:cNvPr id="19" name="Text 16"/>
          <p:cNvSpPr txBox="1"/>
          <p:nvPr/>
        </p:nvSpPr>
        <p:spPr>
          <a:xfrm>
            <a:off x="685800" y="308152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Criticality tier</a:t>
            </a:r>
            <a:endParaRPr lang="en-US" sz="1300" dirty="0"/>
          </a:p>
        </p:txBody>
      </p:sp>
      <p:sp>
        <p:nvSpPr>
          <p:cNvPr id="20" name="Text 17"/>
          <p:cNvSpPr txBox="1"/>
          <p:nvPr/>
        </p:nvSpPr>
        <p:spPr>
          <a:xfrm>
            <a:off x="685800" y="3355848"/>
            <a:ext cx="5212080" cy="365760"/>
          </a:xfrm>
          <a:prstGeom prst="rect">
            <a:avLst/>
          </a:prstGeom>
          <a:noFill/>
          <a:ln/>
        </p:spPr>
        <p:txBody>
          <a:bodyPr wrap="square" lIns="0" tIns="0" rIns="0" bIns="0" rtlCol="0" anchor="t"/>
          <a:lstStyle/>
          <a:p>
            <a:pPr indent="0" marL="0">
              <a:buNone/>
            </a:pPr>
            <a:r>
              <a:rPr lang="en-US" sz="1150" dirty="0">
                <a:solidFill>
                  <a:schemeClr val="tx1"/>
                </a:solidFill>
              </a:rPr>
              <a:t>How much Meridian is hurt if the vendor fails or is compromised.</a:t>
            </a:r>
            <a:endParaRPr lang="en-US" sz="1150" dirty="0"/>
          </a:p>
        </p:txBody>
      </p:sp>
      <p:sp>
        <p:nvSpPr>
          <p:cNvPr id="21" name="Shape 18"/>
          <p:cNvSpPr/>
          <p:nvPr/>
        </p:nvSpPr>
        <p:spPr>
          <a:xfrm>
            <a:off x="6190488" y="3017520"/>
            <a:ext cx="5449824" cy="731520"/>
          </a:xfrm>
          <a:prstGeom prst="roundRect">
            <a:avLst>
              <a:gd name="adj" fmla="val 8750"/>
            </a:avLst>
          </a:prstGeom>
          <a:solidFill>
            <a:schemeClr val="bg2"/>
          </a:solidFill>
          <a:ln w="9525">
            <a:solidFill>
              <a:schemeClr val="bg2"/>
            </a:solidFill>
            <a:prstDash val="solid"/>
          </a:ln>
        </p:spPr>
      </p:sp>
      <p:sp>
        <p:nvSpPr>
          <p:cNvPr id="22" name="Text 19"/>
          <p:cNvSpPr txBox="1"/>
          <p:nvPr/>
        </p:nvSpPr>
        <p:spPr>
          <a:xfrm>
            <a:off x="6327648" y="308152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Signal</a:t>
            </a:r>
            <a:endParaRPr lang="en-US" sz="1300" dirty="0"/>
          </a:p>
        </p:txBody>
      </p:sp>
      <p:sp>
        <p:nvSpPr>
          <p:cNvPr id="23" name="Text 20"/>
          <p:cNvSpPr txBox="1"/>
          <p:nvPr/>
        </p:nvSpPr>
        <p:spPr>
          <a:xfrm>
            <a:off x="6327648" y="3355848"/>
            <a:ext cx="5212080" cy="365760"/>
          </a:xfrm>
          <a:prstGeom prst="rect">
            <a:avLst/>
          </a:prstGeom>
          <a:noFill/>
          <a:ln/>
        </p:spPr>
        <p:txBody>
          <a:bodyPr wrap="square" lIns="0" tIns="0" rIns="0" bIns="0" rtlCol="0" anchor="t"/>
          <a:lstStyle/>
          <a:p>
            <a:pPr indent="0" marL="0">
              <a:buNone/>
            </a:pPr>
            <a:r>
              <a:rPr lang="en-US" sz="1150" dirty="0">
                <a:solidFill>
                  <a:schemeClr val="tx1"/>
                </a:solidFill>
              </a:rPr>
              <a:t>One AI-related statement found in one source.</a:t>
            </a:r>
            <a:endParaRPr lang="en-US" sz="1150" dirty="0"/>
          </a:p>
        </p:txBody>
      </p:sp>
      <p:sp>
        <p:nvSpPr>
          <p:cNvPr id="24" name="Shape 21"/>
          <p:cNvSpPr/>
          <p:nvPr/>
        </p:nvSpPr>
        <p:spPr>
          <a:xfrm>
            <a:off x="548640" y="3840480"/>
            <a:ext cx="5449824" cy="731520"/>
          </a:xfrm>
          <a:prstGeom prst="roundRect">
            <a:avLst>
              <a:gd name="adj" fmla="val 8750"/>
            </a:avLst>
          </a:prstGeom>
          <a:solidFill>
            <a:schemeClr val="bg2"/>
          </a:solidFill>
          <a:ln w="9525">
            <a:solidFill>
              <a:schemeClr val="bg2"/>
            </a:solidFill>
            <a:prstDash val="solid"/>
          </a:ln>
        </p:spPr>
      </p:sp>
      <p:sp>
        <p:nvSpPr>
          <p:cNvPr id="25" name="Text 22"/>
          <p:cNvSpPr txBox="1"/>
          <p:nvPr/>
        </p:nvSpPr>
        <p:spPr>
          <a:xfrm>
            <a:off x="685800" y="390448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Evidentiary weight</a:t>
            </a:r>
            <a:endParaRPr lang="en-US" sz="1300" dirty="0"/>
          </a:p>
        </p:txBody>
      </p:sp>
      <p:sp>
        <p:nvSpPr>
          <p:cNvPr id="26" name="Text 23"/>
          <p:cNvSpPr txBox="1"/>
          <p:nvPr/>
        </p:nvSpPr>
        <p:spPr>
          <a:xfrm>
            <a:off x="685800" y="4178808"/>
            <a:ext cx="5212080" cy="365760"/>
          </a:xfrm>
          <a:prstGeom prst="rect">
            <a:avLst/>
          </a:prstGeom>
          <a:noFill/>
          <a:ln/>
        </p:spPr>
        <p:txBody>
          <a:bodyPr wrap="square" lIns="0" tIns="0" rIns="0" bIns="0" rtlCol="0" anchor="t"/>
          <a:lstStyle/>
          <a:p>
            <a:pPr indent="0" marL="0">
              <a:buNone/>
            </a:pPr>
            <a:r>
              <a:rPr lang="en-US" sz="1150" dirty="0">
                <a:solidFill>
                  <a:schemeClr val="tx1"/>
                </a:solidFill>
              </a:rPr>
              <a:t>How much a source type is worth as proof of real AI use.</a:t>
            </a:r>
            <a:endParaRPr lang="en-US" sz="1150" dirty="0"/>
          </a:p>
        </p:txBody>
      </p:sp>
      <p:sp>
        <p:nvSpPr>
          <p:cNvPr id="27" name="Shape 24"/>
          <p:cNvSpPr/>
          <p:nvPr/>
        </p:nvSpPr>
        <p:spPr>
          <a:xfrm>
            <a:off x="6190488" y="3840480"/>
            <a:ext cx="5449824" cy="731520"/>
          </a:xfrm>
          <a:prstGeom prst="roundRect">
            <a:avLst>
              <a:gd name="adj" fmla="val 8750"/>
            </a:avLst>
          </a:prstGeom>
          <a:solidFill>
            <a:schemeClr val="bg2"/>
          </a:solidFill>
          <a:ln w="9525">
            <a:solidFill>
              <a:schemeClr val="bg2"/>
            </a:solidFill>
            <a:prstDash val="solid"/>
          </a:ln>
        </p:spPr>
      </p:sp>
      <p:sp>
        <p:nvSpPr>
          <p:cNvPr id="28" name="Text 25"/>
          <p:cNvSpPr txBox="1"/>
          <p:nvPr/>
        </p:nvSpPr>
        <p:spPr>
          <a:xfrm>
            <a:off x="6327648" y="390448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Noisy-OR</a:t>
            </a:r>
            <a:endParaRPr lang="en-US" sz="1300" dirty="0"/>
          </a:p>
        </p:txBody>
      </p:sp>
      <p:sp>
        <p:nvSpPr>
          <p:cNvPr id="29" name="Text 26"/>
          <p:cNvSpPr txBox="1"/>
          <p:nvPr/>
        </p:nvSpPr>
        <p:spPr>
          <a:xfrm>
            <a:off x="6327648" y="4178808"/>
            <a:ext cx="5212080" cy="365760"/>
          </a:xfrm>
          <a:prstGeom prst="rect">
            <a:avLst/>
          </a:prstGeom>
          <a:noFill/>
          <a:ln/>
        </p:spPr>
        <p:txBody>
          <a:bodyPr wrap="square" lIns="0" tIns="0" rIns="0" bIns="0" rtlCol="0" anchor="t"/>
          <a:lstStyle/>
          <a:p>
            <a:pPr indent="0" marL="0">
              <a:buNone/>
            </a:pPr>
            <a:r>
              <a:rPr lang="en-US" sz="1150" dirty="0">
                <a:solidFill>
                  <a:schemeClr val="tx1"/>
                </a:solidFill>
              </a:rPr>
              <a:t>Combines independent evidence so more kinds of agreement mean higher confidence.</a:t>
            </a:r>
            <a:endParaRPr lang="en-US" sz="1150" dirty="0"/>
          </a:p>
        </p:txBody>
      </p:sp>
      <p:sp>
        <p:nvSpPr>
          <p:cNvPr id="30" name="Shape 27"/>
          <p:cNvSpPr/>
          <p:nvPr/>
        </p:nvSpPr>
        <p:spPr>
          <a:xfrm>
            <a:off x="548640" y="4663440"/>
            <a:ext cx="5449824" cy="731520"/>
          </a:xfrm>
          <a:prstGeom prst="roundRect">
            <a:avLst>
              <a:gd name="adj" fmla="val 8750"/>
            </a:avLst>
          </a:prstGeom>
          <a:solidFill>
            <a:schemeClr val="bg2"/>
          </a:solidFill>
          <a:ln w="9525">
            <a:solidFill>
              <a:schemeClr val="bg2"/>
            </a:solidFill>
            <a:prstDash val="solid"/>
          </a:ln>
        </p:spPr>
      </p:sp>
      <p:sp>
        <p:nvSpPr>
          <p:cNvPr id="31" name="Text 28"/>
          <p:cNvSpPr txBox="1"/>
          <p:nvPr/>
        </p:nvSpPr>
        <p:spPr>
          <a:xfrm>
            <a:off x="685800" y="472744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Coverage gap</a:t>
            </a:r>
            <a:endParaRPr lang="en-US" sz="1300" dirty="0"/>
          </a:p>
        </p:txBody>
      </p:sp>
      <p:sp>
        <p:nvSpPr>
          <p:cNvPr id="32" name="Text 29"/>
          <p:cNvSpPr txBox="1"/>
          <p:nvPr/>
        </p:nvSpPr>
        <p:spPr>
          <a:xfrm>
            <a:off x="685800" y="5001768"/>
            <a:ext cx="5212080" cy="365760"/>
          </a:xfrm>
          <a:prstGeom prst="rect">
            <a:avLst/>
          </a:prstGeom>
          <a:noFill/>
          <a:ln/>
        </p:spPr>
        <p:txBody>
          <a:bodyPr wrap="square" lIns="0" tIns="0" rIns="0" bIns="0" rtlCol="0" anchor="t"/>
          <a:lstStyle/>
          <a:p>
            <a:pPr indent="0" marL="0">
              <a:buNone/>
            </a:pPr>
            <a:r>
              <a:rPr lang="en-US" sz="1150" dirty="0">
                <a:solidFill>
                  <a:schemeClr val="tx1"/>
                </a:solidFill>
              </a:rPr>
              <a:t>Too few pages reviewed to accept a negative finding.</a:t>
            </a:r>
            <a:endParaRPr lang="en-US" sz="1150" dirty="0"/>
          </a:p>
        </p:txBody>
      </p:sp>
      <p:sp>
        <p:nvSpPr>
          <p:cNvPr id="33" name="Shape 30"/>
          <p:cNvSpPr/>
          <p:nvPr/>
        </p:nvSpPr>
        <p:spPr>
          <a:xfrm>
            <a:off x="6190488" y="4663440"/>
            <a:ext cx="5449824" cy="731520"/>
          </a:xfrm>
          <a:prstGeom prst="roundRect">
            <a:avLst>
              <a:gd name="adj" fmla="val 8750"/>
            </a:avLst>
          </a:prstGeom>
          <a:solidFill>
            <a:schemeClr val="bg2"/>
          </a:solidFill>
          <a:ln w="9525">
            <a:solidFill>
              <a:schemeClr val="bg2"/>
            </a:solidFill>
            <a:prstDash val="solid"/>
          </a:ln>
        </p:spPr>
      </p:sp>
      <p:sp>
        <p:nvSpPr>
          <p:cNvPr id="34" name="Text 31"/>
          <p:cNvSpPr txBox="1"/>
          <p:nvPr/>
        </p:nvSpPr>
        <p:spPr>
          <a:xfrm>
            <a:off x="6327648" y="472744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Agentic AI</a:t>
            </a:r>
            <a:endParaRPr lang="en-US" sz="1300" dirty="0"/>
          </a:p>
        </p:txBody>
      </p:sp>
      <p:sp>
        <p:nvSpPr>
          <p:cNvPr id="35" name="Text 32"/>
          <p:cNvSpPr txBox="1"/>
          <p:nvPr/>
        </p:nvSpPr>
        <p:spPr>
          <a:xfrm>
            <a:off x="6327648" y="5001768"/>
            <a:ext cx="5212080" cy="365760"/>
          </a:xfrm>
          <a:prstGeom prst="rect">
            <a:avLst/>
          </a:prstGeom>
          <a:noFill/>
          <a:ln/>
        </p:spPr>
        <p:txBody>
          <a:bodyPr wrap="square" lIns="0" tIns="0" rIns="0" bIns="0" rtlCol="0" anchor="t"/>
          <a:lstStyle/>
          <a:p>
            <a:pPr indent="0" marL="0">
              <a:buNone/>
            </a:pPr>
            <a:r>
              <a:rPr lang="en-US" sz="1150" dirty="0">
                <a:solidFill>
                  <a:schemeClr val="tx1"/>
                </a:solidFill>
              </a:rPr>
              <a:t>AI that takes actions on its own rather than only advising.</a:t>
            </a:r>
            <a:endParaRPr lang="en-US" sz="1150" dirty="0"/>
          </a:p>
        </p:txBody>
      </p:sp>
      <p:sp>
        <p:nvSpPr>
          <p:cNvPr id="36" name="Shape 33"/>
          <p:cNvSpPr/>
          <p:nvPr/>
        </p:nvSpPr>
        <p:spPr>
          <a:xfrm>
            <a:off x="548640" y="5486400"/>
            <a:ext cx="5449824" cy="731520"/>
          </a:xfrm>
          <a:prstGeom prst="roundRect">
            <a:avLst>
              <a:gd name="adj" fmla="val 8750"/>
            </a:avLst>
          </a:prstGeom>
          <a:solidFill>
            <a:schemeClr val="bg2"/>
          </a:solidFill>
          <a:ln w="9525">
            <a:solidFill>
              <a:schemeClr val="bg2"/>
            </a:solidFill>
            <a:prstDash val="solid"/>
          </a:ln>
        </p:spPr>
      </p:sp>
      <p:sp>
        <p:nvSpPr>
          <p:cNvPr id="37" name="Text 34"/>
          <p:cNvSpPr txBox="1"/>
          <p:nvPr/>
        </p:nvSpPr>
        <p:spPr>
          <a:xfrm>
            <a:off x="685800" y="555040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MCP / BYOM</a:t>
            </a:r>
            <a:endParaRPr lang="en-US" sz="1300" dirty="0"/>
          </a:p>
        </p:txBody>
      </p:sp>
      <p:sp>
        <p:nvSpPr>
          <p:cNvPr id="38" name="Text 35"/>
          <p:cNvSpPr txBox="1"/>
          <p:nvPr/>
        </p:nvSpPr>
        <p:spPr>
          <a:xfrm>
            <a:off x="685800" y="5824728"/>
            <a:ext cx="5212080" cy="365760"/>
          </a:xfrm>
          <a:prstGeom prst="rect">
            <a:avLst/>
          </a:prstGeom>
          <a:noFill/>
          <a:ln/>
        </p:spPr>
        <p:txBody>
          <a:bodyPr wrap="square" lIns="0" tIns="0" rIns="0" bIns="0" rtlCol="0" anchor="t"/>
          <a:lstStyle/>
          <a:p>
            <a:pPr indent="0" marL="0">
              <a:buNone/>
            </a:pPr>
            <a:r>
              <a:rPr lang="en-US" sz="1150" dirty="0">
                <a:solidFill>
                  <a:schemeClr val="tx1"/>
                </a:solidFill>
              </a:rPr>
              <a:t>Model Context Protocol lets a model drive tools; Bring Your Own Model lets customers plug in theirs.</a:t>
            </a:r>
            <a:endParaRPr lang="en-US" sz="1150" dirty="0"/>
          </a:p>
        </p:txBody>
      </p:sp>
      <p:sp>
        <p:nvSpPr>
          <p:cNvPr id="39" name="Shape 36"/>
          <p:cNvSpPr/>
          <p:nvPr/>
        </p:nvSpPr>
        <p:spPr>
          <a:xfrm>
            <a:off x="6190488" y="5486400"/>
            <a:ext cx="5449824" cy="731520"/>
          </a:xfrm>
          <a:prstGeom prst="roundRect">
            <a:avLst>
              <a:gd name="adj" fmla="val 8750"/>
            </a:avLst>
          </a:prstGeom>
          <a:solidFill>
            <a:schemeClr val="bg2"/>
          </a:solidFill>
          <a:ln w="9525">
            <a:solidFill>
              <a:schemeClr val="bg2"/>
            </a:solidFill>
            <a:prstDash val="solid"/>
          </a:ln>
        </p:spPr>
      </p:sp>
      <p:sp>
        <p:nvSpPr>
          <p:cNvPr id="40" name="Text 37"/>
          <p:cNvSpPr txBox="1"/>
          <p:nvPr/>
        </p:nvSpPr>
        <p:spPr>
          <a:xfrm>
            <a:off x="6327648" y="5550408"/>
            <a:ext cx="5212080" cy="274320"/>
          </a:xfrm>
          <a:prstGeom prst="rect">
            <a:avLst/>
          </a:prstGeom>
          <a:noFill/>
          <a:ln/>
        </p:spPr>
        <p:txBody>
          <a:bodyPr wrap="square" lIns="0" tIns="0" rIns="0" bIns="0" rtlCol="0" anchor="t"/>
          <a:lstStyle/>
          <a:p>
            <a:pPr indent="0" marL="0">
              <a:buNone/>
            </a:pPr>
            <a:r>
              <a:rPr lang="en-US" sz="1300" b="1" dirty="0">
                <a:solidFill>
                  <a:schemeClr val="accent2"/>
                </a:solidFill>
              </a:rPr>
              <a:t>DPA</a:t>
            </a:r>
            <a:endParaRPr lang="en-US" sz="1300" dirty="0"/>
          </a:p>
        </p:txBody>
      </p:sp>
      <p:sp>
        <p:nvSpPr>
          <p:cNvPr id="41" name="Text 38"/>
          <p:cNvSpPr txBox="1"/>
          <p:nvPr/>
        </p:nvSpPr>
        <p:spPr>
          <a:xfrm>
            <a:off x="6327648" y="5824728"/>
            <a:ext cx="5212080" cy="365760"/>
          </a:xfrm>
          <a:prstGeom prst="rect">
            <a:avLst/>
          </a:prstGeom>
          <a:noFill/>
          <a:ln/>
        </p:spPr>
        <p:txBody>
          <a:bodyPr wrap="square" lIns="0" tIns="0" rIns="0" bIns="0" rtlCol="0" anchor="t"/>
          <a:lstStyle/>
          <a:p>
            <a:pPr indent="0" marL="0">
              <a:buNone/>
            </a:pPr>
            <a:r>
              <a:rPr lang="en-US" sz="1150" dirty="0">
                <a:solidFill>
                  <a:schemeClr val="tx1"/>
                </a:solidFill>
              </a:rPr>
              <a:t>Data Processing Agreement: the contract limiting what a processor may do with data.</a:t>
            </a:r>
            <a:endParaRPr lang="en-US" sz="115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eridian TPRM">
  <a:themeElements>
    <a:clrScheme name="Meridian TPRM">
      <a:dk1>
        <a:srgbClr val="17202E"/>
      </a:dk1>
      <a:lt1>
        <a:srgbClr val="FFFFFF"/>
      </a:lt1>
      <a:dk2>
        <a:srgbClr val="0F1B2D"/>
      </a:dk2>
      <a:lt2>
        <a:srgbClr val="F2F5F9"/>
      </a:lt2>
      <a:accent1>
        <a:srgbClr val="0E7C86"/>
      </a:accent1>
      <a:accent2>
        <a:srgbClr val="1F4E8C"/>
      </a:accent2>
      <a:accent3>
        <a:srgbClr val="C77700"/>
      </a:accent3>
      <a:accent4>
        <a:srgbClr val="B42318"/>
      </a:accent4>
      <a:accent5>
        <a:srgbClr val="1C7C4D"/>
      </a:accent5>
      <a:accent6>
        <a:srgbClr val="5B6B7F"/>
      </a:accent6>
      <a:hlink>
        <a:srgbClr val="1F4E8C"/>
      </a:hlink>
      <a:folHlink>
        <a:srgbClr val="5B6B7F"/>
      </a:folHlink>
    </a:clrScheme>
    <a:fontScheme name="Meridian TPR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Vendor AI Usage Analysis - Meridian Financial</dc:title>
  <dc:subject>PptxGenJS Presentation</dc:subject>
  <dc:creator>Vendor AI Usage Analysis</dc:creator>
  <cp:lastModifiedBy>Vendor AI Usage Analysis</cp:lastModifiedBy>
  <cp:revision>1</cp:revision>
  <dcterms:created xsi:type="dcterms:W3CDTF">2026-10-14T07:17:48Z</dcterms:created>
  <dcterms:modified xsi:type="dcterms:W3CDTF">2026-10-14T07:17:48Z</dcterms:modified>
</cp:coreProperties>
</file>